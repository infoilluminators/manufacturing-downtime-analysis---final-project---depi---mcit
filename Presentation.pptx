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60" r:id="rId4"/>
    <p:sldId id="261" r:id="rId5"/>
    <p:sldId id="262" r:id="rId6"/>
    <p:sldId id="275" r:id="rId7"/>
    <p:sldId id="257" r:id="rId8"/>
    <p:sldId id="277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</p:sldIdLst>
  <p:sldSz cx="17475200" cy="9829800"/>
  <p:notesSz cx="12230100" cy="9829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0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4050"/>
    <a:srgbClr val="007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726" y="60"/>
      </p:cViewPr>
      <p:guideLst>
        <p:guide orient="horz" pos="2880"/>
        <p:guide pos="30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99075" cy="492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27850" y="0"/>
            <a:ext cx="5299075" cy="492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9A4B1-4FA6-4053-8A35-75131A7860A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67063" y="1228725"/>
            <a:ext cx="5895975" cy="3317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22375" y="4730750"/>
            <a:ext cx="9785350" cy="38703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37675"/>
            <a:ext cx="5299075" cy="492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27850" y="9337675"/>
            <a:ext cx="5299075" cy="492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349C5-A7C3-4AC0-BD2E-7F91F846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12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349C5-A7C3-4AC0-BD2E-7F91F84671F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11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98391" y="2129926"/>
            <a:ext cx="14715098" cy="6706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8" b="1" i="0">
                <a:solidFill>
                  <a:schemeClr val="bg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596782" y="3847595"/>
            <a:ext cx="12118316" cy="4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8" b="0" i="0">
                <a:solidFill>
                  <a:srgbClr val="3740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43" b="0" i="0">
                <a:solidFill>
                  <a:srgbClr val="6A7280"/>
                </a:solidFill>
                <a:latin typeface="Arial"/>
                <a:cs typeface="Arial"/>
              </a:defRPr>
            </a:lvl1pPr>
          </a:lstStyle>
          <a:p>
            <a:pPr marL="18151">
              <a:lnSpc>
                <a:spcPts val="1615"/>
              </a:lnSpc>
            </a:pPr>
            <a:r>
              <a:rPr lang="en-US" spc="-64"/>
              <a:t>Manufacturing</a:t>
            </a:r>
            <a:r>
              <a:rPr lang="en-US" spc="-14"/>
              <a:t> </a:t>
            </a:r>
            <a:r>
              <a:rPr lang="en-US" spc="-79"/>
              <a:t>Downtime</a:t>
            </a:r>
            <a:r>
              <a:rPr lang="en-US" spc="-7"/>
              <a:t> </a:t>
            </a:r>
            <a:r>
              <a:rPr lang="en-US" spc="-79"/>
              <a:t>Analysis</a:t>
            </a:r>
            <a:r>
              <a:rPr lang="en-US" spc="-14"/>
              <a:t> </a:t>
            </a:r>
            <a:r>
              <a:rPr lang="en-US" spc="-64"/>
              <a:t>Dashboard</a:t>
            </a:r>
            <a:endParaRPr lang="en-US" spc="-6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8449" y="168560"/>
            <a:ext cx="10074100" cy="670633"/>
          </a:xfrm>
        </p:spPr>
        <p:txBody>
          <a:bodyPr lIns="0" tIns="0" rIns="0" bIns="0"/>
          <a:lstStyle>
            <a:lvl1pPr>
              <a:defRPr sz="4358" b="1" i="0">
                <a:solidFill>
                  <a:schemeClr val="bg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20447" y="2219371"/>
            <a:ext cx="10241048" cy="439800"/>
          </a:xfrm>
        </p:spPr>
        <p:txBody>
          <a:bodyPr lIns="0" tIns="0" rIns="0" bIns="0"/>
          <a:lstStyle>
            <a:lvl1pPr>
              <a:defRPr sz="2858" b="0" i="0">
                <a:solidFill>
                  <a:srgbClr val="3740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43" b="0" i="0">
                <a:solidFill>
                  <a:srgbClr val="6A7280"/>
                </a:solidFill>
                <a:latin typeface="Arial"/>
                <a:cs typeface="Arial"/>
              </a:defRPr>
            </a:lvl1pPr>
          </a:lstStyle>
          <a:p>
            <a:pPr marL="18151">
              <a:lnSpc>
                <a:spcPts val="1615"/>
              </a:lnSpc>
            </a:pPr>
            <a:r>
              <a:rPr lang="en-US" spc="-64"/>
              <a:t>Manufacturing</a:t>
            </a:r>
            <a:r>
              <a:rPr lang="en-US" spc="-14"/>
              <a:t> </a:t>
            </a:r>
            <a:r>
              <a:rPr lang="en-US" spc="-79"/>
              <a:t>Downtime</a:t>
            </a:r>
            <a:r>
              <a:rPr lang="en-US" spc="-7"/>
              <a:t> </a:t>
            </a:r>
            <a:r>
              <a:rPr lang="en-US" spc="-79"/>
              <a:t>Analysis</a:t>
            </a:r>
            <a:r>
              <a:rPr lang="en-US" spc="-14"/>
              <a:t> </a:t>
            </a:r>
            <a:r>
              <a:rPr lang="en-US" spc="-64"/>
              <a:t>Dashboard</a:t>
            </a:r>
            <a:endParaRPr lang="en-US" spc="-6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8449" y="168560"/>
            <a:ext cx="10074100" cy="670633"/>
          </a:xfrm>
        </p:spPr>
        <p:txBody>
          <a:bodyPr lIns="0" tIns="0" rIns="0" bIns="0"/>
          <a:lstStyle>
            <a:lvl1pPr>
              <a:defRPr sz="4358" b="1" i="0">
                <a:solidFill>
                  <a:schemeClr val="bg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65596" y="1580263"/>
            <a:ext cx="753066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15619" y="1580263"/>
            <a:ext cx="753066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43" b="0" i="0">
                <a:solidFill>
                  <a:srgbClr val="6A7280"/>
                </a:solidFill>
                <a:latin typeface="Arial"/>
                <a:cs typeface="Arial"/>
              </a:defRPr>
            </a:lvl1pPr>
          </a:lstStyle>
          <a:p>
            <a:pPr marL="18151">
              <a:lnSpc>
                <a:spcPts val="1615"/>
              </a:lnSpc>
            </a:pPr>
            <a:r>
              <a:rPr lang="en-US" spc="-64"/>
              <a:t>Manufacturing</a:t>
            </a:r>
            <a:r>
              <a:rPr lang="en-US" spc="-14"/>
              <a:t> </a:t>
            </a:r>
            <a:r>
              <a:rPr lang="en-US" spc="-79"/>
              <a:t>Downtime</a:t>
            </a:r>
            <a:r>
              <a:rPr lang="en-US" spc="-7"/>
              <a:t> </a:t>
            </a:r>
            <a:r>
              <a:rPr lang="en-US" spc="-79"/>
              <a:t>Analysis</a:t>
            </a:r>
            <a:r>
              <a:rPr lang="en-US" spc="-14"/>
              <a:t> </a:t>
            </a:r>
            <a:r>
              <a:rPr lang="en-US" spc="-64"/>
              <a:t>Dashboard</a:t>
            </a:r>
            <a:endParaRPr lang="en-US" spc="-64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8449" y="168560"/>
            <a:ext cx="10074100" cy="670633"/>
          </a:xfrm>
        </p:spPr>
        <p:txBody>
          <a:bodyPr lIns="0" tIns="0" rIns="0" bIns="0"/>
          <a:lstStyle>
            <a:lvl1pPr>
              <a:defRPr sz="4358" b="1" i="0">
                <a:solidFill>
                  <a:schemeClr val="bg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43" b="0" i="0">
                <a:solidFill>
                  <a:srgbClr val="6A7280"/>
                </a:solidFill>
                <a:latin typeface="Arial"/>
                <a:cs typeface="Arial"/>
              </a:defRPr>
            </a:lvl1pPr>
          </a:lstStyle>
          <a:p>
            <a:pPr marL="18151">
              <a:lnSpc>
                <a:spcPts val="1615"/>
              </a:lnSpc>
            </a:pPr>
            <a:r>
              <a:rPr lang="en-US" spc="-64"/>
              <a:t>Manufacturing</a:t>
            </a:r>
            <a:r>
              <a:rPr lang="en-US" spc="-14"/>
              <a:t> </a:t>
            </a:r>
            <a:r>
              <a:rPr lang="en-US" spc="-79"/>
              <a:t>Downtime</a:t>
            </a:r>
            <a:r>
              <a:rPr lang="en-US" spc="-7"/>
              <a:t> </a:t>
            </a:r>
            <a:r>
              <a:rPr lang="en-US" spc="-79"/>
              <a:t>Analysis</a:t>
            </a:r>
            <a:r>
              <a:rPr lang="en-US" spc="-14"/>
              <a:t> </a:t>
            </a:r>
            <a:r>
              <a:rPr lang="en-US" spc="-64"/>
              <a:t>Dashboard</a:t>
            </a:r>
            <a:endParaRPr lang="en-US" spc="-64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43" b="0" i="0">
                <a:solidFill>
                  <a:srgbClr val="6A7280"/>
                </a:solidFill>
                <a:latin typeface="Arial"/>
                <a:cs typeface="Arial"/>
              </a:defRPr>
            </a:lvl1pPr>
          </a:lstStyle>
          <a:p>
            <a:pPr marL="18151">
              <a:lnSpc>
                <a:spcPts val="1615"/>
              </a:lnSpc>
            </a:pPr>
            <a:r>
              <a:rPr lang="en-US" spc="-64"/>
              <a:t>Manufacturing</a:t>
            </a:r>
            <a:r>
              <a:rPr lang="en-US" spc="-14"/>
              <a:t> </a:t>
            </a:r>
            <a:r>
              <a:rPr lang="en-US" spc="-79"/>
              <a:t>Downtime</a:t>
            </a:r>
            <a:r>
              <a:rPr lang="en-US" spc="-7"/>
              <a:t> </a:t>
            </a:r>
            <a:r>
              <a:rPr lang="en-US" spc="-79"/>
              <a:t>Analysis</a:t>
            </a:r>
            <a:r>
              <a:rPr lang="en-US" spc="-14"/>
              <a:t> </a:t>
            </a:r>
            <a:r>
              <a:rPr lang="en-US" spc="-64"/>
              <a:t>Dashboard</a:t>
            </a:r>
            <a:endParaRPr lang="en-US" spc="-64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8449" y="168556"/>
            <a:ext cx="10074100" cy="469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chemeClr val="bg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20447" y="2219374"/>
            <a:ext cx="1024104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740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710576" y="6582058"/>
            <a:ext cx="3911504" cy="205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43" b="0" i="0">
                <a:solidFill>
                  <a:srgbClr val="6A7280"/>
                </a:solidFill>
                <a:latin typeface="Arial"/>
                <a:cs typeface="Arial"/>
              </a:defRPr>
            </a:lvl1pPr>
          </a:lstStyle>
          <a:p>
            <a:pPr marL="18151">
              <a:lnSpc>
                <a:spcPts val="1615"/>
              </a:lnSpc>
            </a:pPr>
            <a:r>
              <a:rPr lang="en-US" spc="-64"/>
              <a:t>Manufacturing</a:t>
            </a:r>
            <a:r>
              <a:rPr lang="en-US" spc="-14"/>
              <a:t> </a:t>
            </a:r>
            <a:r>
              <a:rPr lang="en-US" spc="-79"/>
              <a:t>Downtime</a:t>
            </a:r>
            <a:r>
              <a:rPr lang="en-US" spc="-7"/>
              <a:t> </a:t>
            </a:r>
            <a:r>
              <a:rPr lang="en-US" spc="-79"/>
              <a:t>Analysis</a:t>
            </a:r>
            <a:r>
              <a:rPr lang="en-US" spc="-14"/>
              <a:t> </a:t>
            </a:r>
            <a:r>
              <a:rPr lang="en-US" spc="-64"/>
              <a:t>Dashboard</a:t>
            </a:r>
            <a:endParaRPr lang="en-US" spc="-6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65594" y="6389760"/>
            <a:ext cx="39817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464554" y="6389760"/>
            <a:ext cx="39817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53465">
        <a:defRPr>
          <a:latin typeface="+mn-lt"/>
          <a:ea typeface="+mn-ea"/>
          <a:cs typeface="+mn-cs"/>
        </a:defRPr>
      </a:lvl2pPr>
      <a:lvl3pPr marL="1306926">
        <a:defRPr>
          <a:latin typeface="+mn-lt"/>
          <a:ea typeface="+mn-ea"/>
          <a:cs typeface="+mn-cs"/>
        </a:defRPr>
      </a:lvl3pPr>
      <a:lvl4pPr marL="1960389">
        <a:defRPr>
          <a:latin typeface="+mn-lt"/>
          <a:ea typeface="+mn-ea"/>
          <a:cs typeface="+mn-cs"/>
        </a:defRPr>
      </a:lvl4pPr>
      <a:lvl5pPr marL="2613855">
        <a:defRPr>
          <a:latin typeface="+mn-lt"/>
          <a:ea typeface="+mn-ea"/>
          <a:cs typeface="+mn-cs"/>
        </a:defRPr>
      </a:lvl5pPr>
      <a:lvl6pPr marL="3267318">
        <a:defRPr>
          <a:latin typeface="+mn-lt"/>
          <a:ea typeface="+mn-ea"/>
          <a:cs typeface="+mn-cs"/>
        </a:defRPr>
      </a:lvl6pPr>
      <a:lvl7pPr marL="3920783">
        <a:defRPr>
          <a:latin typeface="+mn-lt"/>
          <a:ea typeface="+mn-ea"/>
          <a:cs typeface="+mn-cs"/>
        </a:defRPr>
      </a:lvl7pPr>
      <a:lvl8pPr marL="4574248">
        <a:defRPr>
          <a:latin typeface="+mn-lt"/>
          <a:ea typeface="+mn-ea"/>
          <a:cs typeface="+mn-cs"/>
        </a:defRPr>
      </a:lvl8pPr>
      <a:lvl9pPr marL="522771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53465">
        <a:defRPr>
          <a:latin typeface="+mn-lt"/>
          <a:ea typeface="+mn-ea"/>
          <a:cs typeface="+mn-cs"/>
        </a:defRPr>
      </a:lvl2pPr>
      <a:lvl3pPr marL="1306926">
        <a:defRPr>
          <a:latin typeface="+mn-lt"/>
          <a:ea typeface="+mn-ea"/>
          <a:cs typeface="+mn-cs"/>
        </a:defRPr>
      </a:lvl3pPr>
      <a:lvl4pPr marL="1960389">
        <a:defRPr>
          <a:latin typeface="+mn-lt"/>
          <a:ea typeface="+mn-ea"/>
          <a:cs typeface="+mn-cs"/>
        </a:defRPr>
      </a:lvl4pPr>
      <a:lvl5pPr marL="2613855">
        <a:defRPr>
          <a:latin typeface="+mn-lt"/>
          <a:ea typeface="+mn-ea"/>
          <a:cs typeface="+mn-cs"/>
        </a:defRPr>
      </a:lvl5pPr>
      <a:lvl6pPr marL="3267318">
        <a:defRPr>
          <a:latin typeface="+mn-lt"/>
          <a:ea typeface="+mn-ea"/>
          <a:cs typeface="+mn-cs"/>
        </a:defRPr>
      </a:lvl6pPr>
      <a:lvl7pPr marL="3920783">
        <a:defRPr>
          <a:latin typeface="+mn-lt"/>
          <a:ea typeface="+mn-ea"/>
          <a:cs typeface="+mn-cs"/>
        </a:defRPr>
      </a:lvl7pPr>
      <a:lvl8pPr marL="4574248">
        <a:defRPr>
          <a:latin typeface="+mn-lt"/>
          <a:ea typeface="+mn-ea"/>
          <a:cs typeface="+mn-cs"/>
        </a:defRPr>
      </a:lvl8pPr>
      <a:lvl9pPr marL="522771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35.png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jp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724"/>
            <a:ext cx="17475200" cy="9836524"/>
          </a:xfrm>
          <a:custGeom>
            <a:avLst/>
            <a:gdLst/>
            <a:ahLst/>
            <a:cxnLst/>
            <a:rect l="l" t="t" r="r" b="b"/>
            <a:pathLst>
              <a:path w="12115800" h="6858000">
                <a:moveTo>
                  <a:pt x="121158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15800" y="0"/>
                </a:lnTo>
                <a:lnTo>
                  <a:pt x="12115800" y="6858000"/>
                </a:lnTo>
                <a:close/>
              </a:path>
            </a:pathLst>
          </a:custGeom>
          <a:solidFill>
            <a:srgbClr val="F0F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7475200" cy="8361045"/>
          </a:xfrm>
          <a:custGeom>
            <a:avLst/>
            <a:gdLst/>
            <a:ahLst/>
            <a:cxnLst/>
            <a:rect l="l" t="t" r="r" b="b"/>
            <a:pathLst>
              <a:path w="12115800" h="5829300">
                <a:moveTo>
                  <a:pt x="0" y="5829300"/>
                </a:moveTo>
                <a:lnTo>
                  <a:pt x="0" y="0"/>
                </a:lnTo>
                <a:lnTo>
                  <a:pt x="12115800" y="0"/>
                </a:lnTo>
                <a:lnTo>
                  <a:pt x="12115800" y="4125515"/>
                </a:lnTo>
                <a:lnTo>
                  <a:pt x="0" y="5829300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72157" y="1018800"/>
            <a:ext cx="13083503" cy="785246"/>
          </a:xfrm>
          <a:prstGeom prst="rect">
            <a:avLst/>
          </a:prstGeom>
          <a:solidFill>
            <a:srgbClr val="000000">
              <a:alpha val="1019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6073"/>
              </a:lnSpc>
            </a:pPr>
            <a:r>
              <a:rPr sz="6430" spc="-700" dirty="0">
                <a:latin typeface="Verdana"/>
                <a:cs typeface="Verdana"/>
              </a:rPr>
              <a:t>Manufacturing</a:t>
            </a:r>
            <a:r>
              <a:rPr sz="6430" spc="-607" dirty="0">
                <a:latin typeface="Verdana"/>
                <a:cs typeface="Verdana"/>
              </a:rPr>
              <a:t> </a:t>
            </a:r>
            <a:r>
              <a:rPr sz="6430" spc="-793" dirty="0">
                <a:latin typeface="Verdana"/>
                <a:cs typeface="Verdana"/>
              </a:rPr>
              <a:t>Downtime</a:t>
            </a:r>
            <a:r>
              <a:rPr sz="6430" spc="-607" dirty="0">
                <a:latin typeface="Verdana"/>
                <a:cs typeface="Verdana"/>
              </a:rPr>
              <a:t> </a:t>
            </a:r>
            <a:r>
              <a:rPr sz="6430" spc="-779" dirty="0">
                <a:latin typeface="Verdana"/>
                <a:cs typeface="Verdana"/>
              </a:rPr>
              <a:t>Analysis</a:t>
            </a:r>
            <a:endParaRPr sz="643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25745" y="2112361"/>
            <a:ext cx="4141660" cy="695137"/>
          </a:xfrm>
          <a:prstGeom prst="rect">
            <a:avLst/>
          </a:prstGeom>
          <a:solidFill>
            <a:srgbClr val="000000">
              <a:alpha val="1019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5417"/>
              </a:lnSpc>
            </a:pPr>
            <a:r>
              <a:rPr sz="6430" b="1" spc="-807" dirty="0">
                <a:solidFill>
                  <a:srgbClr val="FFFFFF"/>
                </a:solidFill>
                <a:latin typeface="Verdana"/>
                <a:cs typeface="Verdana"/>
              </a:rPr>
              <a:t>Dashboard</a:t>
            </a:r>
            <a:endParaRPr sz="643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34773" y="3159301"/>
            <a:ext cx="7314305" cy="1450505"/>
          </a:xfrm>
          <a:prstGeom prst="rect">
            <a:avLst/>
          </a:prstGeom>
        </p:spPr>
        <p:txBody>
          <a:bodyPr vert="horz" wrap="square" lIns="0" tIns="24498" rIns="0" bIns="0" rtlCol="0">
            <a:spAutoFit/>
          </a:bodyPr>
          <a:lstStyle/>
          <a:p>
            <a:pPr algn="ctr">
              <a:spcBef>
                <a:spcPts val="193"/>
              </a:spcBef>
            </a:pPr>
            <a:r>
              <a:rPr sz="3788" spc="-157" dirty="0">
                <a:solidFill>
                  <a:srgbClr val="FFFFFF"/>
                </a:solidFill>
                <a:latin typeface="Verdana"/>
                <a:cs typeface="Verdana"/>
              </a:rPr>
              <a:t>Developed</a:t>
            </a:r>
            <a:r>
              <a:rPr sz="3788" spc="-357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88" spc="-93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3788" spc="-3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88" spc="-129" dirty="0">
                <a:solidFill>
                  <a:srgbClr val="FFFFFF"/>
                </a:solidFill>
                <a:latin typeface="Verdana"/>
                <a:cs typeface="Verdana"/>
              </a:rPr>
              <a:t>Microsoft</a:t>
            </a:r>
            <a:r>
              <a:rPr sz="3788" spc="-3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88" spc="-114" dirty="0">
                <a:solidFill>
                  <a:srgbClr val="FFFFFF"/>
                </a:solidFill>
                <a:latin typeface="Verdana"/>
                <a:cs typeface="Verdana"/>
              </a:rPr>
              <a:t>Power</a:t>
            </a:r>
            <a:r>
              <a:rPr sz="3788" spc="-3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88" spc="-36" dirty="0">
                <a:solidFill>
                  <a:srgbClr val="FFFFFF"/>
                </a:solidFill>
                <a:latin typeface="Verdana"/>
                <a:cs typeface="Verdana"/>
              </a:rPr>
              <a:t>BI</a:t>
            </a:r>
            <a:endParaRPr sz="3788">
              <a:latin typeface="Verdana"/>
              <a:cs typeface="Verdana"/>
            </a:endParaRPr>
          </a:p>
          <a:p>
            <a:pPr algn="ctr">
              <a:spcBef>
                <a:spcPts val="3136"/>
              </a:spcBef>
            </a:pPr>
            <a:r>
              <a:rPr sz="2858" spc="-171" dirty="0">
                <a:solidFill>
                  <a:srgbClr val="FFFFFF"/>
                </a:solidFill>
                <a:latin typeface="Arial"/>
                <a:cs typeface="Arial"/>
              </a:rPr>
              <a:t>Presented</a:t>
            </a:r>
            <a:r>
              <a:rPr sz="2858" spc="-10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8" spc="-200" dirty="0">
                <a:solidFill>
                  <a:srgbClr val="FFFFFF"/>
                </a:solidFill>
                <a:latin typeface="Arial"/>
                <a:cs typeface="Arial"/>
              </a:rPr>
              <a:t>by:</a:t>
            </a:r>
            <a:r>
              <a:rPr sz="2858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8" spc="-157" dirty="0">
                <a:solidFill>
                  <a:srgbClr val="FFFFFF"/>
                </a:solidFill>
                <a:latin typeface="Arial"/>
                <a:cs typeface="Arial"/>
              </a:rPr>
              <a:t>InfoVerse</a:t>
            </a:r>
            <a:r>
              <a:rPr sz="2858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8" spc="-29" dirty="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endParaRPr sz="2858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74301" y="6008700"/>
            <a:ext cx="3983210" cy="1036478"/>
            <a:chOff x="1057655" y="4181856"/>
            <a:chExt cx="2761615" cy="722630"/>
          </a:xfrm>
        </p:grpSpPr>
        <p:sp>
          <p:nvSpPr>
            <p:cNvPr id="8" name="object 8"/>
            <p:cNvSpPr/>
            <p:nvPr/>
          </p:nvSpPr>
          <p:spPr>
            <a:xfrm>
              <a:off x="1057655" y="4181856"/>
              <a:ext cx="2761615" cy="722630"/>
            </a:xfrm>
            <a:custGeom>
              <a:avLst/>
              <a:gdLst/>
              <a:ahLst/>
              <a:cxnLst/>
              <a:rect l="l" t="t" r="r" b="b"/>
              <a:pathLst>
                <a:path w="2761615" h="722629">
                  <a:moveTo>
                    <a:pt x="2761487" y="722375"/>
                  </a:moveTo>
                  <a:lnTo>
                    <a:pt x="0" y="722375"/>
                  </a:lnTo>
                  <a:lnTo>
                    <a:pt x="0" y="0"/>
                  </a:lnTo>
                  <a:lnTo>
                    <a:pt x="2761487" y="0"/>
                  </a:lnTo>
                  <a:lnTo>
                    <a:pt x="2761487" y="66293"/>
                  </a:lnTo>
                  <a:lnTo>
                    <a:pt x="180593" y="66293"/>
                  </a:lnTo>
                  <a:lnTo>
                    <a:pt x="173087" y="66654"/>
                  </a:lnTo>
                  <a:lnTo>
                    <a:pt x="132275" y="83559"/>
                  </a:lnTo>
                  <a:lnTo>
                    <a:pt x="107656" y="120406"/>
                  </a:lnTo>
                  <a:lnTo>
                    <a:pt x="104393" y="142493"/>
                  </a:lnTo>
                  <a:lnTo>
                    <a:pt x="104393" y="504443"/>
                  </a:lnTo>
                  <a:lnTo>
                    <a:pt x="117224" y="546784"/>
                  </a:lnTo>
                  <a:lnTo>
                    <a:pt x="151433" y="574852"/>
                  </a:lnTo>
                  <a:lnTo>
                    <a:pt x="180593" y="580643"/>
                  </a:lnTo>
                  <a:lnTo>
                    <a:pt x="2761487" y="580643"/>
                  </a:lnTo>
                  <a:lnTo>
                    <a:pt x="2761487" y="722375"/>
                  </a:lnTo>
                  <a:close/>
                </a:path>
                <a:path w="2761615" h="722629">
                  <a:moveTo>
                    <a:pt x="2761487" y="580643"/>
                  </a:moveTo>
                  <a:lnTo>
                    <a:pt x="2580893" y="580643"/>
                  </a:lnTo>
                  <a:lnTo>
                    <a:pt x="2588404" y="580283"/>
                  </a:lnTo>
                  <a:lnTo>
                    <a:pt x="2595764" y="579199"/>
                  </a:lnTo>
                  <a:lnTo>
                    <a:pt x="2634782" y="558332"/>
                  </a:lnTo>
                  <a:lnTo>
                    <a:pt x="2655649" y="519314"/>
                  </a:lnTo>
                  <a:lnTo>
                    <a:pt x="2657093" y="504443"/>
                  </a:lnTo>
                  <a:lnTo>
                    <a:pt x="2657093" y="142493"/>
                  </a:lnTo>
                  <a:lnTo>
                    <a:pt x="2644265" y="100153"/>
                  </a:lnTo>
                  <a:lnTo>
                    <a:pt x="2610063" y="72085"/>
                  </a:lnTo>
                  <a:lnTo>
                    <a:pt x="2580893" y="66293"/>
                  </a:lnTo>
                  <a:lnTo>
                    <a:pt x="2761487" y="66293"/>
                  </a:lnTo>
                  <a:lnTo>
                    <a:pt x="2761487" y="58064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62050" y="4248150"/>
              <a:ext cx="2552700" cy="514350"/>
            </a:xfrm>
            <a:custGeom>
              <a:avLst/>
              <a:gdLst/>
              <a:ahLst/>
              <a:cxnLst/>
              <a:rect l="l" t="t" r="r" b="b"/>
              <a:pathLst>
                <a:path w="2552700" h="514350">
                  <a:moveTo>
                    <a:pt x="2481500" y="514350"/>
                  </a:moveTo>
                  <a:lnTo>
                    <a:pt x="71199" y="514350"/>
                  </a:lnTo>
                  <a:lnTo>
                    <a:pt x="66236" y="513864"/>
                  </a:lnTo>
                  <a:lnTo>
                    <a:pt x="29708" y="498728"/>
                  </a:lnTo>
                  <a:lnTo>
                    <a:pt x="3886" y="462686"/>
                  </a:lnTo>
                  <a:lnTo>
                    <a:pt x="0" y="443150"/>
                  </a:lnTo>
                  <a:lnTo>
                    <a:pt x="0" y="438150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2481500" y="0"/>
                  </a:lnTo>
                  <a:lnTo>
                    <a:pt x="2522991" y="15621"/>
                  </a:lnTo>
                  <a:lnTo>
                    <a:pt x="2548813" y="51663"/>
                  </a:lnTo>
                  <a:lnTo>
                    <a:pt x="2552700" y="71199"/>
                  </a:lnTo>
                  <a:lnTo>
                    <a:pt x="2552700" y="443150"/>
                  </a:lnTo>
                  <a:lnTo>
                    <a:pt x="2537079" y="484641"/>
                  </a:lnTo>
                  <a:lnTo>
                    <a:pt x="2501036" y="510463"/>
                  </a:lnTo>
                  <a:lnTo>
                    <a:pt x="2486463" y="513864"/>
                  </a:lnTo>
                  <a:lnTo>
                    <a:pt x="2481500" y="51435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30523" y="6248239"/>
            <a:ext cx="3061824" cy="385390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2358" spc="-136" dirty="0">
                <a:solidFill>
                  <a:srgbClr val="0078D4"/>
                </a:solidFill>
                <a:latin typeface="Arial"/>
                <a:cs typeface="Arial"/>
              </a:rPr>
              <a:t>Mohammed</a:t>
            </a:r>
            <a:r>
              <a:rPr sz="2358" spc="-71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2358" spc="-86" dirty="0">
                <a:solidFill>
                  <a:srgbClr val="0078D4"/>
                </a:solidFill>
                <a:latin typeface="Arial"/>
                <a:cs typeface="Arial"/>
              </a:rPr>
              <a:t>AlMukadam</a:t>
            </a:r>
            <a:endParaRPr sz="2358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54145" y="6008700"/>
            <a:ext cx="3223021" cy="1036478"/>
            <a:chOff x="3840479" y="4181856"/>
            <a:chExt cx="2234565" cy="722630"/>
          </a:xfrm>
        </p:grpSpPr>
        <p:sp>
          <p:nvSpPr>
            <p:cNvPr id="12" name="object 12"/>
            <p:cNvSpPr/>
            <p:nvPr/>
          </p:nvSpPr>
          <p:spPr>
            <a:xfrm>
              <a:off x="3840479" y="4181856"/>
              <a:ext cx="2234565" cy="722630"/>
            </a:xfrm>
            <a:custGeom>
              <a:avLst/>
              <a:gdLst/>
              <a:ahLst/>
              <a:cxnLst/>
              <a:rect l="l" t="t" r="r" b="b"/>
              <a:pathLst>
                <a:path w="2234565" h="722629">
                  <a:moveTo>
                    <a:pt x="2234183" y="722375"/>
                  </a:moveTo>
                  <a:lnTo>
                    <a:pt x="0" y="722375"/>
                  </a:lnTo>
                  <a:lnTo>
                    <a:pt x="0" y="0"/>
                  </a:lnTo>
                  <a:lnTo>
                    <a:pt x="2234183" y="0"/>
                  </a:lnTo>
                  <a:lnTo>
                    <a:pt x="2234183" y="66293"/>
                  </a:lnTo>
                  <a:lnTo>
                    <a:pt x="179069" y="66293"/>
                  </a:lnTo>
                  <a:lnTo>
                    <a:pt x="171559" y="66654"/>
                  </a:lnTo>
                  <a:lnTo>
                    <a:pt x="130753" y="83559"/>
                  </a:lnTo>
                  <a:lnTo>
                    <a:pt x="106123" y="120406"/>
                  </a:lnTo>
                  <a:lnTo>
                    <a:pt x="102869" y="142493"/>
                  </a:lnTo>
                  <a:lnTo>
                    <a:pt x="102869" y="504443"/>
                  </a:lnTo>
                  <a:lnTo>
                    <a:pt x="115698" y="546784"/>
                  </a:lnTo>
                  <a:lnTo>
                    <a:pt x="149900" y="574852"/>
                  </a:lnTo>
                  <a:lnTo>
                    <a:pt x="179069" y="580643"/>
                  </a:lnTo>
                  <a:lnTo>
                    <a:pt x="2234183" y="580643"/>
                  </a:lnTo>
                  <a:lnTo>
                    <a:pt x="2234183" y="722375"/>
                  </a:lnTo>
                  <a:close/>
                </a:path>
                <a:path w="2234565" h="722629">
                  <a:moveTo>
                    <a:pt x="2234183" y="580643"/>
                  </a:moveTo>
                  <a:lnTo>
                    <a:pt x="2055479" y="580643"/>
                  </a:lnTo>
                  <a:lnTo>
                    <a:pt x="2062994" y="580283"/>
                  </a:lnTo>
                  <a:lnTo>
                    <a:pt x="2070361" y="579199"/>
                  </a:lnTo>
                  <a:lnTo>
                    <a:pt x="2109368" y="558332"/>
                  </a:lnTo>
                  <a:lnTo>
                    <a:pt x="2130239" y="519314"/>
                  </a:lnTo>
                  <a:lnTo>
                    <a:pt x="2131710" y="504443"/>
                  </a:lnTo>
                  <a:lnTo>
                    <a:pt x="2131710" y="142493"/>
                  </a:lnTo>
                  <a:lnTo>
                    <a:pt x="2118862" y="100153"/>
                  </a:lnTo>
                  <a:lnTo>
                    <a:pt x="2084649" y="72085"/>
                  </a:lnTo>
                  <a:lnTo>
                    <a:pt x="2055479" y="66293"/>
                  </a:lnTo>
                  <a:lnTo>
                    <a:pt x="2234183" y="66293"/>
                  </a:lnTo>
                  <a:lnTo>
                    <a:pt x="2234183" y="58064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43350" y="4248150"/>
              <a:ext cx="2028825" cy="514350"/>
            </a:xfrm>
            <a:custGeom>
              <a:avLst/>
              <a:gdLst/>
              <a:ahLst/>
              <a:cxnLst/>
              <a:rect l="l" t="t" r="r" b="b"/>
              <a:pathLst>
                <a:path w="2028825" h="514350">
                  <a:moveTo>
                    <a:pt x="1957625" y="514350"/>
                  </a:moveTo>
                  <a:lnTo>
                    <a:pt x="71199" y="514350"/>
                  </a:lnTo>
                  <a:lnTo>
                    <a:pt x="66236" y="513864"/>
                  </a:lnTo>
                  <a:lnTo>
                    <a:pt x="29708" y="498728"/>
                  </a:lnTo>
                  <a:lnTo>
                    <a:pt x="3886" y="462686"/>
                  </a:lnTo>
                  <a:lnTo>
                    <a:pt x="0" y="443150"/>
                  </a:lnTo>
                  <a:lnTo>
                    <a:pt x="0" y="438150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1957625" y="0"/>
                  </a:lnTo>
                  <a:lnTo>
                    <a:pt x="1999116" y="15621"/>
                  </a:lnTo>
                  <a:lnTo>
                    <a:pt x="2024938" y="51663"/>
                  </a:lnTo>
                  <a:lnTo>
                    <a:pt x="2028825" y="71199"/>
                  </a:lnTo>
                  <a:lnTo>
                    <a:pt x="2028825" y="443150"/>
                  </a:lnTo>
                  <a:lnTo>
                    <a:pt x="2013203" y="484641"/>
                  </a:lnTo>
                  <a:lnTo>
                    <a:pt x="1977161" y="510463"/>
                  </a:lnTo>
                  <a:lnTo>
                    <a:pt x="1962578" y="513864"/>
                  </a:lnTo>
                  <a:lnTo>
                    <a:pt x="1957625" y="51435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10693" y="6248239"/>
            <a:ext cx="2311708" cy="385390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2358" spc="-79" dirty="0">
                <a:solidFill>
                  <a:srgbClr val="0078D4"/>
                </a:solidFill>
                <a:latin typeface="Arial"/>
                <a:cs typeface="Arial"/>
              </a:rPr>
              <a:t>Al-</a:t>
            </a:r>
            <a:r>
              <a:rPr sz="2358" spc="-121" dirty="0">
                <a:solidFill>
                  <a:srgbClr val="0078D4"/>
                </a:solidFill>
                <a:latin typeface="Arial"/>
                <a:cs typeface="Arial"/>
              </a:rPr>
              <a:t>Hussein</a:t>
            </a:r>
            <a:r>
              <a:rPr sz="2358" spc="-43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2358" spc="-29" dirty="0">
                <a:solidFill>
                  <a:srgbClr val="0078D4"/>
                </a:solidFill>
                <a:latin typeface="Arial"/>
                <a:cs typeface="Arial"/>
              </a:rPr>
              <a:t>AlAttar</a:t>
            </a:r>
            <a:endParaRPr sz="2358" dirty="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781460" y="6008700"/>
            <a:ext cx="2264083" cy="1036478"/>
            <a:chOff x="6096000" y="4181856"/>
            <a:chExt cx="1569720" cy="722630"/>
          </a:xfrm>
        </p:grpSpPr>
        <p:sp>
          <p:nvSpPr>
            <p:cNvPr id="16" name="object 16"/>
            <p:cNvSpPr/>
            <p:nvPr/>
          </p:nvSpPr>
          <p:spPr>
            <a:xfrm>
              <a:off x="6096000" y="4181856"/>
              <a:ext cx="1569720" cy="722630"/>
            </a:xfrm>
            <a:custGeom>
              <a:avLst/>
              <a:gdLst/>
              <a:ahLst/>
              <a:cxnLst/>
              <a:rect l="l" t="t" r="r" b="b"/>
              <a:pathLst>
                <a:path w="1569720" h="722629">
                  <a:moveTo>
                    <a:pt x="1569719" y="722375"/>
                  </a:moveTo>
                  <a:lnTo>
                    <a:pt x="0" y="722375"/>
                  </a:lnTo>
                  <a:lnTo>
                    <a:pt x="0" y="0"/>
                  </a:lnTo>
                  <a:lnTo>
                    <a:pt x="1569719" y="0"/>
                  </a:lnTo>
                  <a:lnTo>
                    <a:pt x="1569719" y="66293"/>
                  </a:lnTo>
                  <a:lnTo>
                    <a:pt x="180990" y="66293"/>
                  </a:lnTo>
                  <a:lnTo>
                    <a:pt x="173475" y="66654"/>
                  </a:lnTo>
                  <a:lnTo>
                    <a:pt x="132657" y="83559"/>
                  </a:lnTo>
                  <a:lnTo>
                    <a:pt x="108038" y="120406"/>
                  </a:lnTo>
                  <a:lnTo>
                    <a:pt x="104759" y="142493"/>
                  </a:lnTo>
                  <a:lnTo>
                    <a:pt x="104759" y="504443"/>
                  </a:lnTo>
                  <a:lnTo>
                    <a:pt x="117607" y="546784"/>
                  </a:lnTo>
                  <a:lnTo>
                    <a:pt x="151820" y="574852"/>
                  </a:lnTo>
                  <a:lnTo>
                    <a:pt x="180990" y="580643"/>
                  </a:lnTo>
                  <a:lnTo>
                    <a:pt x="1569719" y="580643"/>
                  </a:lnTo>
                  <a:lnTo>
                    <a:pt x="1569719" y="722375"/>
                  </a:lnTo>
                  <a:close/>
                </a:path>
                <a:path w="1569720" h="722629">
                  <a:moveTo>
                    <a:pt x="1569719" y="580643"/>
                  </a:moveTo>
                  <a:lnTo>
                    <a:pt x="1390649" y="580643"/>
                  </a:lnTo>
                  <a:lnTo>
                    <a:pt x="1398160" y="580283"/>
                  </a:lnTo>
                  <a:lnTo>
                    <a:pt x="1405520" y="579199"/>
                  </a:lnTo>
                  <a:lnTo>
                    <a:pt x="1444538" y="558332"/>
                  </a:lnTo>
                  <a:lnTo>
                    <a:pt x="1465405" y="519314"/>
                  </a:lnTo>
                  <a:lnTo>
                    <a:pt x="1466849" y="504443"/>
                  </a:lnTo>
                  <a:lnTo>
                    <a:pt x="1466849" y="142493"/>
                  </a:lnTo>
                  <a:lnTo>
                    <a:pt x="1454021" y="100153"/>
                  </a:lnTo>
                  <a:lnTo>
                    <a:pt x="1419819" y="72085"/>
                  </a:lnTo>
                  <a:lnTo>
                    <a:pt x="1390649" y="66293"/>
                  </a:lnTo>
                  <a:lnTo>
                    <a:pt x="1569719" y="66293"/>
                  </a:lnTo>
                  <a:lnTo>
                    <a:pt x="1569719" y="58064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00775" y="4248150"/>
              <a:ext cx="1362075" cy="514350"/>
            </a:xfrm>
            <a:custGeom>
              <a:avLst/>
              <a:gdLst/>
              <a:ahLst/>
              <a:cxnLst/>
              <a:rect l="l" t="t" r="r" b="b"/>
              <a:pathLst>
                <a:path w="1362075" h="514350">
                  <a:moveTo>
                    <a:pt x="1290875" y="514350"/>
                  </a:moveTo>
                  <a:lnTo>
                    <a:pt x="71199" y="514350"/>
                  </a:lnTo>
                  <a:lnTo>
                    <a:pt x="66236" y="513864"/>
                  </a:lnTo>
                  <a:lnTo>
                    <a:pt x="29708" y="498728"/>
                  </a:lnTo>
                  <a:lnTo>
                    <a:pt x="3886" y="462686"/>
                  </a:lnTo>
                  <a:lnTo>
                    <a:pt x="0" y="443150"/>
                  </a:lnTo>
                  <a:lnTo>
                    <a:pt x="0" y="438150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1290875" y="0"/>
                  </a:lnTo>
                  <a:lnTo>
                    <a:pt x="1332366" y="15621"/>
                  </a:lnTo>
                  <a:lnTo>
                    <a:pt x="1358188" y="51663"/>
                  </a:lnTo>
                  <a:lnTo>
                    <a:pt x="1362075" y="71199"/>
                  </a:lnTo>
                  <a:lnTo>
                    <a:pt x="1362075" y="443150"/>
                  </a:lnTo>
                  <a:lnTo>
                    <a:pt x="1346453" y="484641"/>
                  </a:lnTo>
                  <a:lnTo>
                    <a:pt x="1310411" y="510463"/>
                  </a:lnTo>
                  <a:lnTo>
                    <a:pt x="1295828" y="513864"/>
                  </a:lnTo>
                  <a:lnTo>
                    <a:pt x="1290875" y="51435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249087" y="6248239"/>
            <a:ext cx="1498516" cy="38392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2358" spc="-100" dirty="0">
                <a:solidFill>
                  <a:srgbClr val="0078D4"/>
                </a:solidFill>
                <a:latin typeface="Arial"/>
                <a:cs typeface="Arial"/>
              </a:rPr>
              <a:t>Yo</a:t>
            </a:r>
            <a:r>
              <a:rPr lang="en-GB" sz="2358" spc="-100" dirty="0">
                <a:solidFill>
                  <a:srgbClr val="0078D4"/>
                </a:solidFill>
                <a:latin typeface="Arial"/>
                <a:cs typeface="Arial"/>
              </a:rPr>
              <a:t>u</a:t>
            </a:r>
            <a:r>
              <a:rPr sz="2358" spc="-100" dirty="0">
                <a:solidFill>
                  <a:srgbClr val="0078D4"/>
                </a:solidFill>
                <a:latin typeface="Arial"/>
                <a:cs typeface="Arial"/>
              </a:rPr>
              <a:t>s</a:t>
            </a:r>
            <a:r>
              <a:rPr lang="en-GB" sz="2358" spc="-100" dirty="0">
                <a:solidFill>
                  <a:srgbClr val="0078D4"/>
                </a:solidFill>
                <a:latin typeface="Arial"/>
                <a:cs typeface="Arial"/>
              </a:rPr>
              <a:t>s</a:t>
            </a:r>
            <a:r>
              <a:rPr sz="2358" spc="-100" dirty="0">
                <a:solidFill>
                  <a:srgbClr val="0078D4"/>
                </a:solidFill>
                <a:latin typeface="Arial"/>
                <a:cs typeface="Arial"/>
              </a:rPr>
              <a:t>if</a:t>
            </a:r>
            <a:r>
              <a:rPr sz="2358" spc="-93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2358" spc="-36" dirty="0">
                <a:solidFill>
                  <a:srgbClr val="0078D4"/>
                </a:solidFill>
                <a:latin typeface="Arial"/>
                <a:cs typeface="Arial"/>
              </a:rPr>
              <a:t>Ali</a:t>
            </a:r>
            <a:endParaRPr sz="2358" dirty="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052874" y="6008700"/>
            <a:ext cx="2690887" cy="1036478"/>
            <a:chOff x="7687055" y="4181856"/>
            <a:chExt cx="1865630" cy="722630"/>
          </a:xfrm>
        </p:grpSpPr>
        <p:sp>
          <p:nvSpPr>
            <p:cNvPr id="20" name="object 20"/>
            <p:cNvSpPr/>
            <p:nvPr/>
          </p:nvSpPr>
          <p:spPr>
            <a:xfrm>
              <a:off x="7687055" y="4181856"/>
              <a:ext cx="1865630" cy="722630"/>
            </a:xfrm>
            <a:custGeom>
              <a:avLst/>
              <a:gdLst/>
              <a:ahLst/>
              <a:cxnLst/>
              <a:rect l="l" t="t" r="r" b="b"/>
              <a:pathLst>
                <a:path w="1865629" h="722629">
                  <a:moveTo>
                    <a:pt x="1865375" y="722375"/>
                  </a:moveTo>
                  <a:lnTo>
                    <a:pt x="0" y="722375"/>
                  </a:lnTo>
                  <a:lnTo>
                    <a:pt x="0" y="0"/>
                  </a:lnTo>
                  <a:lnTo>
                    <a:pt x="1865375" y="0"/>
                  </a:lnTo>
                  <a:lnTo>
                    <a:pt x="1865375" y="66293"/>
                  </a:lnTo>
                  <a:lnTo>
                    <a:pt x="180593" y="66293"/>
                  </a:lnTo>
                  <a:lnTo>
                    <a:pt x="173083" y="66654"/>
                  </a:lnTo>
                  <a:lnTo>
                    <a:pt x="132277" y="83559"/>
                  </a:lnTo>
                  <a:lnTo>
                    <a:pt x="107647" y="120406"/>
                  </a:lnTo>
                  <a:lnTo>
                    <a:pt x="104393" y="142493"/>
                  </a:lnTo>
                  <a:lnTo>
                    <a:pt x="104393" y="504443"/>
                  </a:lnTo>
                  <a:lnTo>
                    <a:pt x="117222" y="546784"/>
                  </a:lnTo>
                  <a:lnTo>
                    <a:pt x="151424" y="574852"/>
                  </a:lnTo>
                  <a:lnTo>
                    <a:pt x="180593" y="580643"/>
                  </a:lnTo>
                  <a:lnTo>
                    <a:pt x="1865375" y="580643"/>
                  </a:lnTo>
                  <a:lnTo>
                    <a:pt x="1865375" y="722375"/>
                  </a:lnTo>
                  <a:close/>
                </a:path>
                <a:path w="1865629" h="722629">
                  <a:moveTo>
                    <a:pt x="1865375" y="580643"/>
                  </a:moveTo>
                  <a:lnTo>
                    <a:pt x="1685543" y="580643"/>
                  </a:lnTo>
                  <a:lnTo>
                    <a:pt x="1693042" y="580283"/>
                  </a:lnTo>
                  <a:lnTo>
                    <a:pt x="1700402" y="579199"/>
                  </a:lnTo>
                  <a:lnTo>
                    <a:pt x="1739432" y="558332"/>
                  </a:lnTo>
                  <a:lnTo>
                    <a:pt x="1760299" y="519314"/>
                  </a:lnTo>
                  <a:lnTo>
                    <a:pt x="1761743" y="504443"/>
                  </a:lnTo>
                  <a:lnTo>
                    <a:pt x="1761743" y="142493"/>
                  </a:lnTo>
                  <a:lnTo>
                    <a:pt x="1748915" y="100153"/>
                  </a:lnTo>
                  <a:lnTo>
                    <a:pt x="1714713" y="72085"/>
                  </a:lnTo>
                  <a:lnTo>
                    <a:pt x="1685543" y="66293"/>
                  </a:lnTo>
                  <a:lnTo>
                    <a:pt x="1865375" y="66293"/>
                  </a:lnTo>
                  <a:lnTo>
                    <a:pt x="1865375" y="58064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91449" y="4248150"/>
              <a:ext cx="1657350" cy="514350"/>
            </a:xfrm>
            <a:custGeom>
              <a:avLst/>
              <a:gdLst/>
              <a:ahLst/>
              <a:cxnLst/>
              <a:rect l="l" t="t" r="r" b="b"/>
              <a:pathLst>
                <a:path w="1657350" h="514350">
                  <a:moveTo>
                    <a:pt x="1586150" y="514350"/>
                  </a:moveTo>
                  <a:lnTo>
                    <a:pt x="71199" y="514350"/>
                  </a:lnTo>
                  <a:lnTo>
                    <a:pt x="66236" y="513864"/>
                  </a:lnTo>
                  <a:lnTo>
                    <a:pt x="29708" y="498728"/>
                  </a:lnTo>
                  <a:lnTo>
                    <a:pt x="3886" y="462686"/>
                  </a:lnTo>
                  <a:lnTo>
                    <a:pt x="0" y="443150"/>
                  </a:lnTo>
                  <a:lnTo>
                    <a:pt x="0" y="438150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1586150" y="0"/>
                  </a:lnTo>
                  <a:lnTo>
                    <a:pt x="1627641" y="15621"/>
                  </a:lnTo>
                  <a:lnTo>
                    <a:pt x="1653463" y="51663"/>
                  </a:lnTo>
                  <a:lnTo>
                    <a:pt x="1657350" y="71199"/>
                  </a:lnTo>
                  <a:lnTo>
                    <a:pt x="1657350" y="443150"/>
                  </a:lnTo>
                  <a:lnTo>
                    <a:pt x="1641728" y="484641"/>
                  </a:lnTo>
                  <a:lnTo>
                    <a:pt x="1605686" y="510463"/>
                  </a:lnTo>
                  <a:lnTo>
                    <a:pt x="1591103" y="513864"/>
                  </a:lnTo>
                  <a:lnTo>
                    <a:pt x="1586150" y="51435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517592" y="6248239"/>
            <a:ext cx="1771333" cy="385390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2358" spc="-121" dirty="0">
                <a:solidFill>
                  <a:srgbClr val="0078D4"/>
                </a:solidFill>
                <a:latin typeface="Arial"/>
                <a:cs typeface="Arial"/>
              </a:rPr>
              <a:t>Youssef</a:t>
            </a:r>
            <a:r>
              <a:rPr sz="2358" spc="-86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2358" spc="-114" dirty="0">
                <a:solidFill>
                  <a:srgbClr val="0078D4"/>
                </a:solidFill>
                <a:latin typeface="Arial"/>
                <a:cs typeface="Arial"/>
              </a:rPr>
              <a:t>Ezzat</a:t>
            </a:r>
            <a:endParaRPr sz="2358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3750791" y="6008700"/>
            <a:ext cx="2251260" cy="1036478"/>
            <a:chOff x="9573767" y="4181856"/>
            <a:chExt cx="1560830" cy="722630"/>
          </a:xfrm>
        </p:grpSpPr>
        <p:sp>
          <p:nvSpPr>
            <p:cNvPr id="24" name="object 24"/>
            <p:cNvSpPr/>
            <p:nvPr/>
          </p:nvSpPr>
          <p:spPr>
            <a:xfrm>
              <a:off x="9573767" y="4181856"/>
              <a:ext cx="1560830" cy="722630"/>
            </a:xfrm>
            <a:custGeom>
              <a:avLst/>
              <a:gdLst/>
              <a:ahLst/>
              <a:cxnLst/>
              <a:rect l="l" t="t" r="r" b="b"/>
              <a:pathLst>
                <a:path w="1560829" h="722629">
                  <a:moveTo>
                    <a:pt x="1560575" y="722375"/>
                  </a:moveTo>
                  <a:lnTo>
                    <a:pt x="0" y="722375"/>
                  </a:lnTo>
                  <a:lnTo>
                    <a:pt x="0" y="0"/>
                  </a:lnTo>
                  <a:lnTo>
                    <a:pt x="1560575" y="0"/>
                  </a:lnTo>
                  <a:lnTo>
                    <a:pt x="1560575" y="66293"/>
                  </a:lnTo>
                  <a:lnTo>
                    <a:pt x="179831" y="66293"/>
                  </a:lnTo>
                  <a:lnTo>
                    <a:pt x="172321" y="66654"/>
                  </a:lnTo>
                  <a:lnTo>
                    <a:pt x="131515" y="83559"/>
                  </a:lnTo>
                  <a:lnTo>
                    <a:pt x="106885" y="120406"/>
                  </a:lnTo>
                  <a:lnTo>
                    <a:pt x="103631" y="142493"/>
                  </a:lnTo>
                  <a:lnTo>
                    <a:pt x="103631" y="504443"/>
                  </a:lnTo>
                  <a:lnTo>
                    <a:pt x="116460" y="546784"/>
                  </a:lnTo>
                  <a:lnTo>
                    <a:pt x="150662" y="574852"/>
                  </a:lnTo>
                  <a:lnTo>
                    <a:pt x="179831" y="580643"/>
                  </a:lnTo>
                  <a:lnTo>
                    <a:pt x="1560575" y="580643"/>
                  </a:lnTo>
                  <a:lnTo>
                    <a:pt x="1560575" y="722375"/>
                  </a:lnTo>
                  <a:close/>
                </a:path>
                <a:path w="1560829" h="722629">
                  <a:moveTo>
                    <a:pt x="1560575" y="580643"/>
                  </a:moveTo>
                  <a:lnTo>
                    <a:pt x="1379981" y="580643"/>
                  </a:lnTo>
                  <a:lnTo>
                    <a:pt x="1387492" y="580283"/>
                  </a:lnTo>
                  <a:lnTo>
                    <a:pt x="1394852" y="579199"/>
                  </a:lnTo>
                  <a:lnTo>
                    <a:pt x="1433870" y="558332"/>
                  </a:lnTo>
                  <a:lnTo>
                    <a:pt x="1454737" y="519314"/>
                  </a:lnTo>
                  <a:lnTo>
                    <a:pt x="1456181" y="504443"/>
                  </a:lnTo>
                  <a:lnTo>
                    <a:pt x="1456181" y="142493"/>
                  </a:lnTo>
                  <a:lnTo>
                    <a:pt x="1443353" y="100153"/>
                  </a:lnTo>
                  <a:lnTo>
                    <a:pt x="1409151" y="72085"/>
                  </a:lnTo>
                  <a:lnTo>
                    <a:pt x="1379981" y="66293"/>
                  </a:lnTo>
                  <a:lnTo>
                    <a:pt x="1560575" y="66293"/>
                  </a:lnTo>
                  <a:lnTo>
                    <a:pt x="1560575" y="58064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677399" y="4248150"/>
              <a:ext cx="1352550" cy="514350"/>
            </a:xfrm>
            <a:custGeom>
              <a:avLst/>
              <a:gdLst/>
              <a:ahLst/>
              <a:cxnLst/>
              <a:rect l="l" t="t" r="r" b="b"/>
              <a:pathLst>
                <a:path w="1352550" h="514350">
                  <a:moveTo>
                    <a:pt x="1281398" y="514350"/>
                  </a:moveTo>
                  <a:lnTo>
                    <a:pt x="71151" y="514350"/>
                  </a:lnTo>
                  <a:lnTo>
                    <a:pt x="66198" y="513864"/>
                  </a:lnTo>
                  <a:lnTo>
                    <a:pt x="29718" y="498728"/>
                  </a:lnTo>
                  <a:lnTo>
                    <a:pt x="3905" y="462686"/>
                  </a:lnTo>
                  <a:lnTo>
                    <a:pt x="0" y="443150"/>
                  </a:lnTo>
                  <a:lnTo>
                    <a:pt x="0" y="438150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25" y="3886"/>
                  </a:lnTo>
                  <a:lnTo>
                    <a:pt x="71151" y="0"/>
                  </a:lnTo>
                  <a:lnTo>
                    <a:pt x="1281398" y="0"/>
                  </a:lnTo>
                  <a:lnTo>
                    <a:pt x="1322832" y="15621"/>
                  </a:lnTo>
                  <a:lnTo>
                    <a:pt x="1348644" y="51663"/>
                  </a:lnTo>
                  <a:lnTo>
                    <a:pt x="1352550" y="71199"/>
                  </a:lnTo>
                  <a:lnTo>
                    <a:pt x="1352550" y="443150"/>
                  </a:lnTo>
                  <a:lnTo>
                    <a:pt x="1336928" y="484641"/>
                  </a:lnTo>
                  <a:lnTo>
                    <a:pt x="1300924" y="510463"/>
                  </a:lnTo>
                  <a:lnTo>
                    <a:pt x="1286351" y="513864"/>
                  </a:lnTo>
                  <a:lnTo>
                    <a:pt x="1281398" y="51435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4217799" y="6248239"/>
            <a:ext cx="1328042" cy="385390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2358" spc="-100" dirty="0">
                <a:solidFill>
                  <a:srgbClr val="0078D4"/>
                </a:solidFill>
                <a:latin typeface="Arial"/>
                <a:cs typeface="Arial"/>
              </a:rPr>
              <a:t>Mina</a:t>
            </a:r>
            <a:r>
              <a:rPr sz="2358" spc="-121" dirty="0">
                <a:solidFill>
                  <a:srgbClr val="0078D4"/>
                </a:solidFill>
                <a:latin typeface="Arial"/>
                <a:cs typeface="Arial"/>
              </a:rPr>
              <a:t> Ayad</a:t>
            </a:r>
            <a:endParaRPr sz="2358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753529" y="8663696"/>
            <a:ext cx="1960007" cy="311833"/>
          </a:xfrm>
          <a:prstGeom prst="rect">
            <a:avLst/>
          </a:prstGeom>
        </p:spPr>
        <p:txBody>
          <a:bodyPr vert="horz" wrap="square" lIns="0" tIns="24498" rIns="0" bIns="0" rtlCol="0">
            <a:spAutoFit/>
          </a:bodyPr>
          <a:lstStyle/>
          <a:p>
            <a:pPr marL="18151">
              <a:spcBef>
                <a:spcPts val="193"/>
              </a:spcBef>
            </a:pPr>
            <a:r>
              <a:rPr sz="1858" spc="-93" dirty="0">
                <a:solidFill>
                  <a:srgbClr val="333333"/>
                </a:solidFill>
                <a:latin typeface="Arial"/>
                <a:cs typeface="Arial"/>
              </a:rPr>
              <a:t>November</a:t>
            </a:r>
            <a:r>
              <a:rPr sz="1858" spc="-43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8" spc="-100" dirty="0">
                <a:solidFill>
                  <a:srgbClr val="333333"/>
                </a:solidFill>
                <a:latin typeface="Arial"/>
                <a:cs typeface="Arial"/>
              </a:rPr>
              <a:t>12,</a:t>
            </a:r>
            <a:r>
              <a:rPr sz="1858" spc="-43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8" spc="-50" dirty="0">
                <a:solidFill>
                  <a:srgbClr val="333333"/>
                </a:solidFill>
                <a:latin typeface="Arial"/>
                <a:cs typeface="Arial"/>
              </a:rPr>
              <a:t>2025</a:t>
            </a:r>
            <a:endParaRPr sz="185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99178"/>
            <a:chOff x="0" y="0"/>
            <a:chExt cx="1217104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895350"/>
              <a:ext cx="12171045" cy="5962650"/>
            </a:xfrm>
            <a:custGeom>
              <a:avLst/>
              <a:gdLst/>
              <a:ahLst/>
              <a:cxnLst/>
              <a:rect l="l" t="t" r="r" b="b"/>
              <a:pathLst>
                <a:path w="12171045" h="5962650">
                  <a:moveTo>
                    <a:pt x="0" y="5962650"/>
                  </a:moveTo>
                  <a:lnTo>
                    <a:pt x="12170664" y="5962650"/>
                  </a:lnTo>
                  <a:lnTo>
                    <a:pt x="12170664" y="0"/>
                  </a:lnTo>
                  <a:lnTo>
                    <a:pt x="0" y="0"/>
                  </a:lnTo>
                  <a:lnTo>
                    <a:pt x="0" y="596265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71045" cy="895350"/>
            </a:xfrm>
            <a:custGeom>
              <a:avLst/>
              <a:gdLst/>
              <a:ahLst/>
              <a:cxnLst/>
              <a:rect l="l" t="t" r="r" b="b"/>
              <a:pathLst>
                <a:path w="12171045" h="895350">
                  <a:moveTo>
                    <a:pt x="12170664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70664" y="0"/>
                  </a:lnTo>
                  <a:lnTo>
                    <a:pt x="12170664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55412" y="240843"/>
            <a:ext cx="14464404" cy="692641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pc="-507" dirty="0">
                <a:latin typeface="Lucida Sans" panose="020B0602030504020204" pitchFamily="34" charset="0"/>
                <a:cs typeface="Arial" panose="020B0604020202020204" pitchFamily="34" charset="0"/>
              </a:rPr>
              <a:t>Business</a:t>
            </a:r>
            <a:r>
              <a:rPr spc="-350" dirty="0">
                <a:latin typeface="Lucida Sans" panose="020B0602030504020204" pitchFamily="34" charset="0"/>
                <a:cs typeface="Arial" panose="020B0604020202020204" pitchFamily="34" charset="0"/>
              </a:rPr>
              <a:t> </a:t>
            </a:r>
            <a:r>
              <a:rPr spc="-400" dirty="0">
                <a:latin typeface="Lucida Sans" panose="020B0602030504020204" pitchFamily="34" charset="0"/>
                <a:cs typeface="Arial" panose="020B0604020202020204" pitchFamily="34" charset="0"/>
              </a:rPr>
              <a:t>Problem</a:t>
            </a:r>
          </a:p>
        </p:txBody>
      </p:sp>
      <p:sp>
        <p:nvSpPr>
          <p:cNvPr id="19" name="object 19"/>
          <p:cNvSpPr/>
          <p:nvPr/>
        </p:nvSpPr>
        <p:spPr>
          <a:xfrm>
            <a:off x="1" y="9059355"/>
            <a:ext cx="17475200" cy="45719"/>
          </a:xfrm>
          <a:custGeom>
            <a:avLst/>
            <a:gdLst/>
            <a:ahLst/>
            <a:cxnLst/>
            <a:rect l="l" t="t" r="r" b="b"/>
            <a:pathLst>
              <a:path w="12171045" h="9525">
                <a:moveTo>
                  <a:pt x="12170664" y="9525"/>
                </a:moveTo>
                <a:lnTo>
                  <a:pt x="0" y="9525"/>
                </a:lnTo>
                <a:lnTo>
                  <a:pt x="0" y="0"/>
                </a:lnTo>
                <a:lnTo>
                  <a:pt x="12170664" y="0"/>
                </a:lnTo>
                <a:lnTo>
                  <a:pt x="12170664" y="95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7362216" y="9245742"/>
            <a:ext cx="2750767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1615"/>
              </a:lnSpc>
            </a:pPr>
            <a:r>
              <a:rPr spc="-64" dirty="0"/>
              <a:t>Manufacturing</a:t>
            </a:r>
            <a:r>
              <a:rPr spc="-14" dirty="0"/>
              <a:t> </a:t>
            </a:r>
            <a:r>
              <a:rPr spc="-79" dirty="0"/>
              <a:t>Downtime</a:t>
            </a:r>
            <a:r>
              <a:rPr spc="-7" dirty="0"/>
              <a:t> </a:t>
            </a:r>
            <a:r>
              <a:rPr spc="-79" dirty="0"/>
              <a:t>Analysis</a:t>
            </a:r>
            <a:r>
              <a:rPr spc="-14" dirty="0"/>
              <a:t> </a:t>
            </a:r>
            <a:r>
              <a:rPr spc="-64" dirty="0"/>
              <a:t>Dashboard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27B0A91-7E47-9542-90A0-80B7056EE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216" y="1279337"/>
            <a:ext cx="10080657" cy="778001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627F462-1564-B53A-A535-F8815DE0E3DB}"/>
              </a:ext>
            </a:extLst>
          </p:cNvPr>
          <p:cNvSpPr txBox="1"/>
          <p:nvPr/>
        </p:nvSpPr>
        <p:spPr>
          <a:xfrm>
            <a:off x="32327" y="1420005"/>
            <a:ext cx="7329889" cy="718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500" b="1" dirty="0">
                <a:solidFill>
                  <a:srgbClr val="374050"/>
                </a:solidFill>
              </a:rPr>
              <a:t>Main Downtime Categories:</a:t>
            </a:r>
          </a:p>
          <a:p>
            <a:pPr marL="228600" lvl="1" indent="-228600">
              <a:lnSpc>
                <a:spcPct val="300000"/>
              </a:lnSpc>
            </a:pPr>
            <a:r>
              <a:rPr lang="en-US" sz="2500" b="1" dirty="0">
                <a:solidFill>
                  <a:srgbClr val="374050"/>
                </a:solidFill>
              </a:rPr>
              <a:t>Measurement</a:t>
            </a:r>
            <a:r>
              <a:rPr lang="en-US" sz="2500" dirty="0">
                <a:solidFill>
                  <a:srgbClr val="374050"/>
                </a:solidFill>
              </a:rPr>
              <a:t>: Labeling errors, calibration issues.</a:t>
            </a:r>
          </a:p>
          <a:p>
            <a:pPr marL="228600" lvl="1" indent="-228600">
              <a:lnSpc>
                <a:spcPct val="300000"/>
              </a:lnSpc>
            </a:pPr>
            <a:r>
              <a:rPr lang="en-US" sz="2500" b="1" dirty="0">
                <a:solidFill>
                  <a:srgbClr val="374050"/>
                </a:solidFill>
              </a:rPr>
              <a:t>Machine</a:t>
            </a:r>
            <a:r>
              <a:rPr lang="en-US" sz="2500" dirty="0">
                <a:solidFill>
                  <a:srgbClr val="374050"/>
                </a:solidFill>
              </a:rPr>
              <a:t>: Conveyor jams, equipment failure.</a:t>
            </a:r>
          </a:p>
          <a:p>
            <a:pPr marL="228600" lvl="1" indent="-228600">
              <a:lnSpc>
                <a:spcPct val="300000"/>
              </a:lnSpc>
            </a:pPr>
            <a:r>
              <a:rPr lang="en-US" sz="2500" b="1" dirty="0">
                <a:solidFill>
                  <a:srgbClr val="374050"/>
                </a:solidFill>
              </a:rPr>
              <a:t>People</a:t>
            </a:r>
            <a:r>
              <a:rPr lang="en-US" sz="2500" dirty="0">
                <a:solidFill>
                  <a:srgbClr val="374050"/>
                </a:solidFill>
              </a:rPr>
              <a:t>: Manual errors, emergency stops.</a:t>
            </a:r>
          </a:p>
          <a:p>
            <a:pPr marL="228600" lvl="1" indent="-228600">
              <a:lnSpc>
                <a:spcPct val="300000"/>
              </a:lnSpc>
            </a:pPr>
            <a:r>
              <a:rPr lang="en-US" sz="2500" b="1" dirty="0">
                <a:solidFill>
                  <a:srgbClr val="374050"/>
                </a:solidFill>
              </a:rPr>
              <a:t>Material</a:t>
            </a:r>
            <a:r>
              <a:rPr lang="en-US" sz="2500" dirty="0">
                <a:solidFill>
                  <a:srgbClr val="374050"/>
                </a:solidFill>
              </a:rPr>
              <a:t>: Shortages, product spills.</a:t>
            </a:r>
          </a:p>
          <a:p>
            <a:pPr marL="228600" lvl="1" indent="-228600">
              <a:lnSpc>
                <a:spcPct val="300000"/>
              </a:lnSpc>
            </a:pPr>
            <a:r>
              <a:rPr lang="en-US" sz="2500" b="1" dirty="0">
                <a:solidFill>
                  <a:srgbClr val="374050"/>
                </a:solidFill>
              </a:rPr>
              <a:t>Environment</a:t>
            </a:r>
            <a:r>
              <a:rPr lang="en-US" sz="2500" dirty="0">
                <a:solidFill>
                  <a:srgbClr val="374050"/>
                </a:solidFill>
              </a:rPr>
              <a:t>: Humidity, temperature.</a:t>
            </a:r>
          </a:p>
          <a:p>
            <a:pPr marL="228600" lvl="1" indent="-228600">
              <a:lnSpc>
                <a:spcPct val="300000"/>
              </a:lnSpc>
            </a:pPr>
            <a:r>
              <a:rPr lang="en-US" sz="2500" b="1" dirty="0">
                <a:solidFill>
                  <a:srgbClr val="374050"/>
                </a:solidFill>
              </a:rPr>
              <a:t>Management</a:t>
            </a:r>
            <a:r>
              <a:rPr lang="en-US" sz="2500" dirty="0">
                <a:solidFill>
                  <a:srgbClr val="374050"/>
                </a:solidFill>
              </a:rPr>
              <a:t>: Process or coordination gaps.</a:t>
            </a:r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C3627440-732D-BB32-0AC2-6BFF6D49F324}"/>
              </a:ext>
            </a:extLst>
          </p:cNvPr>
          <p:cNvSpPr/>
          <p:nvPr/>
        </p:nvSpPr>
        <p:spPr>
          <a:xfrm>
            <a:off x="7213599" y="1279338"/>
            <a:ext cx="91121" cy="7780018"/>
          </a:xfrm>
          <a:custGeom>
            <a:avLst/>
            <a:gdLst/>
            <a:ahLst/>
            <a:cxnLst/>
            <a:rect l="l" t="t" r="r" b="b"/>
            <a:pathLst>
              <a:path w="9525" h="4953000">
                <a:moveTo>
                  <a:pt x="9525" y="4953000"/>
                </a:moveTo>
                <a:lnTo>
                  <a:pt x="0" y="4953000"/>
                </a:lnTo>
                <a:lnTo>
                  <a:pt x="0" y="0"/>
                </a:lnTo>
                <a:lnTo>
                  <a:pt x="9525" y="0"/>
                </a:lnTo>
                <a:lnTo>
                  <a:pt x="9525" y="4953000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0516"/>
            <a:ext cx="17475200" cy="9850315"/>
            <a:chOff x="0" y="0"/>
            <a:chExt cx="121158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895350"/>
              <a:ext cx="12115800" cy="5962650"/>
            </a:xfrm>
            <a:custGeom>
              <a:avLst/>
              <a:gdLst/>
              <a:ahLst/>
              <a:cxnLst/>
              <a:rect l="l" t="t" r="r" b="b"/>
              <a:pathLst>
                <a:path w="12115800" h="5962650">
                  <a:moveTo>
                    <a:pt x="0" y="5962650"/>
                  </a:moveTo>
                  <a:lnTo>
                    <a:pt x="12115800" y="5962650"/>
                  </a:lnTo>
                  <a:lnTo>
                    <a:pt x="12115800" y="0"/>
                  </a:lnTo>
                  <a:lnTo>
                    <a:pt x="0" y="0"/>
                  </a:lnTo>
                  <a:lnTo>
                    <a:pt x="0" y="596265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15800" cy="895350"/>
            </a:xfrm>
            <a:custGeom>
              <a:avLst/>
              <a:gdLst/>
              <a:ahLst/>
              <a:cxnLst/>
              <a:rect l="l" t="t" r="r" b="b"/>
              <a:pathLst>
                <a:path w="12115800" h="895350">
                  <a:moveTo>
                    <a:pt x="12115800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15800" y="0"/>
                  </a:lnTo>
                  <a:lnTo>
                    <a:pt x="12115800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68400" y="220328"/>
            <a:ext cx="14530358" cy="692641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pc="-291" dirty="0"/>
              <a:t>Business</a:t>
            </a:r>
            <a:r>
              <a:rPr spc="-286" dirty="0"/>
              <a:t> </a:t>
            </a:r>
            <a:r>
              <a:rPr spc="-314" dirty="0"/>
              <a:t>Questions</a:t>
            </a:r>
            <a:r>
              <a:rPr spc="-286" dirty="0"/>
              <a:t> </a:t>
            </a:r>
            <a:r>
              <a:rPr spc="-271" dirty="0"/>
              <a:t>–</a:t>
            </a:r>
            <a:r>
              <a:rPr spc="-286" dirty="0"/>
              <a:t> </a:t>
            </a:r>
            <a:r>
              <a:rPr spc="-307" dirty="0"/>
              <a:t>Overview</a:t>
            </a:r>
            <a:r>
              <a:rPr spc="-286" dirty="0"/>
              <a:t> </a:t>
            </a:r>
            <a:r>
              <a:rPr spc="-279" dirty="0"/>
              <a:t>Analysis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830977" y="1667121"/>
            <a:ext cx="15936504" cy="6424594"/>
            <a:chOff x="571499" y="1181100"/>
            <a:chExt cx="11049000" cy="4472940"/>
          </a:xfrm>
        </p:grpSpPr>
        <p:sp>
          <p:nvSpPr>
            <p:cNvPr id="7" name="object 7"/>
            <p:cNvSpPr/>
            <p:nvPr/>
          </p:nvSpPr>
          <p:spPr>
            <a:xfrm>
              <a:off x="595312" y="1181100"/>
              <a:ext cx="11025505" cy="876300"/>
            </a:xfrm>
            <a:custGeom>
              <a:avLst/>
              <a:gdLst/>
              <a:ahLst/>
              <a:cxnLst/>
              <a:rect l="l" t="t" r="r" b="b"/>
              <a:pathLst>
                <a:path w="11025505" h="876300">
                  <a:moveTo>
                    <a:pt x="10983849" y="876300"/>
                  </a:moveTo>
                  <a:lnTo>
                    <a:pt x="20654" y="876300"/>
                  </a:lnTo>
                  <a:lnTo>
                    <a:pt x="17617" y="875090"/>
                  </a:lnTo>
                  <a:lnTo>
                    <a:pt x="0" y="834990"/>
                  </a:lnTo>
                  <a:lnTo>
                    <a:pt x="0" y="828675"/>
                  </a:lnTo>
                  <a:lnTo>
                    <a:pt x="0" y="41309"/>
                  </a:lnTo>
                  <a:lnTo>
                    <a:pt x="17617" y="1209"/>
                  </a:lnTo>
                  <a:lnTo>
                    <a:pt x="20654" y="0"/>
                  </a:lnTo>
                  <a:lnTo>
                    <a:pt x="10983849" y="0"/>
                  </a:lnTo>
                  <a:lnTo>
                    <a:pt x="11019186" y="23564"/>
                  </a:lnTo>
                  <a:lnTo>
                    <a:pt x="11025187" y="41309"/>
                  </a:lnTo>
                  <a:lnTo>
                    <a:pt x="11025187" y="834990"/>
                  </a:lnTo>
                  <a:lnTo>
                    <a:pt x="11001660" y="870261"/>
                  </a:lnTo>
                  <a:lnTo>
                    <a:pt x="10989944" y="875090"/>
                  </a:lnTo>
                  <a:lnTo>
                    <a:pt x="10983849" y="876300"/>
                  </a:lnTo>
                  <a:close/>
                </a:path>
              </a:pathLst>
            </a:custGeom>
            <a:solidFill>
              <a:srgbClr val="E6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499" y="1181100"/>
              <a:ext cx="47625" cy="876300"/>
            </a:xfrm>
            <a:custGeom>
              <a:avLst/>
              <a:gdLst/>
              <a:ahLst/>
              <a:cxnLst/>
              <a:rect l="l" t="t" r="r" b="b"/>
              <a:pathLst>
                <a:path w="47625" h="876300">
                  <a:moveTo>
                    <a:pt x="47625" y="876300"/>
                  </a:moveTo>
                  <a:lnTo>
                    <a:pt x="7845" y="855016"/>
                  </a:lnTo>
                  <a:lnTo>
                    <a:pt x="0" y="828675"/>
                  </a:lnTo>
                  <a:lnTo>
                    <a:pt x="0" y="47625"/>
                  </a:lnTo>
                  <a:lnTo>
                    <a:pt x="21283" y="7845"/>
                  </a:lnTo>
                  <a:lnTo>
                    <a:pt x="47625" y="0"/>
                  </a:lnTo>
                  <a:lnTo>
                    <a:pt x="47625" y="87630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70047" y="268833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527303" y="527303"/>
                  </a:moveTo>
                  <a:lnTo>
                    <a:pt x="0" y="527303"/>
                  </a:lnTo>
                  <a:lnTo>
                    <a:pt x="0" y="0"/>
                  </a:lnTo>
                  <a:lnTo>
                    <a:pt x="527303" y="0"/>
                  </a:lnTo>
                  <a:lnTo>
                    <a:pt x="527303" y="45338"/>
                  </a:lnTo>
                  <a:lnTo>
                    <a:pt x="263651" y="45338"/>
                  </a:lnTo>
                  <a:lnTo>
                    <a:pt x="243946" y="46290"/>
                  </a:lnTo>
                  <a:lnTo>
                    <a:pt x="205673" y="53902"/>
                  </a:lnTo>
                  <a:lnTo>
                    <a:pt x="169264" y="68984"/>
                  </a:lnTo>
                  <a:lnTo>
                    <a:pt x="136819" y="90663"/>
                  </a:lnTo>
                  <a:lnTo>
                    <a:pt x="108951" y="118531"/>
                  </a:lnTo>
                  <a:lnTo>
                    <a:pt x="87272" y="150976"/>
                  </a:lnTo>
                  <a:lnTo>
                    <a:pt x="72190" y="187385"/>
                  </a:lnTo>
                  <a:lnTo>
                    <a:pt x="64578" y="225658"/>
                  </a:lnTo>
                  <a:lnTo>
                    <a:pt x="63626" y="245363"/>
                  </a:lnTo>
                  <a:lnTo>
                    <a:pt x="64578" y="265068"/>
                  </a:lnTo>
                  <a:lnTo>
                    <a:pt x="72190" y="303342"/>
                  </a:lnTo>
                  <a:lnTo>
                    <a:pt x="87272" y="339751"/>
                  </a:lnTo>
                  <a:lnTo>
                    <a:pt x="108951" y="372191"/>
                  </a:lnTo>
                  <a:lnTo>
                    <a:pt x="136819" y="400061"/>
                  </a:lnTo>
                  <a:lnTo>
                    <a:pt x="169264" y="421745"/>
                  </a:lnTo>
                  <a:lnTo>
                    <a:pt x="205673" y="436822"/>
                  </a:lnTo>
                  <a:lnTo>
                    <a:pt x="243946" y="444424"/>
                  </a:lnTo>
                  <a:lnTo>
                    <a:pt x="263651" y="445373"/>
                  </a:lnTo>
                  <a:lnTo>
                    <a:pt x="527303" y="445373"/>
                  </a:lnTo>
                  <a:lnTo>
                    <a:pt x="527303" y="527303"/>
                  </a:lnTo>
                  <a:close/>
                </a:path>
                <a:path w="527685" h="527685">
                  <a:moveTo>
                    <a:pt x="527303" y="445373"/>
                  </a:moveTo>
                  <a:lnTo>
                    <a:pt x="263651" y="445373"/>
                  </a:lnTo>
                  <a:lnTo>
                    <a:pt x="283356" y="444424"/>
                  </a:lnTo>
                  <a:lnTo>
                    <a:pt x="302682" y="441575"/>
                  </a:lnTo>
                  <a:lnTo>
                    <a:pt x="340199" y="430164"/>
                  </a:lnTo>
                  <a:lnTo>
                    <a:pt x="374799" y="411712"/>
                  </a:lnTo>
                  <a:lnTo>
                    <a:pt x="405079" y="386791"/>
                  </a:lnTo>
                  <a:lnTo>
                    <a:pt x="430000" y="356511"/>
                  </a:lnTo>
                  <a:lnTo>
                    <a:pt x="448452" y="321911"/>
                  </a:lnTo>
                  <a:lnTo>
                    <a:pt x="459863" y="284394"/>
                  </a:lnTo>
                  <a:lnTo>
                    <a:pt x="463661" y="245363"/>
                  </a:lnTo>
                  <a:lnTo>
                    <a:pt x="462712" y="225658"/>
                  </a:lnTo>
                  <a:lnTo>
                    <a:pt x="455110" y="187385"/>
                  </a:lnTo>
                  <a:lnTo>
                    <a:pt x="440033" y="150976"/>
                  </a:lnTo>
                  <a:lnTo>
                    <a:pt x="418349" y="118531"/>
                  </a:lnTo>
                  <a:lnTo>
                    <a:pt x="390479" y="90663"/>
                  </a:lnTo>
                  <a:lnTo>
                    <a:pt x="358039" y="68984"/>
                  </a:lnTo>
                  <a:lnTo>
                    <a:pt x="321630" y="53902"/>
                  </a:lnTo>
                  <a:lnTo>
                    <a:pt x="283356" y="46290"/>
                  </a:lnTo>
                  <a:lnTo>
                    <a:pt x="263651" y="45338"/>
                  </a:lnTo>
                  <a:lnTo>
                    <a:pt x="527303" y="45338"/>
                  </a:lnTo>
                  <a:lnTo>
                    <a:pt x="527303" y="44537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24149" y="27241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16417" y="419100"/>
                  </a:moveTo>
                  <a:lnTo>
                    <a:pt x="202682" y="419100"/>
                  </a:lnTo>
                  <a:lnTo>
                    <a:pt x="195843" y="418766"/>
                  </a:lnTo>
                  <a:lnTo>
                    <a:pt x="155286" y="412070"/>
                  </a:lnTo>
                  <a:lnTo>
                    <a:pt x="116824" y="397592"/>
                  </a:lnTo>
                  <a:lnTo>
                    <a:pt x="81915" y="375885"/>
                  </a:lnTo>
                  <a:lnTo>
                    <a:pt x="51920" y="347795"/>
                  </a:lnTo>
                  <a:lnTo>
                    <a:pt x="27974" y="314382"/>
                  </a:lnTo>
                  <a:lnTo>
                    <a:pt x="11010" y="276948"/>
                  </a:lnTo>
                  <a:lnTo>
                    <a:pt x="1685" y="236915"/>
                  </a:lnTo>
                  <a:lnTo>
                    <a:pt x="0" y="216417"/>
                  </a:lnTo>
                  <a:lnTo>
                    <a:pt x="0" y="202682"/>
                  </a:lnTo>
                  <a:lnTo>
                    <a:pt x="5362" y="161934"/>
                  </a:lnTo>
                  <a:lnTo>
                    <a:pt x="18573" y="123015"/>
                  </a:lnTo>
                  <a:lnTo>
                    <a:pt x="39128" y="87420"/>
                  </a:lnTo>
                  <a:lnTo>
                    <a:pt x="66227" y="56521"/>
                  </a:lnTo>
                  <a:lnTo>
                    <a:pt x="98840" y="31499"/>
                  </a:lnTo>
                  <a:lnTo>
                    <a:pt x="135702" y="13325"/>
                  </a:lnTo>
                  <a:lnTo>
                    <a:pt x="175402" y="2686"/>
                  </a:lnTo>
                  <a:lnTo>
                    <a:pt x="202682" y="0"/>
                  </a:lnTo>
                  <a:lnTo>
                    <a:pt x="216417" y="0"/>
                  </a:lnTo>
                  <a:lnTo>
                    <a:pt x="257165" y="5362"/>
                  </a:lnTo>
                  <a:lnTo>
                    <a:pt x="296084" y="18573"/>
                  </a:lnTo>
                  <a:lnTo>
                    <a:pt x="331679" y="39128"/>
                  </a:lnTo>
                  <a:lnTo>
                    <a:pt x="362578" y="66227"/>
                  </a:lnTo>
                  <a:lnTo>
                    <a:pt x="387600" y="98840"/>
                  </a:lnTo>
                  <a:lnTo>
                    <a:pt x="405774" y="135702"/>
                  </a:lnTo>
                  <a:lnTo>
                    <a:pt x="416413" y="175402"/>
                  </a:lnTo>
                  <a:lnTo>
                    <a:pt x="419100" y="202682"/>
                  </a:lnTo>
                  <a:lnTo>
                    <a:pt x="419100" y="209550"/>
                  </a:lnTo>
                  <a:lnTo>
                    <a:pt x="419100" y="216417"/>
                  </a:lnTo>
                  <a:lnTo>
                    <a:pt x="413737" y="257165"/>
                  </a:lnTo>
                  <a:lnTo>
                    <a:pt x="400526" y="296084"/>
                  </a:lnTo>
                  <a:lnTo>
                    <a:pt x="379971" y="331679"/>
                  </a:lnTo>
                  <a:lnTo>
                    <a:pt x="352872" y="362578"/>
                  </a:lnTo>
                  <a:lnTo>
                    <a:pt x="320259" y="387600"/>
                  </a:lnTo>
                  <a:lnTo>
                    <a:pt x="283397" y="405774"/>
                  </a:lnTo>
                  <a:lnTo>
                    <a:pt x="243697" y="416413"/>
                  </a:lnTo>
                  <a:lnTo>
                    <a:pt x="223256" y="418766"/>
                  </a:lnTo>
                  <a:lnTo>
                    <a:pt x="216417" y="41910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8601" y="2832100"/>
              <a:ext cx="206375" cy="1936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70047" y="329793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527303" y="527303"/>
                  </a:moveTo>
                  <a:lnTo>
                    <a:pt x="0" y="527303"/>
                  </a:lnTo>
                  <a:lnTo>
                    <a:pt x="0" y="0"/>
                  </a:lnTo>
                  <a:lnTo>
                    <a:pt x="527303" y="0"/>
                  </a:lnTo>
                  <a:lnTo>
                    <a:pt x="527303" y="45354"/>
                  </a:lnTo>
                  <a:lnTo>
                    <a:pt x="263651" y="45354"/>
                  </a:lnTo>
                  <a:lnTo>
                    <a:pt x="243946" y="46303"/>
                  </a:lnTo>
                  <a:lnTo>
                    <a:pt x="205673" y="53905"/>
                  </a:lnTo>
                  <a:lnTo>
                    <a:pt x="169264" y="68982"/>
                  </a:lnTo>
                  <a:lnTo>
                    <a:pt x="136819" y="90666"/>
                  </a:lnTo>
                  <a:lnTo>
                    <a:pt x="108951" y="118538"/>
                  </a:lnTo>
                  <a:lnTo>
                    <a:pt x="87272" y="150986"/>
                  </a:lnTo>
                  <a:lnTo>
                    <a:pt x="72190" y="187396"/>
                  </a:lnTo>
                  <a:lnTo>
                    <a:pt x="64578" y="225664"/>
                  </a:lnTo>
                  <a:lnTo>
                    <a:pt x="63626" y="245363"/>
                  </a:lnTo>
                  <a:lnTo>
                    <a:pt x="64578" y="265063"/>
                  </a:lnTo>
                  <a:lnTo>
                    <a:pt x="72190" y="303331"/>
                  </a:lnTo>
                  <a:lnTo>
                    <a:pt x="87272" y="339741"/>
                  </a:lnTo>
                  <a:lnTo>
                    <a:pt x="108951" y="372189"/>
                  </a:lnTo>
                  <a:lnTo>
                    <a:pt x="136819" y="400061"/>
                  </a:lnTo>
                  <a:lnTo>
                    <a:pt x="169264" y="421745"/>
                  </a:lnTo>
                  <a:lnTo>
                    <a:pt x="205673" y="436822"/>
                  </a:lnTo>
                  <a:lnTo>
                    <a:pt x="243946" y="444424"/>
                  </a:lnTo>
                  <a:lnTo>
                    <a:pt x="263651" y="445373"/>
                  </a:lnTo>
                  <a:lnTo>
                    <a:pt x="527303" y="445373"/>
                  </a:lnTo>
                  <a:lnTo>
                    <a:pt x="527303" y="527303"/>
                  </a:lnTo>
                  <a:close/>
                </a:path>
                <a:path w="527685" h="527685">
                  <a:moveTo>
                    <a:pt x="527303" y="445373"/>
                  </a:moveTo>
                  <a:lnTo>
                    <a:pt x="263651" y="445373"/>
                  </a:lnTo>
                  <a:lnTo>
                    <a:pt x="283356" y="444424"/>
                  </a:lnTo>
                  <a:lnTo>
                    <a:pt x="302682" y="441575"/>
                  </a:lnTo>
                  <a:lnTo>
                    <a:pt x="340199" y="430164"/>
                  </a:lnTo>
                  <a:lnTo>
                    <a:pt x="374799" y="411712"/>
                  </a:lnTo>
                  <a:lnTo>
                    <a:pt x="405079" y="386791"/>
                  </a:lnTo>
                  <a:lnTo>
                    <a:pt x="430000" y="356505"/>
                  </a:lnTo>
                  <a:lnTo>
                    <a:pt x="448452" y="321899"/>
                  </a:lnTo>
                  <a:lnTo>
                    <a:pt x="459863" y="284386"/>
                  </a:lnTo>
                  <a:lnTo>
                    <a:pt x="463661" y="245363"/>
                  </a:lnTo>
                  <a:lnTo>
                    <a:pt x="462712" y="225664"/>
                  </a:lnTo>
                  <a:lnTo>
                    <a:pt x="455110" y="187396"/>
                  </a:lnTo>
                  <a:lnTo>
                    <a:pt x="440033" y="150986"/>
                  </a:lnTo>
                  <a:lnTo>
                    <a:pt x="418349" y="118538"/>
                  </a:lnTo>
                  <a:lnTo>
                    <a:pt x="390479" y="90666"/>
                  </a:lnTo>
                  <a:lnTo>
                    <a:pt x="358039" y="68982"/>
                  </a:lnTo>
                  <a:lnTo>
                    <a:pt x="321630" y="53905"/>
                  </a:lnTo>
                  <a:lnTo>
                    <a:pt x="283356" y="46303"/>
                  </a:lnTo>
                  <a:lnTo>
                    <a:pt x="263651" y="45354"/>
                  </a:lnTo>
                  <a:lnTo>
                    <a:pt x="527303" y="45354"/>
                  </a:lnTo>
                  <a:lnTo>
                    <a:pt x="527303" y="44537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24149" y="33337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16417" y="419100"/>
                  </a:moveTo>
                  <a:lnTo>
                    <a:pt x="202682" y="419100"/>
                  </a:lnTo>
                  <a:lnTo>
                    <a:pt x="195843" y="418766"/>
                  </a:lnTo>
                  <a:lnTo>
                    <a:pt x="155286" y="412070"/>
                  </a:lnTo>
                  <a:lnTo>
                    <a:pt x="116824" y="397592"/>
                  </a:lnTo>
                  <a:lnTo>
                    <a:pt x="81915" y="375885"/>
                  </a:lnTo>
                  <a:lnTo>
                    <a:pt x="51920" y="347795"/>
                  </a:lnTo>
                  <a:lnTo>
                    <a:pt x="27974" y="314382"/>
                  </a:lnTo>
                  <a:lnTo>
                    <a:pt x="11010" y="276948"/>
                  </a:lnTo>
                  <a:lnTo>
                    <a:pt x="1685" y="236915"/>
                  </a:lnTo>
                  <a:lnTo>
                    <a:pt x="0" y="216417"/>
                  </a:lnTo>
                  <a:lnTo>
                    <a:pt x="0" y="202682"/>
                  </a:lnTo>
                  <a:lnTo>
                    <a:pt x="5362" y="161934"/>
                  </a:lnTo>
                  <a:lnTo>
                    <a:pt x="18573" y="123015"/>
                  </a:lnTo>
                  <a:lnTo>
                    <a:pt x="39128" y="87420"/>
                  </a:lnTo>
                  <a:lnTo>
                    <a:pt x="66227" y="56521"/>
                  </a:lnTo>
                  <a:lnTo>
                    <a:pt x="98840" y="31499"/>
                  </a:lnTo>
                  <a:lnTo>
                    <a:pt x="135702" y="13325"/>
                  </a:lnTo>
                  <a:lnTo>
                    <a:pt x="175402" y="2686"/>
                  </a:lnTo>
                  <a:lnTo>
                    <a:pt x="202682" y="0"/>
                  </a:lnTo>
                  <a:lnTo>
                    <a:pt x="216417" y="0"/>
                  </a:lnTo>
                  <a:lnTo>
                    <a:pt x="257165" y="5362"/>
                  </a:lnTo>
                  <a:lnTo>
                    <a:pt x="296084" y="18573"/>
                  </a:lnTo>
                  <a:lnTo>
                    <a:pt x="331679" y="39128"/>
                  </a:lnTo>
                  <a:lnTo>
                    <a:pt x="362578" y="66227"/>
                  </a:lnTo>
                  <a:lnTo>
                    <a:pt x="387600" y="98840"/>
                  </a:lnTo>
                  <a:lnTo>
                    <a:pt x="405774" y="135702"/>
                  </a:lnTo>
                  <a:lnTo>
                    <a:pt x="416413" y="175402"/>
                  </a:lnTo>
                  <a:lnTo>
                    <a:pt x="419100" y="202682"/>
                  </a:lnTo>
                  <a:lnTo>
                    <a:pt x="419100" y="209550"/>
                  </a:lnTo>
                  <a:lnTo>
                    <a:pt x="419100" y="216417"/>
                  </a:lnTo>
                  <a:lnTo>
                    <a:pt x="413737" y="257165"/>
                  </a:lnTo>
                  <a:lnTo>
                    <a:pt x="400526" y="296084"/>
                  </a:lnTo>
                  <a:lnTo>
                    <a:pt x="379971" y="331679"/>
                  </a:lnTo>
                  <a:lnTo>
                    <a:pt x="352872" y="362578"/>
                  </a:lnTo>
                  <a:lnTo>
                    <a:pt x="320259" y="387600"/>
                  </a:lnTo>
                  <a:lnTo>
                    <a:pt x="283397" y="405774"/>
                  </a:lnTo>
                  <a:lnTo>
                    <a:pt x="243697" y="416413"/>
                  </a:lnTo>
                  <a:lnTo>
                    <a:pt x="223256" y="418766"/>
                  </a:lnTo>
                  <a:lnTo>
                    <a:pt x="216417" y="41910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0983" y="3441700"/>
              <a:ext cx="190500" cy="1936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70047" y="390753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527303" y="527303"/>
                  </a:moveTo>
                  <a:lnTo>
                    <a:pt x="0" y="527303"/>
                  </a:lnTo>
                  <a:lnTo>
                    <a:pt x="0" y="0"/>
                  </a:lnTo>
                  <a:lnTo>
                    <a:pt x="527303" y="0"/>
                  </a:lnTo>
                  <a:lnTo>
                    <a:pt x="527303" y="45354"/>
                  </a:lnTo>
                  <a:lnTo>
                    <a:pt x="263651" y="45354"/>
                  </a:lnTo>
                  <a:lnTo>
                    <a:pt x="243946" y="46303"/>
                  </a:lnTo>
                  <a:lnTo>
                    <a:pt x="205673" y="53905"/>
                  </a:lnTo>
                  <a:lnTo>
                    <a:pt x="169264" y="68982"/>
                  </a:lnTo>
                  <a:lnTo>
                    <a:pt x="136819" y="90666"/>
                  </a:lnTo>
                  <a:lnTo>
                    <a:pt x="108951" y="118538"/>
                  </a:lnTo>
                  <a:lnTo>
                    <a:pt x="87272" y="150986"/>
                  </a:lnTo>
                  <a:lnTo>
                    <a:pt x="72190" y="187396"/>
                  </a:lnTo>
                  <a:lnTo>
                    <a:pt x="64578" y="225664"/>
                  </a:lnTo>
                  <a:lnTo>
                    <a:pt x="63626" y="245363"/>
                  </a:lnTo>
                  <a:lnTo>
                    <a:pt x="64578" y="265063"/>
                  </a:lnTo>
                  <a:lnTo>
                    <a:pt x="72190" y="303331"/>
                  </a:lnTo>
                  <a:lnTo>
                    <a:pt x="87272" y="339741"/>
                  </a:lnTo>
                  <a:lnTo>
                    <a:pt x="108951" y="372189"/>
                  </a:lnTo>
                  <a:lnTo>
                    <a:pt x="136819" y="400061"/>
                  </a:lnTo>
                  <a:lnTo>
                    <a:pt x="169264" y="421745"/>
                  </a:lnTo>
                  <a:lnTo>
                    <a:pt x="205673" y="436823"/>
                  </a:lnTo>
                  <a:lnTo>
                    <a:pt x="243946" y="444437"/>
                  </a:lnTo>
                  <a:lnTo>
                    <a:pt x="263651" y="445404"/>
                  </a:lnTo>
                  <a:lnTo>
                    <a:pt x="527303" y="445404"/>
                  </a:lnTo>
                  <a:lnTo>
                    <a:pt x="527303" y="527303"/>
                  </a:lnTo>
                  <a:close/>
                </a:path>
                <a:path w="527685" h="527685">
                  <a:moveTo>
                    <a:pt x="527303" y="445404"/>
                  </a:moveTo>
                  <a:lnTo>
                    <a:pt x="263651" y="445404"/>
                  </a:lnTo>
                  <a:lnTo>
                    <a:pt x="283356" y="444437"/>
                  </a:lnTo>
                  <a:lnTo>
                    <a:pt x="302682" y="441578"/>
                  </a:lnTo>
                  <a:lnTo>
                    <a:pt x="340199" y="430164"/>
                  </a:lnTo>
                  <a:lnTo>
                    <a:pt x="374799" y="411712"/>
                  </a:lnTo>
                  <a:lnTo>
                    <a:pt x="405079" y="386791"/>
                  </a:lnTo>
                  <a:lnTo>
                    <a:pt x="430000" y="356505"/>
                  </a:lnTo>
                  <a:lnTo>
                    <a:pt x="448452" y="321899"/>
                  </a:lnTo>
                  <a:lnTo>
                    <a:pt x="459863" y="284386"/>
                  </a:lnTo>
                  <a:lnTo>
                    <a:pt x="463661" y="245363"/>
                  </a:lnTo>
                  <a:lnTo>
                    <a:pt x="462712" y="225664"/>
                  </a:lnTo>
                  <a:lnTo>
                    <a:pt x="455110" y="187396"/>
                  </a:lnTo>
                  <a:lnTo>
                    <a:pt x="440033" y="150986"/>
                  </a:lnTo>
                  <a:lnTo>
                    <a:pt x="418349" y="118538"/>
                  </a:lnTo>
                  <a:lnTo>
                    <a:pt x="390479" y="90666"/>
                  </a:lnTo>
                  <a:lnTo>
                    <a:pt x="358039" y="68982"/>
                  </a:lnTo>
                  <a:lnTo>
                    <a:pt x="321630" y="53905"/>
                  </a:lnTo>
                  <a:lnTo>
                    <a:pt x="283356" y="46303"/>
                  </a:lnTo>
                  <a:lnTo>
                    <a:pt x="263651" y="45354"/>
                  </a:lnTo>
                  <a:lnTo>
                    <a:pt x="527303" y="45354"/>
                  </a:lnTo>
                  <a:lnTo>
                    <a:pt x="527303" y="44540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24149" y="39433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16417" y="419100"/>
                  </a:moveTo>
                  <a:lnTo>
                    <a:pt x="202682" y="419100"/>
                  </a:lnTo>
                  <a:lnTo>
                    <a:pt x="195843" y="418766"/>
                  </a:lnTo>
                  <a:lnTo>
                    <a:pt x="155286" y="412070"/>
                  </a:lnTo>
                  <a:lnTo>
                    <a:pt x="116824" y="397592"/>
                  </a:lnTo>
                  <a:lnTo>
                    <a:pt x="81915" y="375885"/>
                  </a:lnTo>
                  <a:lnTo>
                    <a:pt x="51920" y="347795"/>
                  </a:lnTo>
                  <a:lnTo>
                    <a:pt x="27974" y="314382"/>
                  </a:lnTo>
                  <a:lnTo>
                    <a:pt x="11010" y="276948"/>
                  </a:lnTo>
                  <a:lnTo>
                    <a:pt x="1685" y="236915"/>
                  </a:lnTo>
                  <a:lnTo>
                    <a:pt x="0" y="216417"/>
                  </a:lnTo>
                  <a:lnTo>
                    <a:pt x="0" y="202682"/>
                  </a:lnTo>
                  <a:lnTo>
                    <a:pt x="5362" y="161934"/>
                  </a:lnTo>
                  <a:lnTo>
                    <a:pt x="18573" y="123015"/>
                  </a:lnTo>
                  <a:lnTo>
                    <a:pt x="39128" y="87420"/>
                  </a:lnTo>
                  <a:lnTo>
                    <a:pt x="66227" y="56521"/>
                  </a:lnTo>
                  <a:lnTo>
                    <a:pt x="98840" y="31499"/>
                  </a:lnTo>
                  <a:lnTo>
                    <a:pt x="135702" y="13325"/>
                  </a:lnTo>
                  <a:lnTo>
                    <a:pt x="175402" y="2686"/>
                  </a:lnTo>
                  <a:lnTo>
                    <a:pt x="202682" y="0"/>
                  </a:lnTo>
                  <a:lnTo>
                    <a:pt x="216417" y="0"/>
                  </a:lnTo>
                  <a:lnTo>
                    <a:pt x="257165" y="5362"/>
                  </a:lnTo>
                  <a:lnTo>
                    <a:pt x="296084" y="18573"/>
                  </a:lnTo>
                  <a:lnTo>
                    <a:pt x="331679" y="39128"/>
                  </a:lnTo>
                  <a:lnTo>
                    <a:pt x="362578" y="66227"/>
                  </a:lnTo>
                  <a:lnTo>
                    <a:pt x="387600" y="98831"/>
                  </a:lnTo>
                  <a:lnTo>
                    <a:pt x="405774" y="135702"/>
                  </a:lnTo>
                  <a:lnTo>
                    <a:pt x="416413" y="175402"/>
                  </a:lnTo>
                  <a:lnTo>
                    <a:pt x="419100" y="202682"/>
                  </a:lnTo>
                  <a:lnTo>
                    <a:pt x="419100" y="209550"/>
                  </a:lnTo>
                  <a:lnTo>
                    <a:pt x="419100" y="216417"/>
                  </a:lnTo>
                  <a:lnTo>
                    <a:pt x="413737" y="257165"/>
                  </a:lnTo>
                  <a:lnTo>
                    <a:pt x="400526" y="296084"/>
                  </a:lnTo>
                  <a:lnTo>
                    <a:pt x="379971" y="331679"/>
                  </a:lnTo>
                  <a:lnTo>
                    <a:pt x="352872" y="362578"/>
                  </a:lnTo>
                  <a:lnTo>
                    <a:pt x="320259" y="387600"/>
                  </a:lnTo>
                  <a:lnTo>
                    <a:pt x="283397" y="405774"/>
                  </a:lnTo>
                  <a:lnTo>
                    <a:pt x="243697" y="416413"/>
                  </a:lnTo>
                  <a:lnTo>
                    <a:pt x="223256" y="418766"/>
                  </a:lnTo>
                  <a:lnTo>
                    <a:pt x="216417" y="41910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9076" y="4051300"/>
              <a:ext cx="215900" cy="19367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670047" y="451713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527303" y="527303"/>
                  </a:moveTo>
                  <a:lnTo>
                    <a:pt x="0" y="527303"/>
                  </a:lnTo>
                  <a:lnTo>
                    <a:pt x="0" y="0"/>
                  </a:lnTo>
                  <a:lnTo>
                    <a:pt x="527303" y="0"/>
                  </a:lnTo>
                  <a:lnTo>
                    <a:pt x="527303" y="45323"/>
                  </a:lnTo>
                  <a:lnTo>
                    <a:pt x="263651" y="45323"/>
                  </a:lnTo>
                  <a:lnTo>
                    <a:pt x="243946" y="46277"/>
                  </a:lnTo>
                  <a:lnTo>
                    <a:pt x="205673" y="53900"/>
                  </a:lnTo>
                  <a:lnTo>
                    <a:pt x="169264" y="68982"/>
                  </a:lnTo>
                  <a:lnTo>
                    <a:pt x="136819" y="90666"/>
                  </a:lnTo>
                  <a:lnTo>
                    <a:pt x="108951" y="118538"/>
                  </a:lnTo>
                  <a:lnTo>
                    <a:pt x="87272" y="150986"/>
                  </a:lnTo>
                  <a:lnTo>
                    <a:pt x="72190" y="187396"/>
                  </a:lnTo>
                  <a:lnTo>
                    <a:pt x="64578" y="225664"/>
                  </a:lnTo>
                  <a:lnTo>
                    <a:pt x="63626" y="245363"/>
                  </a:lnTo>
                  <a:lnTo>
                    <a:pt x="64578" y="265063"/>
                  </a:lnTo>
                  <a:lnTo>
                    <a:pt x="72190" y="303331"/>
                  </a:lnTo>
                  <a:lnTo>
                    <a:pt x="87272" y="339741"/>
                  </a:lnTo>
                  <a:lnTo>
                    <a:pt x="108951" y="372189"/>
                  </a:lnTo>
                  <a:lnTo>
                    <a:pt x="136819" y="400061"/>
                  </a:lnTo>
                  <a:lnTo>
                    <a:pt x="169264" y="421745"/>
                  </a:lnTo>
                  <a:lnTo>
                    <a:pt x="205673" y="436823"/>
                  </a:lnTo>
                  <a:lnTo>
                    <a:pt x="243946" y="444437"/>
                  </a:lnTo>
                  <a:lnTo>
                    <a:pt x="263651" y="445404"/>
                  </a:lnTo>
                  <a:lnTo>
                    <a:pt x="527303" y="445404"/>
                  </a:lnTo>
                  <a:lnTo>
                    <a:pt x="527303" y="527303"/>
                  </a:lnTo>
                  <a:close/>
                </a:path>
                <a:path w="527685" h="527685">
                  <a:moveTo>
                    <a:pt x="527303" y="445404"/>
                  </a:moveTo>
                  <a:lnTo>
                    <a:pt x="263651" y="445404"/>
                  </a:lnTo>
                  <a:lnTo>
                    <a:pt x="283356" y="444437"/>
                  </a:lnTo>
                  <a:lnTo>
                    <a:pt x="302682" y="441578"/>
                  </a:lnTo>
                  <a:lnTo>
                    <a:pt x="340199" y="430164"/>
                  </a:lnTo>
                  <a:lnTo>
                    <a:pt x="374799" y="411712"/>
                  </a:lnTo>
                  <a:lnTo>
                    <a:pt x="405079" y="386791"/>
                  </a:lnTo>
                  <a:lnTo>
                    <a:pt x="430000" y="356505"/>
                  </a:lnTo>
                  <a:lnTo>
                    <a:pt x="448452" y="321899"/>
                  </a:lnTo>
                  <a:lnTo>
                    <a:pt x="459863" y="284386"/>
                  </a:lnTo>
                  <a:lnTo>
                    <a:pt x="463661" y="245363"/>
                  </a:lnTo>
                  <a:lnTo>
                    <a:pt x="462712" y="225664"/>
                  </a:lnTo>
                  <a:lnTo>
                    <a:pt x="455110" y="187396"/>
                  </a:lnTo>
                  <a:lnTo>
                    <a:pt x="440033" y="150986"/>
                  </a:lnTo>
                  <a:lnTo>
                    <a:pt x="418349" y="118538"/>
                  </a:lnTo>
                  <a:lnTo>
                    <a:pt x="390479" y="90666"/>
                  </a:lnTo>
                  <a:lnTo>
                    <a:pt x="358039" y="68982"/>
                  </a:lnTo>
                  <a:lnTo>
                    <a:pt x="321630" y="53900"/>
                  </a:lnTo>
                  <a:lnTo>
                    <a:pt x="283356" y="46277"/>
                  </a:lnTo>
                  <a:lnTo>
                    <a:pt x="263651" y="45323"/>
                  </a:lnTo>
                  <a:lnTo>
                    <a:pt x="527303" y="45323"/>
                  </a:lnTo>
                  <a:lnTo>
                    <a:pt x="527303" y="44540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24149" y="45529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16417" y="419100"/>
                  </a:moveTo>
                  <a:lnTo>
                    <a:pt x="202682" y="419100"/>
                  </a:lnTo>
                  <a:lnTo>
                    <a:pt x="195843" y="418766"/>
                  </a:lnTo>
                  <a:lnTo>
                    <a:pt x="155286" y="412070"/>
                  </a:lnTo>
                  <a:lnTo>
                    <a:pt x="116824" y="397592"/>
                  </a:lnTo>
                  <a:lnTo>
                    <a:pt x="81915" y="375885"/>
                  </a:lnTo>
                  <a:lnTo>
                    <a:pt x="51920" y="347795"/>
                  </a:lnTo>
                  <a:lnTo>
                    <a:pt x="27974" y="314382"/>
                  </a:lnTo>
                  <a:lnTo>
                    <a:pt x="11010" y="276948"/>
                  </a:lnTo>
                  <a:lnTo>
                    <a:pt x="1685" y="236915"/>
                  </a:lnTo>
                  <a:lnTo>
                    <a:pt x="0" y="216417"/>
                  </a:lnTo>
                  <a:lnTo>
                    <a:pt x="0" y="202682"/>
                  </a:lnTo>
                  <a:lnTo>
                    <a:pt x="5362" y="161934"/>
                  </a:lnTo>
                  <a:lnTo>
                    <a:pt x="18573" y="123015"/>
                  </a:lnTo>
                  <a:lnTo>
                    <a:pt x="39128" y="87420"/>
                  </a:lnTo>
                  <a:lnTo>
                    <a:pt x="66227" y="56521"/>
                  </a:lnTo>
                  <a:lnTo>
                    <a:pt x="98840" y="31499"/>
                  </a:lnTo>
                  <a:lnTo>
                    <a:pt x="135702" y="13325"/>
                  </a:lnTo>
                  <a:lnTo>
                    <a:pt x="175402" y="2686"/>
                  </a:lnTo>
                  <a:lnTo>
                    <a:pt x="202682" y="0"/>
                  </a:lnTo>
                  <a:lnTo>
                    <a:pt x="216417" y="0"/>
                  </a:lnTo>
                  <a:lnTo>
                    <a:pt x="257165" y="5362"/>
                  </a:lnTo>
                  <a:lnTo>
                    <a:pt x="296084" y="18573"/>
                  </a:lnTo>
                  <a:lnTo>
                    <a:pt x="331679" y="39128"/>
                  </a:lnTo>
                  <a:lnTo>
                    <a:pt x="362578" y="66227"/>
                  </a:lnTo>
                  <a:lnTo>
                    <a:pt x="387600" y="98840"/>
                  </a:lnTo>
                  <a:lnTo>
                    <a:pt x="405774" y="135702"/>
                  </a:lnTo>
                  <a:lnTo>
                    <a:pt x="416413" y="175402"/>
                  </a:lnTo>
                  <a:lnTo>
                    <a:pt x="419100" y="202682"/>
                  </a:lnTo>
                  <a:lnTo>
                    <a:pt x="419100" y="209550"/>
                  </a:lnTo>
                  <a:lnTo>
                    <a:pt x="419100" y="216417"/>
                  </a:lnTo>
                  <a:lnTo>
                    <a:pt x="413737" y="257165"/>
                  </a:lnTo>
                  <a:lnTo>
                    <a:pt x="400526" y="296084"/>
                  </a:lnTo>
                  <a:lnTo>
                    <a:pt x="379971" y="331679"/>
                  </a:lnTo>
                  <a:lnTo>
                    <a:pt x="352872" y="362578"/>
                  </a:lnTo>
                  <a:lnTo>
                    <a:pt x="320259" y="387600"/>
                  </a:lnTo>
                  <a:lnTo>
                    <a:pt x="283397" y="405774"/>
                  </a:lnTo>
                  <a:lnTo>
                    <a:pt x="243697" y="416413"/>
                  </a:lnTo>
                  <a:lnTo>
                    <a:pt x="223256" y="418766"/>
                  </a:lnTo>
                  <a:lnTo>
                    <a:pt x="216417" y="41910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0983" y="4673600"/>
              <a:ext cx="190500" cy="16827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670047" y="512673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527303" y="527303"/>
                  </a:moveTo>
                  <a:lnTo>
                    <a:pt x="0" y="527303"/>
                  </a:lnTo>
                  <a:lnTo>
                    <a:pt x="0" y="0"/>
                  </a:lnTo>
                  <a:lnTo>
                    <a:pt x="527303" y="0"/>
                  </a:lnTo>
                  <a:lnTo>
                    <a:pt x="527303" y="45323"/>
                  </a:lnTo>
                  <a:lnTo>
                    <a:pt x="263651" y="45323"/>
                  </a:lnTo>
                  <a:lnTo>
                    <a:pt x="243946" y="46277"/>
                  </a:lnTo>
                  <a:lnTo>
                    <a:pt x="205673" y="53900"/>
                  </a:lnTo>
                  <a:lnTo>
                    <a:pt x="169264" y="68982"/>
                  </a:lnTo>
                  <a:lnTo>
                    <a:pt x="136819" y="90666"/>
                  </a:lnTo>
                  <a:lnTo>
                    <a:pt x="108951" y="118538"/>
                  </a:lnTo>
                  <a:lnTo>
                    <a:pt x="87272" y="150986"/>
                  </a:lnTo>
                  <a:lnTo>
                    <a:pt x="72190" y="187396"/>
                  </a:lnTo>
                  <a:lnTo>
                    <a:pt x="64578" y="225664"/>
                  </a:lnTo>
                  <a:lnTo>
                    <a:pt x="63626" y="245363"/>
                  </a:lnTo>
                  <a:lnTo>
                    <a:pt x="64578" y="265063"/>
                  </a:lnTo>
                  <a:lnTo>
                    <a:pt x="72190" y="303331"/>
                  </a:lnTo>
                  <a:lnTo>
                    <a:pt x="87272" y="339741"/>
                  </a:lnTo>
                  <a:lnTo>
                    <a:pt x="108951" y="372189"/>
                  </a:lnTo>
                  <a:lnTo>
                    <a:pt x="136819" y="400061"/>
                  </a:lnTo>
                  <a:lnTo>
                    <a:pt x="169264" y="421745"/>
                  </a:lnTo>
                  <a:lnTo>
                    <a:pt x="205673" y="436822"/>
                  </a:lnTo>
                  <a:lnTo>
                    <a:pt x="243946" y="444424"/>
                  </a:lnTo>
                  <a:lnTo>
                    <a:pt x="263651" y="445373"/>
                  </a:lnTo>
                  <a:lnTo>
                    <a:pt x="527303" y="445373"/>
                  </a:lnTo>
                  <a:lnTo>
                    <a:pt x="527303" y="527303"/>
                  </a:lnTo>
                  <a:close/>
                </a:path>
                <a:path w="527685" h="527685">
                  <a:moveTo>
                    <a:pt x="527303" y="445373"/>
                  </a:moveTo>
                  <a:lnTo>
                    <a:pt x="263651" y="445373"/>
                  </a:lnTo>
                  <a:lnTo>
                    <a:pt x="283356" y="444424"/>
                  </a:lnTo>
                  <a:lnTo>
                    <a:pt x="302682" y="441575"/>
                  </a:lnTo>
                  <a:lnTo>
                    <a:pt x="340199" y="430164"/>
                  </a:lnTo>
                  <a:lnTo>
                    <a:pt x="374799" y="411712"/>
                  </a:lnTo>
                  <a:lnTo>
                    <a:pt x="405079" y="386791"/>
                  </a:lnTo>
                  <a:lnTo>
                    <a:pt x="430000" y="356505"/>
                  </a:lnTo>
                  <a:lnTo>
                    <a:pt x="448452" y="321899"/>
                  </a:lnTo>
                  <a:lnTo>
                    <a:pt x="459863" y="284386"/>
                  </a:lnTo>
                  <a:lnTo>
                    <a:pt x="463661" y="245363"/>
                  </a:lnTo>
                  <a:lnTo>
                    <a:pt x="462712" y="225664"/>
                  </a:lnTo>
                  <a:lnTo>
                    <a:pt x="455110" y="187396"/>
                  </a:lnTo>
                  <a:lnTo>
                    <a:pt x="440033" y="150986"/>
                  </a:lnTo>
                  <a:lnTo>
                    <a:pt x="418349" y="118538"/>
                  </a:lnTo>
                  <a:lnTo>
                    <a:pt x="390479" y="90666"/>
                  </a:lnTo>
                  <a:lnTo>
                    <a:pt x="358039" y="68982"/>
                  </a:lnTo>
                  <a:lnTo>
                    <a:pt x="321630" y="53900"/>
                  </a:lnTo>
                  <a:lnTo>
                    <a:pt x="283356" y="46277"/>
                  </a:lnTo>
                  <a:lnTo>
                    <a:pt x="263651" y="45323"/>
                  </a:lnTo>
                  <a:lnTo>
                    <a:pt x="527303" y="45323"/>
                  </a:lnTo>
                  <a:lnTo>
                    <a:pt x="527303" y="44537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24149" y="51625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16417" y="419100"/>
                  </a:moveTo>
                  <a:lnTo>
                    <a:pt x="202682" y="419100"/>
                  </a:lnTo>
                  <a:lnTo>
                    <a:pt x="195843" y="418766"/>
                  </a:lnTo>
                  <a:lnTo>
                    <a:pt x="155286" y="412070"/>
                  </a:lnTo>
                  <a:lnTo>
                    <a:pt x="116824" y="397592"/>
                  </a:lnTo>
                  <a:lnTo>
                    <a:pt x="81915" y="375885"/>
                  </a:lnTo>
                  <a:lnTo>
                    <a:pt x="51920" y="347795"/>
                  </a:lnTo>
                  <a:lnTo>
                    <a:pt x="27974" y="314382"/>
                  </a:lnTo>
                  <a:lnTo>
                    <a:pt x="11010" y="276948"/>
                  </a:lnTo>
                  <a:lnTo>
                    <a:pt x="1685" y="236915"/>
                  </a:lnTo>
                  <a:lnTo>
                    <a:pt x="0" y="216417"/>
                  </a:lnTo>
                  <a:lnTo>
                    <a:pt x="0" y="202682"/>
                  </a:lnTo>
                  <a:lnTo>
                    <a:pt x="5362" y="161934"/>
                  </a:lnTo>
                  <a:lnTo>
                    <a:pt x="18573" y="123015"/>
                  </a:lnTo>
                  <a:lnTo>
                    <a:pt x="39128" y="87420"/>
                  </a:lnTo>
                  <a:lnTo>
                    <a:pt x="66227" y="56521"/>
                  </a:lnTo>
                  <a:lnTo>
                    <a:pt x="98840" y="31499"/>
                  </a:lnTo>
                  <a:lnTo>
                    <a:pt x="135702" y="13325"/>
                  </a:lnTo>
                  <a:lnTo>
                    <a:pt x="175402" y="2686"/>
                  </a:lnTo>
                  <a:lnTo>
                    <a:pt x="202682" y="0"/>
                  </a:lnTo>
                  <a:lnTo>
                    <a:pt x="216417" y="0"/>
                  </a:lnTo>
                  <a:lnTo>
                    <a:pt x="257165" y="5362"/>
                  </a:lnTo>
                  <a:lnTo>
                    <a:pt x="296084" y="18573"/>
                  </a:lnTo>
                  <a:lnTo>
                    <a:pt x="331679" y="39128"/>
                  </a:lnTo>
                  <a:lnTo>
                    <a:pt x="362578" y="66227"/>
                  </a:lnTo>
                  <a:lnTo>
                    <a:pt x="387600" y="98831"/>
                  </a:lnTo>
                  <a:lnTo>
                    <a:pt x="405774" y="135702"/>
                  </a:lnTo>
                  <a:lnTo>
                    <a:pt x="416413" y="175402"/>
                  </a:lnTo>
                  <a:lnTo>
                    <a:pt x="419100" y="202682"/>
                  </a:lnTo>
                  <a:lnTo>
                    <a:pt x="419100" y="209550"/>
                  </a:lnTo>
                  <a:lnTo>
                    <a:pt x="419100" y="216417"/>
                  </a:lnTo>
                  <a:lnTo>
                    <a:pt x="413737" y="257165"/>
                  </a:lnTo>
                  <a:lnTo>
                    <a:pt x="400526" y="296084"/>
                  </a:lnTo>
                  <a:lnTo>
                    <a:pt x="379971" y="331679"/>
                  </a:lnTo>
                  <a:lnTo>
                    <a:pt x="352872" y="362578"/>
                  </a:lnTo>
                  <a:lnTo>
                    <a:pt x="320259" y="387600"/>
                  </a:lnTo>
                  <a:lnTo>
                    <a:pt x="283397" y="405774"/>
                  </a:lnTo>
                  <a:lnTo>
                    <a:pt x="243697" y="416413"/>
                  </a:lnTo>
                  <a:lnTo>
                    <a:pt x="223256" y="418766"/>
                  </a:lnTo>
                  <a:lnTo>
                    <a:pt x="216417" y="41910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40983" y="5283200"/>
              <a:ext cx="190500" cy="16827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41540" y="1720775"/>
            <a:ext cx="12864605" cy="6244140"/>
          </a:xfrm>
          <a:prstGeom prst="rect">
            <a:avLst/>
          </a:prstGeom>
        </p:spPr>
        <p:txBody>
          <a:bodyPr vert="horz" wrap="square" lIns="0" tIns="150617" rIns="0" bIns="0" rtlCol="0">
            <a:spAutoFit/>
          </a:bodyPr>
          <a:lstStyle/>
          <a:p>
            <a:pPr marL="358498">
              <a:spcBef>
                <a:spcPts val="1186"/>
              </a:spcBef>
            </a:pPr>
            <a:r>
              <a:rPr sz="2358" b="1" spc="-50" dirty="0">
                <a:solidFill>
                  <a:srgbClr val="0078D4"/>
                </a:solidFill>
                <a:latin typeface="Arial"/>
                <a:cs typeface="Arial"/>
              </a:rPr>
              <a:t>Objective:</a:t>
            </a:r>
            <a:endParaRPr sz="2358">
              <a:latin typeface="Arial"/>
              <a:cs typeface="Arial"/>
            </a:endParaRPr>
          </a:p>
          <a:p>
            <a:pPr marL="358498">
              <a:spcBef>
                <a:spcPts val="922"/>
              </a:spcBef>
            </a:pPr>
            <a:r>
              <a:rPr sz="2143" spc="-129" dirty="0">
                <a:solidFill>
                  <a:srgbClr val="374050"/>
                </a:solidFill>
                <a:latin typeface="Arial"/>
                <a:cs typeface="Arial"/>
              </a:rPr>
              <a:t>Understand</a:t>
            </a:r>
            <a:r>
              <a:rPr sz="2143" spc="-6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143" spc="-107" dirty="0">
                <a:solidFill>
                  <a:srgbClr val="374050"/>
                </a:solidFill>
                <a:latin typeface="Arial"/>
                <a:cs typeface="Arial"/>
              </a:rPr>
              <a:t>overall</a:t>
            </a:r>
            <a:r>
              <a:rPr sz="2143" spc="-6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143" spc="-93" dirty="0">
                <a:solidFill>
                  <a:srgbClr val="374050"/>
                </a:solidFill>
                <a:latin typeface="Arial"/>
                <a:cs typeface="Arial"/>
              </a:rPr>
              <a:t>production</a:t>
            </a:r>
            <a:r>
              <a:rPr sz="2143" spc="-5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143" spc="-114" dirty="0">
                <a:solidFill>
                  <a:srgbClr val="374050"/>
                </a:solidFill>
                <a:latin typeface="Arial"/>
                <a:cs typeface="Arial"/>
              </a:rPr>
              <a:t>performance,</a:t>
            </a:r>
            <a:r>
              <a:rPr sz="2143" spc="-6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143" spc="-93" dirty="0">
                <a:solidFill>
                  <a:srgbClr val="374050"/>
                </a:solidFill>
                <a:latin typeface="Arial"/>
                <a:cs typeface="Arial"/>
              </a:rPr>
              <a:t>downtime</a:t>
            </a:r>
            <a:r>
              <a:rPr sz="2143" spc="-5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143" spc="-100" dirty="0">
                <a:solidFill>
                  <a:srgbClr val="374050"/>
                </a:solidFill>
                <a:latin typeface="Arial"/>
                <a:cs typeface="Arial"/>
              </a:rPr>
              <a:t>impact,</a:t>
            </a:r>
            <a:r>
              <a:rPr sz="2143" spc="-6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143" spc="-129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2143" spc="-5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143" spc="-171" dirty="0">
                <a:solidFill>
                  <a:srgbClr val="374050"/>
                </a:solidFill>
                <a:latin typeface="Arial"/>
                <a:cs typeface="Arial"/>
              </a:rPr>
              <a:t>key</a:t>
            </a:r>
            <a:r>
              <a:rPr sz="2143" spc="-6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143" spc="-93" dirty="0">
                <a:solidFill>
                  <a:srgbClr val="374050"/>
                </a:solidFill>
                <a:latin typeface="Arial"/>
                <a:cs typeface="Arial"/>
              </a:rPr>
              <a:t>efficiency</a:t>
            </a:r>
            <a:r>
              <a:rPr sz="2143" spc="-5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143" spc="-14" dirty="0">
                <a:solidFill>
                  <a:srgbClr val="374050"/>
                </a:solidFill>
                <a:latin typeface="Arial"/>
                <a:cs typeface="Arial"/>
              </a:rPr>
              <a:t>drivers.</a:t>
            </a:r>
            <a:endParaRPr sz="2143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29">
              <a:latin typeface="Arial"/>
              <a:cs typeface="Arial"/>
            </a:endParaRPr>
          </a:p>
          <a:p>
            <a:pPr>
              <a:spcBef>
                <a:spcPts val="163"/>
              </a:spcBef>
            </a:pPr>
            <a:endParaRPr sz="1929">
              <a:latin typeface="Arial"/>
              <a:cs typeface="Arial"/>
            </a:endParaRPr>
          </a:p>
          <a:p>
            <a:pPr marL="18151">
              <a:spcBef>
                <a:spcPts val="7"/>
              </a:spcBef>
            </a:pPr>
            <a:r>
              <a:rPr sz="2358" b="1" spc="-286" dirty="0">
                <a:solidFill>
                  <a:srgbClr val="0078D4"/>
                </a:solidFill>
                <a:latin typeface="Arial"/>
                <a:cs typeface="Arial"/>
              </a:rPr>
              <a:t>Key</a:t>
            </a:r>
            <a:r>
              <a:rPr sz="2358" b="1" spc="-93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2358" b="1" spc="-71" dirty="0">
                <a:solidFill>
                  <a:srgbClr val="0078D4"/>
                </a:solidFill>
                <a:latin typeface="Arial"/>
                <a:cs typeface="Arial"/>
              </a:rPr>
              <a:t>Questions:</a:t>
            </a:r>
            <a:endParaRPr sz="2358">
              <a:latin typeface="Arial"/>
              <a:cs typeface="Arial"/>
            </a:endParaRPr>
          </a:p>
          <a:p>
            <a:pPr>
              <a:spcBef>
                <a:spcPts val="593"/>
              </a:spcBef>
            </a:pPr>
            <a:endParaRPr sz="2143">
              <a:latin typeface="Arial"/>
              <a:cs typeface="Arial"/>
            </a:endParaRPr>
          </a:p>
          <a:p>
            <a:pPr marL="3968885">
              <a:spcBef>
                <a:spcPts val="7"/>
              </a:spcBef>
            </a:pPr>
            <a:r>
              <a:rPr sz="2358" spc="-143" dirty="0">
                <a:solidFill>
                  <a:srgbClr val="374050"/>
                </a:solidFill>
                <a:latin typeface="Arial"/>
                <a:cs typeface="Arial"/>
              </a:rPr>
              <a:t>How</a:t>
            </a:r>
            <a:r>
              <a:rPr sz="2358" spc="-7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71" dirty="0">
                <a:solidFill>
                  <a:srgbClr val="374050"/>
                </a:solidFill>
                <a:latin typeface="Arial"/>
                <a:cs typeface="Arial"/>
              </a:rPr>
              <a:t>efficiently</a:t>
            </a:r>
            <a:r>
              <a:rPr sz="2358" spc="-7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50" dirty="0">
                <a:solidFill>
                  <a:srgbClr val="374050"/>
                </a:solidFill>
                <a:latin typeface="Arial"/>
                <a:cs typeface="Arial"/>
              </a:rPr>
              <a:t>is</a:t>
            </a:r>
            <a:r>
              <a:rPr sz="2358" spc="-7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the</a:t>
            </a:r>
            <a:r>
              <a:rPr sz="2358" spc="-7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production</a:t>
            </a:r>
            <a:r>
              <a:rPr sz="2358" spc="-7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00" dirty="0">
                <a:solidFill>
                  <a:srgbClr val="374050"/>
                </a:solidFill>
                <a:latin typeface="Arial"/>
                <a:cs typeface="Arial"/>
              </a:rPr>
              <a:t>line</a:t>
            </a:r>
            <a:r>
              <a:rPr sz="2358" spc="-7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07" dirty="0">
                <a:solidFill>
                  <a:srgbClr val="374050"/>
                </a:solidFill>
                <a:latin typeface="Arial"/>
                <a:cs typeface="Arial"/>
              </a:rPr>
              <a:t>operating</a:t>
            </a:r>
            <a:r>
              <a:rPr sz="2358" spc="-7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4" dirty="0">
                <a:solidFill>
                  <a:srgbClr val="374050"/>
                </a:solidFill>
                <a:latin typeface="Arial"/>
                <a:cs typeface="Arial"/>
              </a:rPr>
              <a:t>overall?</a:t>
            </a:r>
            <a:endParaRPr sz="2358">
              <a:latin typeface="Arial"/>
              <a:cs typeface="Arial"/>
            </a:endParaRPr>
          </a:p>
          <a:p>
            <a:pPr marL="3968885" marR="1722603">
              <a:lnSpc>
                <a:spcPct val="242400"/>
              </a:lnSpc>
            </a:pPr>
            <a:r>
              <a:rPr sz="2358" spc="-150" dirty="0">
                <a:solidFill>
                  <a:srgbClr val="374050"/>
                </a:solidFill>
                <a:latin typeface="Arial"/>
                <a:cs typeface="Arial"/>
              </a:rPr>
              <a:t>What</a:t>
            </a:r>
            <a:r>
              <a:rPr sz="23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71" dirty="0">
                <a:solidFill>
                  <a:srgbClr val="374050"/>
                </a:solidFill>
                <a:latin typeface="Arial"/>
                <a:cs typeface="Arial"/>
              </a:rPr>
              <a:t>portion</a:t>
            </a:r>
            <a:r>
              <a:rPr sz="23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dirty="0">
                <a:solidFill>
                  <a:srgbClr val="374050"/>
                </a:solidFill>
                <a:latin typeface="Arial"/>
                <a:cs typeface="Arial"/>
              </a:rPr>
              <a:t>of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43" dirty="0">
                <a:solidFill>
                  <a:srgbClr val="374050"/>
                </a:solidFill>
                <a:latin typeface="Arial"/>
                <a:cs typeface="Arial"/>
              </a:rPr>
              <a:t>total</a:t>
            </a:r>
            <a:r>
              <a:rPr sz="23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production </a:t>
            </a:r>
            <a:r>
              <a:rPr sz="2358" spc="-64" dirty="0">
                <a:solidFill>
                  <a:srgbClr val="374050"/>
                </a:solidFill>
                <a:latin typeface="Arial"/>
                <a:cs typeface="Arial"/>
              </a:rPr>
              <a:t>time</a:t>
            </a:r>
            <a:r>
              <a:rPr sz="23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50" dirty="0">
                <a:solidFill>
                  <a:srgbClr val="374050"/>
                </a:solidFill>
                <a:latin typeface="Arial"/>
                <a:cs typeface="Arial"/>
              </a:rPr>
              <a:t>is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50" dirty="0">
                <a:solidFill>
                  <a:srgbClr val="374050"/>
                </a:solidFill>
                <a:latin typeface="Arial"/>
                <a:cs typeface="Arial"/>
              </a:rPr>
              <a:t>lost</a:t>
            </a:r>
            <a:r>
              <a:rPr sz="23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43" dirty="0">
                <a:solidFill>
                  <a:srgbClr val="374050"/>
                </a:solidFill>
                <a:latin typeface="Arial"/>
                <a:cs typeface="Arial"/>
              </a:rPr>
              <a:t>to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4" dirty="0">
                <a:solidFill>
                  <a:srgbClr val="374050"/>
                </a:solidFill>
                <a:latin typeface="Arial"/>
                <a:cs typeface="Arial"/>
              </a:rPr>
              <a:t>downtime? </a:t>
            </a:r>
            <a:r>
              <a:rPr sz="2358" spc="-143" dirty="0">
                <a:solidFill>
                  <a:srgbClr val="374050"/>
                </a:solidFill>
                <a:latin typeface="Arial"/>
                <a:cs typeface="Arial"/>
              </a:rPr>
              <a:t>Which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86" dirty="0">
                <a:solidFill>
                  <a:srgbClr val="374050"/>
                </a:solidFill>
                <a:latin typeface="Arial"/>
                <a:cs typeface="Arial"/>
              </a:rPr>
              <a:t>products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 or </a:t>
            </a:r>
            <a:r>
              <a:rPr sz="2358" spc="-57" dirty="0">
                <a:solidFill>
                  <a:srgbClr val="374050"/>
                </a:solidFill>
                <a:latin typeface="Arial"/>
                <a:cs typeface="Arial"/>
              </a:rPr>
              <a:t>factors</a:t>
            </a:r>
            <a:r>
              <a:rPr sz="2358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79" dirty="0">
                <a:solidFill>
                  <a:srgbClr val="374050"/>
                </a:solidFill>
                <a:latin typeface="Arial"/>
                <a:cs typeface="Arial"/>
              </a:rPr>
              <a:t>contribute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71" dirty="0">
                <a:solidFill>
                  <a:srgbClr val="374050"/>
                </a:solidFill>
                <a:latin typeface="Arial"/>
                <a:cs typeface="Arial"/>
              </a:rPr>
              <a:t>most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43" dirty="0">
                <a:solidFill>
                  <a:srgbClr val="374050"/>
                </a:solidFill>
                <a:latin typeface="Arial"/>
                <a:cs typeface="Arial"/>
              </a:rPr>
              <a:t>to</a:t>
            </a:r>
            <a:r>
              <a:rPr sz="2358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4" dirty="0">
                <a:solidFill>
                  <a:srgbClr val="374050"/>
                </a:solidFill>
                <a:latin typeface="Arial"/>
                <a:cs typeface="Arial"/>
              </a:rPr>
              <a:t>downtime? </a:t>
            </a:r>
            <a:r>
              <a:rPr sz="2358" spc="-143" dirty="0">
                <a:solidFill>
                  <a:srgbClr val="374050"/>
                </a:solidFill>
                <a:latin typeface="Arial"/>
                <a:cs typeface="Arial"/>
              </a:rPr>
              <a:t>How</a:t>
            </a:r>
            <a:r>
              <a:rPr sz="23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36" dirty="0">
                <a:solidFill>
                  <a:srgbClr val="374050"/>
                </a:solidFill>
                <a:latin typeface="Arial"/>
                <a:cs typeface="Arial"/>
              </a:rPr>
              <a:t>does</a:t>
            </a:r>
            <a:r>
              <a:rPr sz="23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downtime</a:t>
            </a:r>
            <a:r>
              <a:rPr sz="23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00" dirty="0">
                <a:solidFill>
                  <a:srgbClr val="374050"/>
                </a:solidFill>
                <a:latin typeface="Arial"/>
                <a:cs typeface="Arial"/>
              </a:rPr>
              <a:t>trend</a:t>
            </a:r>
            <a:r>
              <a:rPr sz="23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36" dirty="0">
                <a:solidFill>
                  <a:srgbClr val="374050"/>
                </a:solidFill>
                <a:latin typeface="Arial"/>
                <a:cs typeface="Arial"/>
              </a:rPr>
              <a:t>over</a:t>
            </a:r>
            <a:r>
              <a:rPr sz="23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64" dirty="0">
                <a:solidFill>
                  <a:srgbClr val="374050"/>
                </a:solidFill>
                <a:latin typeface="Arial"/>
                <a:cs typeface="Arial"/>
              </a:rPr>
              <a:t>time</a:t>
            </a:r>
            <a:r>
              <a:rPr sz="23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or</a:t>
            </a:r>
            <a:r>
              <a:rPr sz="23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63" dirty="0">
                <a:solidFill>
                  <a:srgbClr val="374050"/>
                </a:solidFill>
                <a:latin typeface="Arial"/>
                <a:cs typeface="Arial"/>
              </a:rPr>
              <a:t>by</a:t>
            </a:r>
            <a:r>
              <a:rPr sz="23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14" dirty="0">
                <a:solidFill>
                  <a:srgbClr val="374050"/>
                </a:solidFill>
                <a:latin typeface="Arial"/>
                <a:cs typeface="Arial"/>
              </a:rPr>
              <a:t>hour </a:t>
            </a:r>
            <a:r>
              <a:rPr sz="2358" dirty="0">
                <a:solidFill>
                  <a:srgbClr val="374050"/>
                </a:solidFill>
                <a:latin typeface="Arial"/>
                <a:cs typeface="Arial"/>
              </a:rPr>
              <a:t>of</a:t>
            </a:r>
            <a:r>
              <a:rPr sz="23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the</a:t>
            </a:r>
            <a:r>
              <a:rPr sz="23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64" dirty="0">
                <a:solidFill>
                  <a:srgbClr val="374050"/>
                </a:solidFill>
                <a:latin typeface="Arial"/>
                <a:cs typeface="Arial"/>
              </a:rPr>
              <a:t>day?</a:t>
            </a:r>
            <a:endParaRPr sz="2358">
              <a:latin typeface="Arial"/>
              <a:cs typeface="Arial"/>
            </a:endParaRPr>
          </a:p>
          <a:p>
            <a:pPr>
              <a:spcBef>
                <a:spcPts val="1565"/>
              </a:spcBef>
            </a:pPr>
            <a:endParaRPr sz="2143">
              <a:latin typeface="Arial"/>
              <a:cs typeface="Arial"/>
            </a:endParaRPr>
          </a:p>
          <a:p>
            <a:pPr marL="3968885"/>
            <a:r>
              <a:rPr sz="2358" spc="-163" dirty="0">
                <a:solidFill>
                  <a:srgbClr val="374050"/>
                </a:solidFill>
                <a:latin typeface="Arial"/>
                <a:cs typeface="Arial"/>
              </a:rPr>
              <a:t>Are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14" dirty="0">
                <a:solidFill>
                  <a:srgbClr val="374050"/>
                </a:solidFill>
                <a:latin typeface="Arial"/>
                <a:cs typeface="Arial"/>
              </a:rPr>
              <a:t>there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86" dirty="0">
                <a:solidFill>
                  <a:srgbClr val="374050"/>
                </a:solidFill>
                <a:latin typeface="Arial"/>
                <a:cs typeface="Arial"/>
              </a:rPr>
              <a:t>patterns </a:t>
            </a:r>
            <a:r>
              <a:rPr sz="2358" spc="-79" dirty="0">
                <a:solidFill>
                  <a:srgbClr val="374050"/>
                </a:solidFill>
                <a:latin typeface="Arial"/>
                <a:cs typeface="Arial"/>
              </a:rPr>
              <a:t>indicating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43" dirty="0">
                <a:solidFill>
                  <a:srgbClr val="374050"/>
                </a:solidFill>
                <a:latin typeface="Arial"/>
                <a:cs typeface="Arial"/>
              </a:rPr>
              <a:t>when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 or</a:t>
            </a:r>
            <a:r>
              <a:rPr sz="2358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43" dirty="0">
                <a:solidFill>
                  <a:srgbClr val="374050"/>
                </a:solidFill>
                <a:latin typeface="Arial"/>
                <a:cs typeface="Arial"/>
              </a:rPr>
              <a:t>where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 production </a:t>
            </a:r>
            <a:r>
              <a:rPr sz="2358" spc="-50" dirty="0">
                <a:solidFill>
                  <a:srgbClr val="374050"/>
                </a:solidFill>
                <a:latin typeface="Arial"/>
                <a:cs typeface="Arial"/>
              </a:rPr>
              <a:t>is</a:t>
            </a:r>
            <a:r>
              <a:rPr sz="2358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71" dirty="0">
                <a:solidFill>
                  <a:srgbClr val="374050"/>
                </a:solidFill>
                <a:latin typeface="Arial"/>
                <a:cs typeface="Arial"/>
              </a:rPr>
              <a:t>most</a:t>
            </a:r>
            <a:r>
              <a:rPr sz="23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358" spc="-14" dirty="0">
                <a:solidFill>
                  <a:srgbClr val="374050"/>
                </a:solidFill>
                <a:latin typeface="Arial"/>
                <a:cs typeface="Arial"/>
              </a:rPr>
              <a:t>efficient?</a:t>
            </a:r>
            <a:endParaRPr sz="2358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9070948"/>
            <a:ext cx="17475200" cy="45719"/>
          </a:xfrm>
          <a:custGeom>
            <a:avLst/>
            <a:gdLst/>
            <a:ahLst/>
            <a:cxnLst/>
            <a:rect l="l" t="t" r="r" b="b"/>
            <a:pathLst>
              <a:path w="12115800" h="9525">
                <a:moveTo>
                  <a:pt x="12115799" y="9525"/>
                </a:moveTo>
                <a:lnTo>
                  <a:pt x="0" y="9525"/>
                </a:lnTo>
                <a:lnTo>
                  <a:pt x="0" y="0"/>
                </a:lnTo>
                <a:lnTo>
                  <a:pt x="12115799" y="0"/>
                </a:lnTo>
                <a:lnTo>
                  <a:pt x="12115799" y="95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7434977" y="9277919"/>
            <a:ext cx="2763309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1615"/>
              </a:lnSpc>
            </a:pPr>
            <a:r>
              <a:rPr spc="-64" dirty="0"/>
              <a:t>Manufacturing</a:t>
            </a:r>
            <a:r>
              <a:rPr spc="-14" dirty="0"/>
              <a:t> </a:t>
            </a:r>
            <a:r>
              <a:rPr spc="-79" dirty="0"/>
              <a:t>Downtime</a:t>
            </a:r>
            <a:r>
              <a:rPr spc="-7" dirty="0"/>
              <a:t> </a:t>
            </a:r>
            <a:r>
              <a:rPr spc="-79" dirty="0"/>
              <a:t>Analysis</a:t>
            </a:r>
            <a:r>
              <a:rPr spc="-14" dirty="0"/>
              <a:t> </a:t>
            </a:r>
            <a:r>
              <a:rPr spc="-64" dirty="0"/>
              <a:t>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829800"/>
            <a:chOff x="0" y="0"/>
            <a:chExt cx="1206119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895350"/>
              <a:ext cx="12061190" cy="5962650"/>
            </a:xfrm>
            <a:custGeom>
              <a:avLst/>
              <a:gdLst/>
              <a:ahLst/>
              <a:cxnLst/>
              <a:rect l="l" t="t" r="r" b="b"/>
              <a:pathLst>
                <a:path w="12061190" h="5962650">
                  <a:moveTo>
                    <a:pt x="0" y="5962650"/>
                  </a:moveTo>
                  <a:lnTo>
                    <a:pt x="12060936" y="5962650"/>
                  </a:lnTo>
                  <a:lnTo>
                    <a:pt x="12060936" y="0"/>
                  </a:lnTo>
                  <a:lnTo>
                    <a:pt x="0" y="0"/>
                  </a:lnTo>
                  <a:lnTo>
                    <a:pt x="0" y="596265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061190" cy="895350"/>
            </a:xfrm>
            <a:custGeom>
              <a:avLst/>
              <a:gdLst/>
              <a:ahLst/>
              <a:cxnLst/>
              <a:rect l="l" t="t" r="r" b="b"/>
              <a:pathLst>
                <a:path w="12061190" h="895350">
                  <a:moveTo>
                    <a:pt x="12060936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060936" y="0"/>
                  </a:lnTo>
                  <a:lnTo>
                    <a:pt x="12060936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80641" y="271465"/>
            <a:ext cx="14596147" cy="692641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pc="-291" dirty="0"/>
              <a:t>Business</a:t>
            </a:r>
            <a:r>
              <a:rPr spc="-300" dirty="0"/>
              <a:t> </a:t>
            </a:r>
            <a:r>
              <a:rPr spc="-314" dirty="0"/>
              <a:t>Questions</a:t>
            </a:r>
            <a:r>
              <a:rPr spc="-291" dirty="0"/>
              <a:t> </a:t>
            </a:r>
            <a:r>
              <a:rPr spc="171" dirty="0"/>
              <a:t>-</a:t>
            </a:r>
            <a:r>
              <a:rPr spc="-291" dirty="0"/>
              <a:t> </a:t>
            </a:r>
            <a:r>
              <a:rPr spc="-129" dirty="0"/>
              <a:t>Batch</a:t>
            </a:r>
            <a:r>
              <a:rPr spc="-291" dirty="0"/>
              <a:t> </a:t>
            </a:r>
            <a:r>
              <a:rPr spc="-286" dirty="0"/>
              <a:t>Analysis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836852" y="1835316"/>
            <a:ext cx="16008660" cy="6113589"/>
            <a:chOff x="571500" y="1276350"/>
            <a:chExt cx="11049000" cy="4265295"/>
          </a:xfrm>
        </p:grpSpPr>
        <p:sp>
          <p:nvSpPr>
            <p:cNvPr id="7" name="object 7"/>
            <p:cNvSpPr/>
            <p:nvPr/>
          </p:nvSpPr>
          <p:spPr>
            <a:xfrm>
              <a:off x="590549" y="1276350"/>
              <a:ext cx="11029950" cy="571500"/>
            </a:xfrm>
            <a:custGeom>
              <a:avLst/>
              <a:gdLst/>
              <a:ahLst/>
              <a:cxnLst/>
              <a:rect l="l" t="t" r="r" b="b"/>
              <a:pathLst>
                <a:path w="11029950" h="571500">
                  <a:moveTo>
                    <a:pt x="10996898" y="571500"/>
                  </a:moveTo>
                  <a:lnTo>
                    <a:pt x="16523" y="571500"/>
                  </a:lnTo>
                  <a:lnTo>
                    <a:pt x="14094" y="570528"/>
                  </a:lnTo>
                  <a:lnTo>
                    <a:pt x="0" y="538448"/>
                  </a:lnTo>
                  <a:lnTo>
                    <a:pt x="0" y="533400"/>
                  </a:lnTo>
                  <a:lnTo>
                    <a:pt x="0" y="33051"/>
                  </a:lnTo>
                  <a:lnTo>
                    <a:pt x="16523" y="0"/>
                  </a:lnTo>
                  <a:lnTo>
                    <a:pt x="10996898" y="0"/>
                  </a:lnTo>
                  <a:lnTo>
                    <a:pt x="11028997" y="28184"/>
                  </a:lnTo>
                  <a:lnTo>
                    <a:pt x="11029950" y="33051"/>
                  </a:lnTo>
                  <a:lnTo>
                    <a:pt x="11029950" y="538448"/>
                  </a:lnTo>
                  <a:lnTo>
                    <a:pt x="11001756" y="570528"/>
                  </a:lnTo>
                  <a:lnTo>
                    <a:pt x="10996898" y="571500"/>
                  </a:lnTo>
                  <a:close/>
                </a:path>
              </a:pathLst>
            </a:custGeom>
            <a:solidFill>
              <a:srgbClr val="0078D4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500" y="1276350"/>
              <a:ext cx="38100" cy="571500"/>
            </a:xfrm>
            <a:custGeom>
              <a:avLst/>
              <a:gdLst/>
              <a:ahLst/>
              <a:cxnLst/>
              <a:rect l="l" t="t" r="r" b="b"/>
              <a:pathLst>
                <a:path w="38100" h="571500">
                  <a:moveTo>
                    <a:pt x="38100" y="571500"/>
                  </a:moveTo>
                  <a:lnTo>
                    <a:pt x="2789" y="548026"/>
                  </a:lnTo>
                  <a:lnTo>
                    <a:pt x="0" y="533400"/>
                  </a:lnTo>
                  <a:lnTo>
                    <a:pt x="0" y="38100"/>
                  </a:lnTo>
                  <a:lnTo>
                    <a:pt x="23473" y="2789"/>
                  </a:lnTo>
                  <a:lnTo>
                    <a:pt x="38100" y="0"/>
                  </a:lnTo>
                  <a:lnTo>
                    <a:pt x="38100" y="57150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01823" y="2097024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69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6100"/>
                  </a:lnTo>
                  <a:lnTo>
                    <a:pt x="293750" y="46100"/>
                  </a:lnTo>
                  <a:lnTo>
                    <a:pt x="282519" y="46375"/>
                  </a:lnTo>
                  <a:lnTo>
                    <a:pt x="238191" y="52953"/>
                  </a:lnTo>
                  <a:lnTo>
                    <a:pt x="195999" y="68054"/>
                  </a:lnTo>
                  <a:lnTo>
                    <a:pt x="157561" y="91095"/>
                  </a:lnTo>
                  <a:lnTo>
                    <a:pt x="124359" y="121191"/>
                  </a:lnTo>
                  <a:lnTo>
                    <a:pt x="97666" y="157187"/>
                  </a:lnTo>
                  <a:lnTo>
                    <a:pt x="78507" y="197699"/>
                  </a:lnTo>
                  <a:lnTo>
                    <a:pt x="67621" y="241170"/>
                  </a:lnTo>
                  <a:lnTo>
                    <a:pt x="65150" y="274700"/>
                  </a:lnTo>
                  <a:lnTo>
                    <a:pt x="65425" y="285930"/>
                  </a:lnTo>
                  <a:lnTo>
                    <a:pt x="72003" y="330260"/>
                  </a:lnTo>
                  <a:lnTo>
                    <a:pt x="87102" y="372452"/>
                  </a:lnTo>
                  <a:lnTo>
                    <a:pt x="110145" y="410889"/>
                  </a:lnTo>
                  <a:lnTo>
                    <a:pt x="140241" y="444092"/>
                  </a:lnTo>
                  <a:lnTo>
                    <a:pt x="176237" y="470785"/>
                  </a:lnTo>
                  <a:lnTo>
                    <a:pt x="216749" y="489943"/>
                  </a:lnTo>
                  <a:lnTo>
                    <a:pt x="260220" y="500830"/>
                  </a:lnTo>
                  <a:lnTo>
                    <a:pt x="293750" y="503300"/>
                  </a:lnTo>
                  <a:lnTo>
                    <a:pt x="585215" y="503300"/>
                  </a:lnTo>
                  <a:lnTo>
                    <a:pt x="585215" y="585215"/>
                  </a:lnTo>
                  <a:close/>
                </a:path>
                <a:path w="585469" h="585469">
                  <a:moveTo>
                    <a:pt x="585215" y="503300"/>
                  </a:moveTo>
                  <a:lnTo>
                    <a:pt x="293750" y="503300"/>
                  </a:lnTo>
                  <a:lnTo>
                    <a:pt x="304982" y="503026"/>
                  </a:lnTo>
                  <a:lnTo>
                    <a:pt x="316158" y="502203"/>
                  </a:lnTo>
                  <a:lnTo>
                    <a:pt x="360110" y="493459"/>
                  </a:lnTo>
                  <a:lnTo>
                    <a:pt x="401513" y="476309"/>
                  </a:lnTo>
                  <a:lnTo>
                    <a:pt x="438774" y="451412"/>
                  </a:lnTo>
                  <a:lnTo>
                    <a:pt x="470462" y="419724"/>
                  </a:lnTo>
                  <a:lnTo>
                    <a:pt x="495359" y="382463"/>
                  </a:lnTo>
                  <a:lnTo>
                    <a:pt x="512509" y="341060"/>
                  </a:lnTo>
                  <a:lnTo>
                    <a:pt x="521253" y="297107"/>
                  </a:lnTo>
                  <a:lnTo>
                    <a:pt x="522350" y="274700"/>
                  </a:lnTo>
                  <a:lnTo>
                    <a:pt x="522076" y="263469"/>
                  </a:lnTo>
                  <a:lnTo>
                    <a:pt x="515497" y="219141"/>
                  </a:lnTo>
                  <a:lnTo>
                    <a:pt x="500397" y="176949"/>
                  </a:lnTo>
                  <a:lnTo>
                    <a:pt x="477356" y="138511"/>
                  </a:lnTo>
                  <a:lnTo>
                    <a:pt x="447260" y="105309"/>
                  </a:lnTo>
                  <a:lnTo>
                    <a:pt x="411264" y="78616"/>
                  </a:lnTo>
                  <a:lnTo>
                    <a:pt x="370750" y="59457"/>
                  </a:lnTo>
                  <a:lnTo>
                    <a:pt x="327281" y="48571"/>
                  </a:lnTo>
                  <a:lnTo>
                    <a:pt x="293750" y="46100"/>
                  </a:lnTo>
                  <a:lnTo>
                    <a:pt x="585215" y="46100"/>
                  </a:lnTo>
                  <a:lnTo>
                    <a:pt x="585215" y="50330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57450" y="21336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4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5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09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6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8266" y="2263775"/>
              <a:ext cx="209550" cy="2127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401823" y="2813304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195"/>
                  </a:lnTo>
                  <a:lnTo>
                    <a:pt x="293750" y="44195"/>
                  </a:lnTo>
                  <a:lnTo>
                    <a:pt x="282519" y="44470"/>
                  </a:lnTo>
                  <a:lnTo>
                    <a:pt x="238191" y="51048"/>
                  </a:lnTo>
                  <a:lnTo>
                    <a:pt x="195999" y="66149"/>
                  </a:lnTo>
                  <a:lnTo>
                    <a:pt x="157561" y="89190"/>
                  </a:lnTo>
                  <a:lnTo>
                    <a:pt x="124359" y="119286"/>
                  </a:lnTo>
                  <a:lnTo>
                    <a:pt x="97666" y="155282"/>
                  </a:lnTo>
                  <a:lnTo>
                    <a:pt x="78507" y="195794"/>
                  </a:lnTo>
                  <a:lnTo>
                    <a:pt x="67621" y="239270"/>
                  </a:lnTo>
                  <a:lnTo>
                    <a:pt x="65150" y="272795"/>
                  </a:lnTo>
                  <a:lnTo>
                    <a:pt x="65425" y="284019"/>
                  </a:lnTo>
                  <a:lnTo>
                    <a:pt x="72003" y="328349"/>
                  </a:lnTo>
                  <a:lnTo>
                    <a:pt x="87102" y="370543"/>
                  </a:lnTo>
                  <a:lnTo>
                    <a:pt x="110145" y="408983"/>
                  </a:lnTo>
                  <a:lnTo>
                    <a:pt x="140241" y="442188"/>
                  </a:lnTo>
                  <a:lnTo>
                    <a:pt x="176237" y="468887"/>
                  </a:lnTo>
                  <a:lnTo>
                    <a:pt x="216749" y="488044"/>
                  </a:lnTo>
                  <a:lnTo>
                    <a:pt x="260220" y="498927"/>
                  </a:lnTo>
                  <a:lnTo>
                    <a:pt x="293750" y="501395"/>
                  </a:lnTo>
                  <a:lnTo>
                    <a:pt x="585215" y="501395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1395"/>
                  </a:moveTo>
                  <a:lnTo>
                    <a:pt x="293750" y="501395"/>
                  </a:lnTo>
                  <a:lnTo>
                    <a:pt x="304982" y="501121"/>
                  </a:lnTo>
                  <a:lnTo>
                    <a:pt x="316158" y="500298"/>
                  </a:lnTo>
                  <a:lnTo>
                    <a:pt x="360110" y="491562"/>
                  </a:lnTo>
                  <a:lnTo>
                    <a:pt x="401513" y="474413"/>
                  </a:lnTo>
                  <a:lnTo>
                    <a:pt x="438774" y="449507"/>
                  </a:lnTo>
                  <a:lnTo>
                    <a:pt x="470462" y="417816"/>
                  </a:lnTo>
                  <a:lnTo>
                    <a:pt x="495359" y="380554"/>
                  </a:lnTo>
                  <a:lnTo>
                    <a:pt x="512509" y="339150"/>
                  </a:lnTo>
                  <a:lnTo>
                    <a:pt x="521253" y="295194"/>
                  </a:lnTo>
                  <a:lnTo>
                    <a:pt x="522350" y="272795"/>
                  </a:lnTo>
                  <a:lnTo>
                    <a:pt x="522076" y="261572"/>
                  </a:lnTo>
                  <a:lnTo>
                    <a:pt x="515497" y="217236"/>
                  </a:lnTo>
                  <a:lnTo>
                    <a:pt x="500397" y="175044"/>
                  </a:lnTo>
                  <a:lnTo>
                    <a:pt x="477356" y="136606"/>
                  </a:lnTo>
                  <a:lnTo>
                    <a:pt x="447260" y="103404"/>
                  </a:lnTo>
                  <a:lnTo>
                    <a:pt x="411264" y="76711"/>
                  </a:lnTo>
                  <a:lnTo>
                    <a:pt x="370750" y="57552"/>
                  </a:lnTo>
                  <a:lnTo>
                    <a:pt x="327281" y="46666"/>
                  </a:lnTo>
                  <a:lnTo>
                    <a:pt x="293750" y="44195"/>
                  </a:lnTo>
                  <a:lnTo>
                    <a:pt x="585215" y="44195"/>
                  </a:lnTo>
                  <a:lnTo>
                    <a:pt x="585215" y="50139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57450" y="28479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5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18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5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5169" y="2990850"/>
              <a:ext cx="238125" cy="1873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401823" y="3526536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5354"/>
                  </a:lnTo>
                  <a:lnTo>
                    <a:pt x="293750" y="45354"/>
                  </a:lnTo>
                  <a:lnTo>
                    <a:pt x="282519" y="45628"/>
                  </a:lnTo>
                  <a:lnTo>
                    <a:pt x="238191" y="52200"/>
                  </a:lnTo>
                  <a:lnTo>
                    <a:pt x="195999" y="67288"/>
                  </a:lnTo>
                  <a:lnTo>
                    <a:pt x="157561" y="90325"/>
                  </a:lnTo>
                  <a:lnTo>
                    <a:pt x="124359" y="120420"/>
                  </a:lnTo>
                  <a:lnTo>
                    <a:pt x="97666" y="156425"/>
                  </a:lnTo>
                  <a:lnTo>
                    <a:pt x="78507" y="196927"/>
                  </a:lnTo>
                  <a:lnTo>
                    <a:pt x="67621" y="240400"/>
                  </a:lnTo>
                  <a:lnTo>
                    <a:pt x="65150" y="273923"/>
                  </a:lnTo>
                  <a:lnTo>
                    <a:pt x="65425" y="285165"/>
                  </a:lnTo>
                  <a:lnTo>
                    <a:pt x="72003" y="329507"/>
                  </a:lnTo>
                  <a:lnTo>
                    <a:pt x="87102" y="371701"/>
                  </a:lnTo>
                  <a:lnTo>
                    <a:pt x="110145" y="410129"/>
                  </a:lnTo>
                  <a:lnTo>
                    <a:pt x="140241" y="443333"/>
                  </a:lnTo>
                  <a:lnTo>
                    <a:pt x="176237" y="470015"/>
                  </a:lnTo>
                  <a:lnTo>
                    <a:pt x="216749" y="489184"/>
                  </a:lnTo>
                  <a:lnTo>
                    <a:pt x="260220" y="500054"/>
                  </a:lnTo>
                  <a:lnTo>
                    <a:pt x="293750" y="502523"/>
                  </a:lnTo>
                  <a:lnTo>
                    <a:pt x="585215" y="502523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2523"/>
                  </a:moveTo>
                  <a:lnTo>
                    <a:pt x="293750" y="502523"/>
                  </a:lnTo>
                  <a:lnTo>
                    <a:pt x="304982" y="502249"/>
                  </a:lnTo>
                  <a:lnTo>
                    <a:pt x="316158" y="501426"/>
                  </a:lnTo>
                  <a:lnTo>
                    <a:pt x="360110" y="492693"/>
                  </a:lnTo>
                  <a:lnTo>
                    <a:pt x="401513" y="475545"/>
                  </a:lnTo>
                  <a:lnTo>
                    <a:pt x="438774" y="450650"/>
                  </a:lnTo>
                  <a:lnTo>
                    <a:pt x="470462" y="418970"/>
                  </a:lnTo>
                  <a:lnTo>
                    <a:pt x="495359" y="381708"/>
                  </a:lnTo>
                  <a:lnTo>
                    <a:pt x="512509" y="340309"/>
                  </a:lnTo>
                  <a:lnTo>
                    <a:pt x="521253" y="296349"/>
                  </a:lnTo>
                  <a:lnTo>
                    <a:pt x="522350" y="273923"/>
                  </a:lnTo>
                  <a:lnTo>
                    <a:pt x="522076" y="262699"/>
                  </a:lnTo>
                  <a:lnTo>
                    <a:pt x="515497" y="218370"/>
                  </a:lnTo>
                  <a:lnTo>
                    <a:pt x="500397" y="176176"/>
                  </a:lnTo>
                  <a:lnTo>
                    <a:pt x="477356" y="137748"/>
                  </a:lnTo>
                  <a:lnTo>
                    <a:pt x="447260" y="104544"/>
                  </a:lnTo>
                  <a:lnTo>
                    <a:pt x="411264" y="77849"/>
                  </a:lnTo>
                  <a:lnTo>
                    <a:pt x="370750" y="58693"/>
                  </a:lnTo>
                  <a:lnTo>
                    <a:pt x="327281" y="47823"/>
                  </a:lnTo>
                  <a:lnTo>
                    <a:pt x="293750" y="45354"/>
                  </a:lnTo>
                  <a:lnTo>
                    <a:pt x="585215" y="45354"/>
                  </a:lnTo>
                  <a:lnTo>
                    <a:pt x="585215" y="50252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57450" y="356235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6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18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5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5091" y="3705225"/>
              <a:ext cx="215900" cy="1873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401823" y="4239768"/>
              <a:ext cx="585470" cy="588645"/>
            </a:xfrm>
            <a:custGeom>
              <a:avLst/>
              <a:gdLst/>
              <a:ahLst/>
              <a:cxnLst/>
              <a:rect l="l" t="t" r="r" b="b"/>
              <a:pathLst>
                <a:path w="585469" h="588645">
                  <a:moveTo>
                    <a:pt x="585215" y="588263"/>
                  </a:moveTo>
                  <a:lnTo>
                    <a:pt x="0" y="588263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6481"/>
                  </a:lnTo>
                  <a:lnTo>
                    <a:pt x="293750" y="46481"/>
                  </a:lnTo>
                  <a:lnTo>
                    <a:pt x="282519" y="46756"/>
                  </a:lnTo>
                  <a:lnTo>
                    <a:pt x="238191" y="53329"/>
                  </a:lnTo>
                  <a:lnTo>
                    <a:pt x="195999" y="68429"/>
                  </a:lnTo>
                  <a:lnTo>
                    <a:pt x="157561" y="91479"/>
                  </a:lnTo>
                  <a:lnTo>
                    <a:pt x="124359" y="121578"/>
                  </a:lnTo>
                  <a:lnTo>
                    <a:pt x="97666" y="157570"/>
                  </a:lnTo>
                  <a:lnTo>
                    <a:pt x="78507" y="198085"/>
                  </a:lnTo>
                  <a:lnTo>
                    <a:pt x="67621" y="241559"/>
                  </a:lnTo>
                  <a:lnTo>
                    <a:pt x="65150" y="275081"/>
                  </a:lnTo>
                  <a:lnTo>
                    <a:pt x="65425" y="286305"/>
                  </a:lnTo>
                  <a:lnTo>
                    <a:pt x="72003" y="330635"/>
                  </a:lnTo>
                  <a:lnTo>
                    <a:pt x="87102" y="372829"/>
                  </a:lnTo>
                  <a:lnTo>
                    <a:pt x="110145" y="411269"/>
                  </a:lnTo>
                  <a:lnTo>
                    <a:pt x="140241" y="444474"/>
                  </a:lnTo>
                  <a:lnTo>
                    <a:pt x="176237" y="471173"/>
                  </a:lnTo>
                  <a:lnTo>
                    <a:pt x="216749" y="490330"/>
                  </a:lnTo>
                  <a:lnTo>
                    <a:pt x="260220" y="501213"/>
                  </a:lnTo>
                  <a:lnTo>
                    <a:pt x="293750" y="503681"/>
                  </a:lnTo>
                  <a:lnTo>
                    <a:pt x="585215" y="503681"/>
                  </a:lnTo>
                  <a:lnTo>
                    <a:pt x="585215" y="588263"/>
                  </a:lnTo>
                  <a:close/>
                </a:path>
                <a:path w="585469" h="588645">
                  <a:moveTo>
                    <a:pt x="585215" y="503681"/>
                  </a:moveTo>
                  <a:lnTo>
                    <a:pt x="293750" y="503681"/>
                  </a:lnTo>
                  <a:lnTo>
                    <a:pt x="304982" y="503407"/>
                  </a:lnTo>
                  <a:lnTo>
                    <a:pt x="316158" y="502584"/>
                  </a:lnTo>
                  <a:lnTo>
                    <a:pt x="360110" y="493848"/>
                  </a:lnTo>
                  <a:lnTo>
                    <a:pt x="401513" y="476699"/>
                  </a:lnTo>
                  <a:lnTo>
                    <a:pt x="438774" y="451793"/>
                  </a:lnTo>
                  <a:lnTo>
                    <a:pt x="470462" y="420102"/>
                  </a:lnTo>
                  <a:lnTo>
                    <a:pt x="495359" y="382840"/>
                  </a:lnTo>
                  <a:lnTo>
                    <a:pt x="512509" y="341436"/>
                  </a:lnTo>
                  <a:lnTo>
                    <a:pt x="521253" y="297480"/>
                  </a:lnTo>
                  <a:lnTo>
                    <a:pt x="522350" y="275081"/>
                  </a:lnTo>
                  <a:lnTo>
                    <a:pt x="522076" y="263858"/>
                  </a:lnTo>
                  <a:lnTo>
                    <a:pt x="515497" y="219528"/>
                  </a:lnTo>
                  <a:lnTo>
                    <a:pt x="500397" y="177334"/>
                  </a:lnTo>
                  <a:lnTo>
                    <a:pt x="477356" y="138894"/>
                  </a:lnTo>
                  <a:lnTo>
                    <a:pt x="447260" y="105689"/>
                  </a:lnTo>
                  <a:lnTo>
                    <a:pt x="411264" y="78990"/>
                  </a:lnTo>
                  <a:lnTo>
                    <a:pt x="370750" y="59833"/>
                  </a:lnTo>
                  <a:lnTo>
                    <a:pt x="327281" y="48950"/>
                  </a:lnTo>
                  <a:lnTo>
                    <a:pt x="293750" y="46481"/>
                  </a:lnTo>
                  <a:lnTo>
                    <a:pt x="585215" y="46481"/>
                  </a:lnTo>
                  <a:lnTo>
                    <a:pt x="585215" y="50368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57450" y="42767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6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09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5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8422" y="4413250"/>
              <a:ext cx="250825" cy="2000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401823" y="4956048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561"/>
                  </a:lnTo>
                  <a:lnTo>
                    <a:pt x="293750" y="44561"/>
                  </a:lnTo>
                  <a:lnTo>
                    <a:pt x="282519" y="44853"/>
                  </a:lnTo>
                  <a:lnTo>
                    <a:pt x="238191" y="51438"/>
                  </a:lnTo>
                  <a:lnTo>
                    <a:pt x="195999" y="66526"/>
                  </a:lnTo>
                  <a:lnTo>
                    <a:pt x="157561" y="89563"/>
                  </a:lnTo>
                  <a:lnTo>
                    <a:pt x="124359" y="119658"/>
                  </a:lnTo>
                  <a:lnTo>
                    <a:pt x="97666" y="155663"/>
                  </a:lnTo>
                  <a:lnTo>
                    <a:pt x="78507" y="196165"/>
                  </a:lnTo>
                  <a:lnTo>
                    <a:pt x="67621" y="239638"/>
                  </a:lnTo>
                  <a:lnTo>
                    <a:pt x="65150" y="273161"/>
                  </a:lnTo>
                  <a:lnTo>
                    <a:pt x="65425" y="284403"/>
                  </a:lnTo>
                  <a:lnTo>
                    <a:pt x="72003" y="328745"/>
                  </a:lnTo>
                  <a:lnTo>
                    <a:pt x="87102" y="370939"/>
                  </a:lnTo>
                  <a:lnTo>
                    <a:pt x="110145" y="409367"/>
                  </a:lnTo>
                  <a:lnTo>
                    <a:pt x="140241" y="442571"/>
                  </a:lnTo>
                  <a:lnTo>
                    <a:pt x="176237" y="469266"/>
                  </a:lnTo>
                  <a:lnTo>
                    <a:pt x="216749" y="488422"/>
                  </a:lnTo>
                  <a:lnTo>
                    <a:pt x="260220" y="499292"/>
                  </a:lnTo>
                  <a:lnTo>
                    <a:pt x="293750" y="501761"/>
                  </a:lnTo>
                  <a:lnTo>
                    <a:pt x="585215" y="501761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1761"/>
                  </a:moveTo>
                  <a:lnTo>
                    <a:pt x="293750" y="501761"/>
                  </a:lnTo>
                  <a:lnTo>
                    <a:pt x="304982" y="501487"/>
                  </a:lnTo>
                  <a:lnTo>
                    <a:pt x="316158" y="500664"/>
                  </a:lnTo>
                  <a:lnTo>
                    <a:pt x="360110" y="491931"/>
                  </a:lnTo>
                  <a:lnTo>
                    <a:pt x="401513" y="474786"/>
                  </a:lnTo>
                  <a:lnTo>
                    <a:pt x="438774" y="449892"/>
                  </a:lnTo>
                  <a:lnTo>
                    <a:pt x="470462" y="418208"/>
                  </a:lnTo>
                  <a:lnTo>
                    <a:pt x="495359" y="380946"/>
                  </a:lnTo>
                  <a:lnTo>
                    <a:pt x="512509" y="339547"/>
                  </a:lnTo>
                  <a:lnTo>
                    <a:pt x="521253" y="295587"/>
                  </a:lnTo>
                  <a:lnTo>
                    <a:pt x="522350" y="273161"/>
                  </a:lnTo>
                  <a:lnTo>
                    <a:pt x="522076" y="261937"/>
                  </a:lnTo>
                  <a:lnTo>
                    <a:pt x="515497" y="217608"/>
                  </a:lnTo>
                  <a:lnTo>
                    <a:pt x="500397" y="175414"/>
                  </a:lnTo>
                  <a:lnTo>
                    <a:pt x="477356" y="136986"/>
                  </a:lnTo>
                  <a:lnTo>
                    <a:pt x="447260" y="103782"/>
                  </a:lnTo>
                  <a:lnTo>
                    <a:pt x="411264" y="77087"/>
                  </a:lnTo>
                  <a:lnTo>
                    <a:pt x="370750" y="57931"/>
                  </a:lnTo>
                  <a:lnTo>
                    <a:pt x="327281" y="47060"/>
                  </a:lnTo>
                  <a:lnTo>
                    <a:pt x="293750" y="44561"/>
                  </a:lnTo>
                  <a:lnTo>
                    <a:pt x="585215" y="44561"/>
                  </a:lnTo>
                  <a:lnTo>
                    <a:pt x="585215" y="5017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57450" y="49911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9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6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18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5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9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7869" y="5133975"/>
              <a:ext cx="212725" cy="18732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168362" y="2037094"/>
            <a:ext cx="14697834" cy="5755589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2358" spc="-107" dirty="0">
                <a:solidFill>
                  <a:srgbClr val="333333"/>
                </a:solidFill>
                <a:latin typeface="Arial"/>
                <a:cs typeface="Arial"/>
              </a:rPr>
              <a:t>Objective:</a:t>
            </a:r>
            <a:r>
              <a:rPr sz="2358" spc="-71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358" spc="-143" dirty="0">
                <a:solidFill>
                  <a:srgbClr val="333333"/>
                </a:solidFill>
                <a:latin typeface="Arial"/>
                <a:cs typeface="Arial"/>
              </a:rPr>
              <a:t>Evaluate</a:t>
            </a:r>
            <a:r>
              <a:rPr sz="2358" spc="-6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358" spc="-93" dirty="0">
                <a:solidFill>
                  <a:srgbClr val="333333"/>
                </a:solidFill>
                <a:latin typeface="Arial"/>
                <a:cs typeface="Arial"/>
              </a:rPr>
              <a:t>batch-</a:t>
            </a:r>
            <a:r>
              <a:rPr sz="2358" spc="-107" dirty="0">
                <a:solidFill>
                  <a:srgbClr val="333333"/>
                </a:solidFill>
                <a:latin typeface="Arial"/>
                <a:cs typeface="Arial"/>
              </a:rPr>
              <a:t>level</a:t>
            </a:r>
            <a:r>
              <a:rPr sz="2358" spc="-64" dirty="0">
                <a:solidFill>
                  <a:srgbClr val="333333"/>
                </a:solidFill>
                <a:latin typeface="Arial"/>
                <a:cs typeface="Arial"/>
              </a:rPr>
              <a:t> productivity </a:t>
            </a:r>
            <a:r>
              <a:rPr sz="2358" spc="-150" dirty="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2358" spc="-6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358" spc="-50" dirty="0">
                <a:solidFill>
                  <a:srgbClr val="333333"/>
                </a:solidFill>
                <a:latin typeface="Arial"/>
                <a:cs typeface="Arial"/>
              </a:rPr>
              <a:t>identify</a:t>
            </a:r>
            <a:r>
              <a:rPr sz="2358" spc="-71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358" spc="-79" dirty="0">
                <a:solidFill>
                  <a:srgbClr val="333333"/>
                </a:solidFill>
                <a:latin typeface="Arial"/>
                <a:cs typeface="Arial"/>
              </a:rPr>
              <a:t>variations</a:t>
            </a:r>
            <a:r>
              <a:rPr sz="2358" spc="-6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358" spc="-79" dirty="0">
                <a:solidFill>
                  <a:srgbClr val="333333"/>
                </a:solidFill>
                <a:latin typeface="Arial"/>
                <a:cs typeface="Arial"/>
              </a:rPr>
              <a:t>or</a:t>
            </a:r>
            <a:r>
              <a:rPr sz="2358" spc="-6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358" spc="-71" dirty="0">
                <a:solidFill>
                  <a:srgbClr val="333333"/>
                </a:solidFill>
                <a:latin typeface="Arial"/>
                <a:cs typeface="Arial"/>
              </a:rPr>
              <a:t>inefficiencies</a:t>
            </a:r>
            <a:r>
              <a:rPr sz="2358" spc="-6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358" spc="-50" dirty="0">
                <a:solidFill>
                  <a:srgbClr val="333333"/>
                </a:solidFill>
                <a:latin typeface="Arial"/>
                <a:cs typeface="Arial"/>
              </a:rPr>
              <a:t>affecting</a:t>
            </a:r>
            <a:r>
              <a:rPr sz="2358" spc="-6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358" spc="-86" dirty="0">
                <a:solidFill>
                  <a:srgbClr val="333333"/>
                </a:solidFill>
                <a:latin typeface="Arial"/>
                <a:cs typeface="Arial"/>
              </a:rPr>
              <a:t>production</a:t>
            </a:r>
            <a:r>
              <a:rPr sz="2358" spc="-6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358" spc="-14" dirty="0">
                <a:solidFill>
                  <a:srgbClr val="333333"/>
                </a:solidFill>
                <a:latin typeface="Arial"/>
                <a:cs typeface="Arial"/>
              </a:rPr>
              <a:t>consistency.</a:t>
            </a:r>
            <a:endParaRPr sz="2358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43" dirty="0">
              <a:latin typeface="Arial"/>
              <a:cs typeface="Arial"/>
            </a:endParaRPr>
          </a:p>
          <a:p>
            <a:pPr>
              <a:spcBef>
                <a:spcPts val="1349"/>
              </a:spcBef>
            </a:pPr>
            <a:endParaRPr sz="2143" dirty="0">
              <a:latin typeface="Arial"/>
              <a:cs typeface="Arial"/>
            </a:endParaRPr>
          </a:p>
          <a:p>
            <a:pPr marL="3336294"/>
            <a:r>
              <a:rPr sz="2700" spc="-163" dirty="0">
                <a:solidFill>
                  <a:srgbClr val="374050"/>
                </a:solidFill>
                <a:latin typeface="Arial"/>
                <a:cs typeface="Arial"/>
              </a:rPr>
              <a:t>Are</a:t>
            </a:r>
            <a:r>
              <a:rPr sz="2700" spc="-100" dirty="0">
                <a:solidFill>
                  <a:srgbClr val="374050"/>
                </a:solidFill>
                <a:latin typeface="Arial"/>
                <a:cs typeface="Arial"/>
              </a:rPr>
              <a:t> batches 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being</a:t>
            </a:r>
            <a:r>
              <a:rPr sz="27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93" dirty="0">
                <a:solidFill>
                  <a:srgbClr val="374050"/>
                </a:solidFill>
                <a:latin typeface="Arial"/>
                <a:cs typeface="Arial"/>
              </a:rPr>
              <a:t>completed</a:t>
            </a:r>
            <a:r>
              <a:rPr sz="27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50" dirty="0">
                <a:solidFill>
                  <a:srgbClr val="374050"/>
                </a:solidFill>
                <a:latin typeface="Arial"/>
                <a:cs typeface="Arial"/>
              </a:rPr>
              <a:t>within</a:t>
            </a:r>
            <a:r>
              <a:rPr sz="27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21" dirty="0">
                <a:solidFill>
                  <a:srgbClr val="374050"/>
                </a:solidFill>
                <a:latin typeface="Arial"/>
                <a:cs typeface="Arial"/>
              </a:rPr>
              <a:t>expected</a:t>
            </a:r>
            <a:r>
              <a:rPr sz="27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71" dirty="0">
                <a:solidFill>
                  <a:srgbClr val="374050"/>
                </a:solidFill>
                <a:latin typeface="Arial"/>
                <a:cs typeface="Arial"/>
              </a:rPr>
              <a:t>target</a:t>
            </a:r>
            <a:r>
              <a:rPr sz="27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4" dirty="0">
                <a:solidFill>
                  <a:srgbClr val="374050"/>
                </a:solidFill>
                <a:latin typeface="Arial"/>
                <a:cs typeface="Arial"/>
              </a:rPr>
              <a:t>times?</a:t>
            </a:r>
            <a:endParaRPr sz="2700" dirty="0">
              <a:latin typeface="Arial"/>
              <a:cs typeface="Arial"/>
            </a:endParaRPr>
          </a:p>
          <a:p>
            <a:pPr marL="3336294" marR="1559237">
              <a:lnSpc>
                <a:spcPct val="260400"/>
              </a:lnSpc>
            </a:pPr>
            <a:r>
              <a:rPr sz="2700" spc="-150" dirty="0">
                <a:solidFill>
                  <a:srgbClr val="374050"/>
                </a:solidFill>
                <a:latin typeface="Arial"/>
                <a:cs typeface="Arial"/>
              </a:rPr>
              <a:t>Which</a:t>
            </a:r>
            <a:r>
              <a:rPr sz="27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00" dirty="0">
                <a:solidFill>
                  <a:srgbClr val="374050"/>
                </a:solidFill>
                <a:latin typeface="Arial"/>
                <a:cs typeface="Arial"/>
              </a:rPr>
              <a:t>batches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take </a:t>
            </a:r>
            <a:r>
              <a:rPr sz="2700" spc="-100" dirty="0">
                <a:solidFill>
                  <a:srgbClr val="374050"/>
                </a:solidFill>
                <a:latin typeface="Arial"/>
                <a:cs typeface="Arial"/>
              </a:rPr>
              <a:t>the</a:t>
            </a:r>
            <a:r>
              <a:rPr sz="27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79" dirty="0">
                <a:solidFill>
                  <a:srgbClr val="374050"/>
                </a:solidFill>
                <a:latin typeface="Arial"/>
                <a:cs typeface="Arial"/>
              </a:rPr>
              <a:t>longest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86" dirty="0">
                <a:solidFill>
                  <a:srgbClr val="374050"/>
                </a:solidFill>
                <a:latin typeface="Arial"/>
                <a:cs typeface="Arial"/>
              </a:rPr>
              <a:t>or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64" dirty="0">
                <a:solidFill>
                  <a:srgbClr val="374050"/>
                </a:solidFill>
                <a:latin typeface="Arial"/>
                <a:cs typeface="Arial"/>
              </a:rPr>
              <a:t>shortest</a:t>
            </a:r>
            <a:r>
              <a:rPr sz="27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57" dirty="0">
                <a:solidFill>
                  <a:srgbClr val="374050"/>
                </a:solidFill>
                <a:latin typeface="Arial"/>
                <a:cs typeface="Arial"/>
              </a:rPr>
              <a:t>time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29" dirty="0">
                <a:solidFill>
                  <a:srgbClr val="374050"/>
                </a:solidFill>
                <a:latin typeface="Arial"/>
                <a:cs typeface="Arial"/>
              </a:rPr>
              <a:t>to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29" dirty="0">
                <a:solidFill>
                  <a:srgbClr val="374050"/>
                </a:solidFill>
                <a:latin typeface="Arial"/>
                <a:cs typeface="Arial"/>
              </a:rPr>
              <a:t>produce,</a:t>
            </a:r>
            <a:r>
              <a:rPr sz="27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36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14" dirty="0">
                <a:solidFill>
                  <a:srgbClr val="374050"/>
                </a:solidFill>
                <a:latin typeface="Arial"/>
                <a:cs typeface="Arial"/>
              </a:rPr>
              <a:t>why? </a:t>
            </a:r>
            <a:r>
              <a:rPr sz="2700" spc="-150" dirty="0">
                <a:solidFill>
                  <a:srgbClr val="374050"/>
                </a:solidFill>
                <a:latin typeface="Arial"/>
                <a:cs typeface="Arial"/>
              </a:rPr>
              <a:t>What</a:t>
            </a:r>
            <a:r>
              <a:rPr sz="27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86" dirty="0">
                <a:solidFill>
                  <a:srgbClr val="374050"/>
                </a:solidFill>
                <a:latin typeface="Arial"/>
                <a:cs typeface="Arial"/>
              </a:rPr>
              <a:t>downtime</a:t>
            </a:r>
            <a:r>
              <a:rPr sz="27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14" dirty="0">
                <a:solidFill>
                  <a:srgbClr val="374050"/>
                </a:solidFill>
                <a:latin typeface="Arial"/>
                <a:cs typeface="Arial"/>
              </a:rPr>
              <a:t>causes</a:t>
            </a:r>
            <a:r>
              <a:rPr sz="27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29" dirty="0">
                <a:solidFill>
                  <a:srgbClr val="374050"/>
                </a:solidFill>
                <a:latin typeface="Arial"/>
                <a:cs typeface="Arial"/>
              </a:rPr>
              <a:t>appear</a:t>
            </a:r>
            <a:r>
              <a:rPr sz="27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64" dirty="0">
                <a:solidFill>
                  <a:srgbClr val="374050"/>
                </a:solidFill>
                <a:latin typeface="Arial"/>
                <a:cs typeface="Arial"/>
              </a:rPr>
              <a:t>most</a:t>
            </a:r>
            <a:r>
              <a:rPr sz="2700" spc="-93" dirty="0">
                <a:solidFill>
                  <a:srgbClr val="374050"/>
                </a:solidFill>
                <a:latin typeface="Arial"/>
                <a:cs typeface="Arial"/>
              </a:rPr>
              <a:t> frequently</a:t>
            </a:r>
            <a:r>
              <a:rPr sz="27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93" dirty="0">
                <a:solidFill>
                  <a:srgbClr val="374050"/>
                </a:solidFill>
                <a:latin typeface="Arial"/>
                <a:cs typeface="Arial"/>
              </a:rPr>
              <a:t>across </a:t>
            </a:r>
            <a:r>
              <a:rPr sz="2700" spc="-14" dirty="0">
                <a:solidFill>
                  <a:srgbClr val="374050"/>
                </a:solidFill>
                <a:latin typeface="Arial"/>
                <a:cs typeface="Arial"/>
              </a:rPr>
              <a:t>batches?</a:t>
            </a:r>
            <a:endParaRPr sz="2700" dirty="0">
              <a:latin typeface="Arial"/>
              <a:cs typeface="Arial"/>
            </a:endParaRPr>
          </a:p>
          <a:p>
            <a:pPr marL="3336294" marR="1345045">
              <a:lnSpc>
                <a:spcPct val="260400"/>
              </a:lnSpc>
              <a:spcBef>
                <a:spcPts val="7"/>
              </a:spcBef>
            </a:pPr>
            <a:r>
              <a:rPr sz="2700" spc="-121" dirty="0">
                <a:solidFill>
                  <a:srgbClr val="374050"/>
                </a:solidFill>
                <a:latin typeface="Arial"/>
                <a:cs typeface="Arial"/>
              </a:rPr>
              <a:t>How </a:t>
            </a:r>
            <a:r>
              <a:rPr sz="2700" spc="-79" dirty="0">
                <a:solidFill>
                  <a:srgbClr val="374050"/>
                </a:solidFill>
                <a:latin typeface="Arial"/>
                <a:cs typeface="Arial"/>
              </a:rPr>
              <a:t>strong</a:t>
            </a:r>
            <a:r>
              <a:rPr sz="27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29" dirty="0">
                <a:solidFill>
                  <a:srgbClr val="374050"/>
                </a:solidFill>
                <a:latin typeface="Arial"/>
                <a:cs typeface="Arial"/>
              </a:rPr>
              <a:t>is</a:t>
            </a:r>
            <a:r>
              <a:rPr sz="2700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00" dirty="0">
                <a:solidFill>
                  <a:srgbClr val="374050"/>
                </a:solidFill>
                <a:latin typeface="Arial"/>
                <a:cs typeface="Arial"/>
              </a:rPr>
              <a:t>the</a:t>
            </a:r>
            <a:r>
              <a:rPr sz="27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79" dirty="0">
                <a:solidFill>
                  <a:srgbClr val="374050"/>
                </a:solidFill>
                <a:latin typeface="Arial"/>
                <a:cs typeface="Arial"/>
              </a:rPr>
              <a:t>relationship</a:t>
            </a:r>
            <a:r>
              <a:rPr sz="27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21" dirty="0">
                <a:solidFill>
                  <a:srgbClr val="374050"/>
                </a:solidFill>
                <a:latin typeface="Arial"/>
                <a:cs typeface="Arial"/>
              </a:rPr>
              <a:t>between </a:t>
            </a:r>
            <a:r>
              <a:rPr sz="2700" spc="-36" dirty="0">
                <a:solidFill>
                  <a:srgbClr val="374050"/>
                </a:solidFill>
                <a:latin typeface="Arial"/>
                <a:cs typeface="Arial"/>
              </a:rPr>
              <a:t>total</a:t>
            </a:r>
            <a:r>
              <a:rPr sz="27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79" dirty="0">
                <a:solidFill>
                  <a:srgbClr val="374050"/>
                </a:solidFill>
                <a:latin typeface="Arial"/>
                <a:cs typeface="Arial"/>
              </a:rPr>
              <a:t>batch</a:t>
            </a:r>
            <a:r>
              <a:rPr sz="27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57" dirty="0">
                <a:solidFill>
                  <a:srgbClr val="374050"/>
                </a:solidFill>
                <a:latin typeface="Arial"/>
                <a:cs typeface="Arial"/>
              </a:rPr>
              <a:t>time</a:t>
            </a:r>
            <a:r>
              <a:rPr sz="2700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36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27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86" dirty="0">
                <a:solidFill>
                  <a:srgbClr val="374050"/>
                </a:solidFill>
                <a:latin typeface="Arial"/>
                <a:cs typeface="Arial"/>
              </a:rPr>
              <a:t>downtime? </a:t>
            </a:r>
            <a:r>
              <a:rPr sz="2700" spc="-150" dirty="0">
                <a:solidFill>
                  <a:srgbClr val="374050"/>
                </a:solidFill>
                <a:latin typeface="Arial"/>
                <a:cs typeface="Arial"/>
              </a:rPr>
              <a:t>Which</a:t>
            </a:r>
            <a:r>
              <a:rPr sz="2700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79" dirty="0">
                <a:solidFill>
                  <a:srgbClr val="374050"/>
                </a:solidFill>
                <a:latin typeface="Arial"/>
                <a:cs typeface="Arial"/>
              </a:rPr>
              <a:t>products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86" dirty="0">
                <a:solidFill>
                  <a:srgbClr val="374050"/>
                </a:solidFill>
                <a:latin typeface="Arial"/>
                <a:cs typeface="Arial"/>
              </a:rPr>
              <a:t>or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00" dirty="0">
                <a:solidFill>
                  <a:srgbClr val="374050"/>
                </a:solidFill>
                <a:latin typeface="Arial"/>
                <a:cs typeface="Arial"/>
              </a:rPr>
              <a:t>operators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50" dirty="0">
                <a:solidFill>
                  <a:srgbClr val="374050"/>
                </a:solidFill>
                <a:latin typeface="Arial"/>
                <a:cs typeface="Arial"/>
              </a:rPr>
              <a:t>are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93" dirty="0">
                <a:solidFill>
                  <a:srgbClr val="374050"/>
                </a:solidFill>
                <a:latin typeface="Arial"/>
                <a:cs typeface="Arial"/>
              </a:rPr>
              <a:t>linked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29" dirty="0">
                <a:solidFill>
                  <a:srgbClr val="374050"/>
                </a:solidFill>
                <a:latin typeface="Arial"/>
                <a:cs typeface="Arial"/>
              </a:rPr>
              <a:t>to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86" dirty="0">
                <a:solidFill>
                  <a:srgbClr val="374050"/>
                </a:solidFill>
                <a:latin typeface="Arial"/>
                <a:cs typeface="Arial"/>
              </a:rPr>
              <a:t>slower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79" dirty="0">
                <a:solidFill>
                  <a:srgbClr val="374050"/>
                </a:solidFill>
                <a:latin typeface="Arial"/>
                <a:cs typeface="Arial"/>
              </a:rPr>
              <a:t>batch</a:t>
            </a:r>
            <a:r>
              <a:rPr sz="27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700" spc="-14" dirty="0">
                <a:solidFill>
                  <a:srgbClr val="374050"/>
                </a:solidFill>
                <a:latin typeface="Arial"/>
                <a:cs typeface="Arial"/>
              </a:rPr>
              <a:t>performance?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9089976"/>
            <a:ext cx="17475200" cy="45719"/>
          </a:xfrm>
          <a:custGeom>
            <a:avLst/>
            <a:gdLst/>
            <a:ahLst/>
            <a:cxnLst/>
            <a:rect l="l" t="t" r="r" b="b"/>
            <a:pathLst>
              <a:path w="12061190" h="9525">
                <a:moveTo>
                  <a:pt x="12060936" y="9525"/>
                </a:moveTo>
                <a:lnTo>
                  <a:pt x="0" y="9525"/>
                </a:lnTo>
                <a:lnTo>
                  <a:pt x="0" y="0"/>
                </a:lnTo>
                <a:lnTo>
                  <a:pt x="12060936" y="0"/>
                </a:lnTo>
                <a:lnTo>
                  <a:pt x="12060936" y="95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7349689" y="9241221"/>
            <a:ext cx="2775821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1615"/>
              </a:lnSpc>
            </a:pPr>
            <a:r>
              <a:rPr spc="-64" dirty="0"/>
              <a:t>Manufacturing</a:t>
            </a:r>
            <a:r>
              <a:rPr spc="-14" dirty="0"/>
              <a:t> </a:t>
            </a:r>
            <a:r>
              <a:rPr spc="-79" dirty="0"/>
              <a:t>Downtime</a:t>
            </a:r>
            <a:r>
              <a:rPr spc="-7" dirty="0"/>
              <a:t> </a:t>
            </a:r>
            <a:r>
              <a:rPr spc="-79" dirty="0"/>
              <a:t>Analysis</a:t>
            </a:r>
            <a:r>
              <a:rPr spc="-14" dirty="0"/>
              <a:t> </a:t>
            </a:r>
            <a:r>
              <a:rPr spc="-64" dirty="0"/>
              <a:t>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809285"/>
            <a:chOff x="0" y="0"/>
            <a:chExt cx="12061190" cy="6924675"/>
          </a:xfrm>
        </p:grpSpPr>
        <p:sp>
          <p:nvSpPr>
            <p:cNvPr id="3" name="object 3"/>
            <p:cNvSpPr/>
            <p:nvPr/>
          </p:nvSpPr>
          <p:spPr>
            <a:xfrm>
              <a:off x="0" y="895349"/>
              <a:ext cx="12061190" cy="6029325"/>
            </a:xfrm>
            <a:custGeom>
              <a:avLst/>
              <a:gdLst/>
              <a:ahLst/>
              <a:cxnLst/>
              <a:rect l="l" t="t" r="r" b="b"/>
              <a:pathLst>
                <a:path w="12061190" h="6029325">
                  <a:moveTo>
                    <a:pt x="0" y="6029325"/>
                  </a:moveTo>
                  <a:lnTo>
                    <a:pt x="12060936" y="6029325"/>
                  </a:lnTo>
                  <a:lnTo>
                    <a:pt x="12060936" y="0"/>
                  </a:lnTo>
                  <a:lnTo>
                    <a:pt x="0" y="0"/>
                  </a:lnTo>
                  <a:lnTo>
                    <a:pt x="0" y="6029325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061190" cy="895350"/>
            </a:xfrm>
            <a:custGeom>
              <a:avLst/>
              <a:gdLst/>
              <a:ahLst/>
              <a:cxnLst/>
              <a:rect l="l" t="t" r="r" b="b"/>
              <a:pathLst>
                <a:path w="12061190" h="895350">
                  <a:moveTo>
                    <a:pt x="12060936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060936" y="0"/>
                  </a:lnTo>
                  <a:lnTo>
                    <a:pt x="12060936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80641" y="155677"/>
            <a:ext cx="14596147" cy="692641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pc="-291" dirty="0"/>
              <a:t>Business</a:t>
            </a:r>
            <a:r>
              <a:rPr spc="-286" dirty="0"/>
              <a:t> </a:t>
            </a:r>
            <a:r>
              <a:rPr spc="-314" dirty="0"/>
              <a:t>Questions</a:t>
            </a:r>
            <a:r>
              <a:rPr spc="-291" dirty="0"/>
              <a:t> </a:t>
            </a:r>
            <a:r>
              <a:rPr spc="-271" dirty="0"/>
              <a:t>–</a:t>
            </a:r>
            <a:r>
              <a:rPr spc="-286" dirty="0"/>
              <a:t> </a:t>
            </a:r>
            <a:r>
              <a:rPr spc="-314" dirty="0"/>
              <a:t>Operator</a:t>
            </a:r>
            <a:r>
              <a:rPr spc="-286" dirty="0"/>
              <a:t> </a:t>
            </a:r>
            <a:r>
              <a:rPr spc="-279" dirty="0"/>
              <a:t>Analysis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836851" y="1795218"/>
            <a:ext cx="16008660" cy="6525131"/>
            <a:chOff x="571499" y="1276349"/>
            <a:chExt cx="11049000" cy="4606290"/>
          </a:xfrm>
        </p:grpSpPr>
        <p:sp>
          <p:nvSpPr>
            <p:cNvPr id="7" name="object 7"/>
            <p:cNvSpPr/>
            <p:nvPr/>
          </p:nvSpPr>
          <p:spPr>
            <a:xfrm>
              <a:off x="590549" y="1276350"/>
              <a:ext cx="11029950" cy="914400"/>
            </a:xfrm>
            <a:custGeom>
              <a:avLst/>
              <a:gdLst/>
              <a:ahLst/>
              <a:cxnLst/>
              <a:rect l="l" t="t" r="r" b="b"/>
              <a:pathLst>
                <a:path w="11029950" h="914400">
                  <a:moveTo>
                    <a:pt x="10996898" y="914400"/>
                  </a:moveTo>
                  <a:lnTo>
                    <a:pt x="16523" y="914400"/>
                  </a:lnTo>
                  <a:lnTo>
                    <a:pt x="14094" y="913428"/>
                  </a:lnTo>
                  <a:lnTo>
                    <a:pt x="0" y="881348"/>
                  </a:lnTo>
                  <a:lnTo>
                    <a:pt x="0" y="876300"/>
                  </a:lnTo>
                  <a:lnTo>
                    <a:pt x="0" y="33051"/>
                  </a:lnTo>
                  <a:lnTo>
                    <a:pt x="16523" y="0"/>
                  </a:lnTo>
                  <a:lnTo>
                    <a:pt x="10996898" y="0"/>
                  </a:lnTo>
                  <a:lnTo>
                    <a:pt x="11028997" y="28184"/>
                  </a:lnTo>
                  <a:lnTo>
                    <a:pt x="11029950" y="33051"/>
                  </a:lnTo>
                  <a:lnTo>
                    <a:pt x="11029950" y="881348"/>
                  </a:lnTo>
                  <a:lnTo>
                    <a:pt x="11001756" y="913428"/>
                  </a:lnTo>
                  <a:lnTo>
                    <a:pt x="10996898" y="914400"/>
                  </a:lnTo>
                  <a:close/>
                </a:path>
              </a:pathLst>
            </a:custGeom>
            <a:solidFill>
              <a:srgbClr val="0078D4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499" y="1276349"/>
              <a:ext cx="38100" cy="914400"/>
            </a:xfrm>
            <a:custGeom>
              <a:avLst/>
              <a:gdLst/>
              <a:ahLst/>
              <a:cxnLst/>
              <a:rect l="l" t="t" r="r" b="b"/>
              <a:pathLst>
                <a:path w="38100" h="914400">
                  <a:moveTo>
                    <a:pt x="38100" y="914400"/>
                  </a:moveTo>
                  <a:lnTo>
                    <a:pt x="2789" y="890926"/>
                  </a:lnTo>
                  <a:lnTo>
                    <a:pt x="0" y="876300"/>
                  </a:lnTo>
                  <a:lnTo>
                    <a:pt x="0" y="38100"/>
                  </a:lnTo>
                  <a:lnTo>
                    <a:pt x="23473" y="2789"/>
                  </a:lnTo>
                  <a:lnTo>
                    <a:pt x="38100" y="0"/>
                  </a:lnTo>
                  <a:lnTo>
                    <a:pt x="38100" y="91440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31135" y="2441447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69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576"/>
                  </a:lnTo>
                  <a:lnTo>
                    <a:pt x="292988" y="44576"/>
                  </a:lnTo>
                  <a:lnTo>
                    <a:pt x="281757" y="44851"/>
                  </a:lnTo>
                  <a:lnTo>
                    <a:pt x="237429" y="51429"/>
                  </a:lnTo>
                  <a:lnTo>
                    <a:pt x="195237" y="66528"/>
                  </a:lnTo>
                  <a:lnTo>
                    <a:pt x="156800" y="89571"/>
                  </a:lnTo>
                  <a:lnTo>
                    <a:pt x="123597" y="119667"/>
                  </a:lnTo>
                  <a:lnTo>
                    <a:pt x="96904" y="155663"/>
                  </a:lnTo>
                  <a:lnTo>
                    <a:pt x="77745" y="196175"/>
                  </a:lnTo>
                  <a:lnTo>
                    <a:pt x="66859" y="239646"/>
                  </a:lnTo>
                  <a:lnTo>
                    <a:pt x="64388" y="273176"/>
                  </a:lnTo>
                  <a:lnTo>
                    <a:pt x="64663" y="284406"/>
                  </a:lnTo>
                  <a:lnTo>
                    <a:pt x="71241" y="328736"/>
                  </a:lnTo>
                  <a:lnTo>
                    <a:pt x="86342" y="370928"/>
                  </a:lnTo>
                  <a:lnTo>
                    <a:pt x="109383" y="409365"/>
                  </a:lnTo>
                  <a:lnTo>
                    <a:pt x="139479" y="442568"/>
                  </a:lnTo>
                  <a:lnTo>
                    <a:pt x="175475" y="469261"/>
                  </a:lnTo>
                  <a:lnTo>
                    <a:pt x="215987" y="488419"/>
                  </a:lnTo>
                  <a:lnTo>
                    <a:pt x="259458" y="499306"/>
                  </a:lnTo>
                  <a:lnTo>
                    <a:pt x="292988" y="501776"/>
                  </a:lnTo>
                  <a:lnTo>
                    <a:pt x="585215" y="501776"/>
                  </a:lnTo>
                  <a:lnTo>
                    <a:pt x="585215" y="585215"/>
                  </a:lnTo>
                  <a:close/>
                </a:path>
                <a:path w="585469" h="585469">
                  <a:moveTo>
                    <a:pt x="585215" y="501776"/>
                  </a:moveTo>
                  <a:lnTo>
                    <a:pt x="292988" y="501776"/>
                  </a:lnTo>
                  <a:lnTo>
                    <a:pt x="304218" y="501502"/>
                  </a:lnTo>
                  <a:lnTo>
                    <a:pt x="315395" y="500679"/>
                  </a:lnTo>
                  <a:lnTo>
                    <a:pt x="359348" y="491935"/>
                  </a:lnTo>
                  <a:lnTo>
                    <a:pt x="400751" y="474785"/>
                  </a:lnTo>
                  <a:lnTo>
                    <a:pt x="438012" y="449888"/>
                  </a:lnTo>
                  <a:lnTo>
                    <a:pt x="469700" y="418200"/>
                  </a:lnTo>
                  <a:lnTo>
                    <a:pt x="494597" y="380939"/>
                  </a:lnTo>
                  <a:lnTo>
                    <a:pt x="511747" y="339536"/>
                  </a:lnTo>
                  <a:lnTo>
                    <a:pt x="520491" y="295583"/>
                  </a:lnTo>
                  <a:lnTo>
                    <a:pt x="521588" y="273176"/>
                  </a:lnTo>
                  <a:lnTo>
                    <a:pt x="521314" y="261945"/>
                  </a:lnTo>
                  <a:lnTo>
                    <a:pt x="514735" y="217617"/>
                  </a:lnTo>
                  <a:lnTo>
                    <a:pt x="499635" y="175425"/>
                  </a:lnTo>
                  <a:lnTo>
                    <a:pt x="476594" y="136988"/>
                  </a:lnTo>
                  <a:lnTo>
                    <a:pt x="446498" y="103785"/>
                  </a:lnTo>
                  <a:lnTo>
                    <a:pt x="410502" y="77092"/>
                  </a:lnTo>
                  <a:lnTo>
                    <a:pt x="369988" y="57933"/>
                  </a:lnTo>
                  <a:lnTo>
                    <a:pt x="326518" y="47047"/>
                  </a:lnTo>
                  <a:lnTo>
                    <a:pt x="292988" y="44576"/>
                  </a:lnTo>
                  <a:lnTo>
                    <a:pt x="585215" y="44576"/>
                  </a:lnTo>
                  <a:lnTo>
                    <a:pt x="585215" y="50177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5999" y="24765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4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5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18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6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5089" y="2606675"/>
              <a:ext cx="263525" cy="2127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31135" y="3154679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5719"/>
                  </a:lnTo>
                  <a:lnTo>
                    <a:pt x="292988" y="45719"/>
                  </a:lnTo>
                  <a:lnTo>
                    <a:pt x="281757" y="45994"/>
                  </a:lnTo>
                  <a:lnTo>
                    <a:pt x="237429" y="52567"/>
                  </a:lnTo>
                  <a:lnTo>
                    <a:pt x="195237" y="67667"/>
                  </a:lnTo>
                  <a:lnTo>
                    <a:pt x="156800" y="90717"/>
                  </a:lnTo>
                  <a:lnTo>
                    <a:pt x="123597" y="120816"/>
                  </a:lnTo>
                  <a:lnTo>
                    <a:pt x="96904" y="156808"/>
                  </a:lnTo>
                  <a:lnTo>
                    <a:pt x="77745" y="197323"/>
                  </a:lnTo>
                  <a:lnTo>
                    <a:pt x="66859" y="240797"/>
                  </a:lnTo>
                  <a:lnTo>
                    <a:pt x="64388" y="274319"/>
                  </a:lnTo>
                  <a:lnTo>
                    <a:pt x="64663" y="285543"/>
                  </a:lnTo>
                  <a:lnTo>
                    <a:pt x="71241" y="329873"/>
                  </a:lnTo>
                  <a:lnTo>
                    <a:pt x="86342" y="372067"/>
                  </a:lnTo>
                  <a:lnTo>
                    <a:pt x="109383" y="410507"/>
                  </a:lnTo>
                  <a:lnTo>
                    <a:pt x="139479" y="443712"/>
                  </a:lnTo>
                  <a:lnTo>
                    <a:pt x="175475" y="470411"/>
                  </a:lnTo>
                  <a:lnTo>
                    <a:pt x="215987" y="489568"/>
                  </a:lnTo>
                  <a:lnTo>
                    <a:pt x="259458" y="500451"/>
                  </a:lnTo>
                  <a:lnTo>
                    <a:pt x="292988" y="502919"/>
                  </a:lnTo>
                  <a:lnTo>
                    <a:pt x="585215" y="502919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2919"/>
                  </a:moveTo>
                  <a:lnTo>
                    <a:pt x="292988" y="502919"/>
                  </a:lnTo>
                  <a:lnTo>
                    <a:pt x="304218" y="502645"/>
                  </a:lnTo>
                  <a:lnTo>
                    <a:pt x="315395" y="501822"/>
                  </a:lnTo>
                  <a:lnTo>
                    <a:pt x="359348" y="493086"/>
                  </a:lnTo>
                  <a:lnTo>
                    <a:pt x="400751" y="475937"/>
                  </a:lnTo>
                  <a:lnTo>
                    <a:pt x="438012" y="451031"/>
                  </a:lnTo>
                  <a:lnTo>
                    <a:pt x="469700" y="419340"/>
                  </a:lnTo>
                  <a:lnTo>
                    <a:pt x="494597" y="382078"/>
                  </a:lnTo>
                  <a:lnTo>
                    <a:pt x="511747" y="340674"/>
                  </a:lnTo>
                  <a:lnTo>
                    <a:pt x="520491" y="296718"/>
                  </a:lnTo>
                  <a:lnTo>
                    <a:pt x="521588" y="274319"/>
                  </a:lnTo>
                  <a:lnTo>
                    <a:pt x="521314" y="263096"/>
                  </a:lnTo>
                  <a:lnTo>
                    <a:pt x="514735" y="218766"/>
                  </a:lnTo>
                  <a:lnTo>
                    <a:pt x="499635" y="176572"/>
                  </a:lnTo>
                  <a:lnTo>
                    <a:pt x="476594" y="138132"/>
                  </a:lnTo>
                  <a:lnTo>
                    <a:pt x="446498" y="104927"/>
                  </a:lnTo>
                  <a:lnTo>
                    <a:pt x="410502" y="78228"/>
                  </a:lnTo>
                  <a:lnTo>
                    <a:pt x="369988" y="59071"/>
                  </a:lnTo>
                  <a:lnTo>
                    <a:pt x="326518" y="48188"/>
                  </a:lnTo>
                  <a:lnTo>
                    <a:pt x="292988" y="45719"/>
                  </a:lnTo>
                  <a:lnTo>
                    <a:pt x="585215" y="45719"/>
                  </a:lnTo>
                  <a:lnTo>
                    <a:pt x="585215" y="50291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85999" y="3190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5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09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6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8108" y="3333750"/>
              <a:ext cx="215900" cy="1873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1135" y="3870959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3830"/>
                  </a:lnTo>
                  <a:lnTo>
                    <a:pt x="292988" y="43830"/>
                  </a:lnTo>
                  <a:lnTo>
                    <a:pt x="281757" y="44104"/>
                  </a:lnTo>
                  <a:lnTo>
                    <a:pt x="237429" y="50676"/>
                  </a:lnTo>
                  <a:lnTo>
                    <a:pt x="195237" y="65764"/>
                  </a:lnTo>
                  <a:lnTo>
                    <a:pt x="156800" y="88801"/>
                  </a:lnTo>
                  <a:lnTo>
                    <a:pt x="123597" y="118896"/>
                  </a:lnTo>
                  <a:lnTo>
                    <a:pt x="96904" y="154901"/>
                  </a:lnTo>
                  <a:lnTo>
                    <a:pt x="77745" y="195403"/>
                  </a:lnTo>
                  <a:lnTo>
                    <a:pt x="66859" y="238877"/>
                  </a:lnTo>
                  <a:lnTo>
                    <a:pt x="64388" y="272430"/>
                  </a:lnTo>
                  <a:lnTo>
                    <a:pt x="64663" y="283654"/>
                  </a:lnTo>
                  <a:lnTo>
                    <a:pt x="71241" y="327983"/>
                  </a:lnTo>
                  <a:lnTo>
                    <a:pt x="86342" y="370177"/>
                  </a:lnTo>
                  <a:lnTo>
                    <a:pt x="109383" y="408605"/>
                  </a:lnTo>
                  <a:lnTo>
                    <a:pt x="139479" y="441809"/>
                  </a:lnTo>
                  <a:lnTo>
                    <a:pt x="175475" y="468491"/>
                  </a:lnTo>
                  <a:lnTo>
                    <a:pt x="215987" y="487660"/>
                  </a:lnTo>
                  <a:lnTo>
                    <a:pt x="259458" y="498530"/>
                  </a:lnTo>
                  <a:lnTo>
                    <a:pt x="292988" y="500999"/>
                  </a:lnTo>
                  <a:lnTo>
                    <a:pt x="585215" y="500999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0999"/>
                  </a:moveTo>
                  <a:lnTo>
                    <a:pt x="292988" y="500999"/>
                  </a:lnTo>
                  <a:lnTo>
                    <a:pt x="304218" y="500725"/>
                  </a:lnTo>
                  <a:lnTo>
                    <a:pt x="315395" y="499902"/>
                  </a:lnTo>
                  <a:lnTo>
                    <a:pt x="359348" y="491169"/>
                  </a:lnTo>
                  <a:lnTo>
                    <a:pt x="400751" y="474021"/>
                  </a:lnTo>
                  <a:lnTo>
                    <a:pt x="438012" y="449126"/>
                  </a:lnTo>
                  <a:lnTo>
                    <a:pt x="469700" y="417446"/>
                  </a:lnTo>
                  <a:lnTo>
                    <a:pt x="494597" y="380184"/>
                  </a:lnTo>
                  <a:lnTo>
                    <a:pt x="511747" y="338785"/>
                  </a:lnTo>
                  <a:lnTo>
                    <a:pt x="520491" y="294829"/>
                  </a:lnTo>
                  <a:lnTo>
                    <a:pt x="521588" y="272430"/>
                  </a:lnTo>
                  <a:lnTo>
                    <a:pt x="521314" y="261188"/>
                  </a:lnTo>
                  <a:lnTo>
                    <a:pt x="514735" y="216846"/>
                  </a:lnTo>
                  <a:lnTo>
                    <a:pt x="499635" y="174652"/>
                  </a:lnTo>
                  <a:lnTo>
                    <a:pt x="476594" y="136224"/>
                  </a:lnTo>
                  <a:lnTo>
                    <a:pt x="446498" y="103020"/>
                  </a:lnTo>
                  <a:lnTo>
                    <a:pt x="410502" y="76325"/>
                  </a:lnTo>
                  <a:lnTo>
                    <a:pt x="369988" y="57169"/>
                  </a:lnTo>
                  <a:lnTo>
                    <a:pt x="326518" y="46299"/>
                  </a:lnTo>
                  <a:lnTo>
                    <a:pt x="292988" y="43830"/>
                  </a:lnTo>
                  <a:lnTo>
                    <a:pt x="585215" y="43830"/>
                  </a:lnTo>
                  <a:lnTo>
                    <a:pt x="585215" y="50099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85999" y="390525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6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09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6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1283" y="4048125"/>
              <a:ext cx="209550" cy="1873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31135" y="458419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957"/>
                  </a:lnTo>
                  <a:lnTo>
                    <a:pt x="292988" y="44957"/>
                  </a:lnTo>
                  <a:lnTo>
                    <a:pt x="281757" y="45232"/>
                  </a:lnTo>
                  <a:lnTo>
                    <a:pt x="237429" y="51805"/>
                  </a:lnTo>
                  <a:lnTo>
                    <a:pt x="195237" y="66905"/>
                  </a:lnTo>
                  <a:lnTo>
                    <a:pt x="156800" y="89955"/>
                  </a:lnTo>
                  <a:lnTo>
                    <a:pt x="123597" y="120054"/>
                  </a:lnTo>
                  <a:lnTo>
                    <a:pt x="96904" y="156046"/>
                  </a:lnTo>
                  <a:lnTo>
                    <a:pt x="77745" y="196561"/>
                  </a:lnTo>
                  <a:lnTo>
                    <a:pt x="66859" y="240035"/>
                  </a:lnTo>
                  <a:lnTo>
                    <a:pt x="64388" y="273557"/>
                  </a:lnTo>
                  <a:lnTo>
                    <a:pt x="64663" y="284781"/>
                  </a:lnTo>
                  <a:lnTo>
                    <a:pt x="71241" y="329111"/>
                  </a:lnTo>
                  <a:lnTo>
                    <a:pt x="86342" y="371305"/>
                  </a:lnTo>
                  <a:lnTo>
                    <a:pt x="109383" y="409745"/>
                  </a:lnTo>
                  <a:lnTo>
                    <a:pt x="139479" y="442950"/>
                  </a:lnTo>
                  <a:lnTo>
                    <a:pt x="175475" y="469649"/>
                  </a:lnTo>
                  <a:lnTo>
                    <a:pt x="215987" y="488806"/>
                  </a:lnTo>
                  <a:lnTo>
                    <a:pt x="259458" y="499689"/>
                  </a:lnTo>
                  <a:lnTo>
                    <a:pt x="292988" y="502157"/>
                  </a:lnTo>
                  <a:lnTo>
                    <a:pt x="585215" y="502157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2157"/>
                  </a:moveTo>
                  <a:lnTo>
                    <a:pt x="292988" y="502157"/>
                  </a:lnTo>
                  <a:lnTo>
                    <a:pt x="304218" y="501883"/>
                  </a:lnTo>
                  <a:lnTo>
                    <a:pt x="315395" y="501060"/>
                  </a:lnTo>
                  <a:lnTo>
                    <a:pt x="359348" y="492324"/>
                  </a:lnTo>
                  <a:lnTo>
                    <a:pt x="400751" y="475175"/>
                  </a:lnTo>
                  <a:lnTo>
                    <a:pt x="438012" y="450269"/>
                  </a:lnTo>
                  <a:lnTo>
                    <a:pt x="469700" y="418578"/>
                  </a:lnTo>
                  <a:lnTo>
                    <a:pt x="494597" y="381316"/>
                  </a:lnTo>
                  <a:lnTo>
                    <a:pt x="511747" y="339912"/>
                  </a:lnTo>
                  <a:lnTo>
                    <a:pt x="520491" y="295956"/>
                  </a:lnTo>
                  <a:lnTo>
                    <a:pt x="521588" y="273557"/>
                  </a:lnTo>
                  <a:lnTo>
                    <a:pt x="521314" y="262334"/>
                  </a:lnTo>
                  <a:lnTo>
                    <a:pt x="514735" y="218004"/>
                  </a:lnTo>
                  <a:lnTo>
                    <a:pt x="499635" y="175810"/>
                  </a:lnTo>
                  <a:lnTo>
                    <a:pt x="476594" y="137370"/>
                  </a:lnTo>
                  <a:lnTo>
                    <a:pt x="446498" y="104165"/>
                  </a:lnTo>
                  <a:lnTo>
                    <a:pt x="410502" y="77466"/>
                  </a:lnTo>
                  <a:lnTo>
                    <a:pt x="369988" y="58309"/>
                  </a:lnTo>
                  <a:lnTo>
                    <a:pt x="326518" y="47426"/>
                  </a:lnTo>
                  <a:lnTo>
                    <a:pt x="292988" y="44957"/>
                  </a:lnTo>
                  <a:lnTo>
                    <a:pt x="585215" y="44957"/>
                  </a:lnTo>
                  <a:lnTo>
                    <a:pt x="585215" y="50215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85999" y="46196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9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6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09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5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9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21283" y="4749800"/>
              <a:ext cx="209550" cy="2127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31135" y="5297423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6116"/>
                  </a:lnTo>
                  <a:lnTo>
                    <a:pt x="292988" y="46116"/>
                  </a:lnTo>
                  <a:lnTo>
                    <a:pt x="281757" y="46390"/>
                  </a:lnTo>
                  <a:lnTo>
                    <a:pt x="237429" y="52962"/>
                  </a:lnTo>
                  <a:lnTo>
                    <a:pt x="195237" y="68050"/>
                  </a:lnTo>
                  <a:lnTo>
                    <a:pt x="156800" y="91087"/>
                  </a:lnTo>
                  <a:lnTo>
                    <a:pt x="123597" y="121182"/>
                  </a:lnTo>
                  <a:lnTo>
                    <a:pt x="96904" y="157187"/>
                  </a:lnTo>
                  <a:lnTo>
                    <a:pt x="77745" y="197689"/>
                  </a:lnTo>
                  <a:lnTo>
                    <a:pt x="66859" y="241162"/>
                  </a:lnTo>
                  <a:lnTo>
                    <a:pt x="64388" y="274685"/>
                  </a:lnTo>
                  <a:lnTo>
                    <a:pt x="64663" y="285927"/>
                  </a:lnTo>
                  <a:lnTo>
                    <a:pt x="71241" y="330269"/>
                  </a:lnTo>
                  <a:lnTo>
                    <a:pt x="86342" y="372463"/>
                  </a:lnTo>
                  <a:lnTo>
                    <a:pt x="109383" y="410891"/>
                  </a:lnTo>
                  <a:lnTo>
                    <a:pt x="139479" y="444095"/>
                  </a:lnTo>
                  <a:lnTo>
                    <a:pt x="175475" y="470777"/>
                  </a:lnTo>
                  <a:lnTo>
                    <a:pt x="215987" y="489946"/>
                  </a:lnTo>
                  <a:lnTo>
                    <a:pt x="259458" y="500816"/>
                  </a:lnTo>
                  <a:lnTo>
                    <a:pt x="292988" y="503285"/>
                  </a:lnTo>
                  <a:lnTo>
                    <a:pt x="585215" y="503285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3285"/>
                  </a:moveTo>
                  <a:lnTo>
                    <a:pt x="292988" y="503285"/>
                  </a:lnTo>
                  <a:lnTo>
                    <a:pt x="304218" y="503011"/>
                  </a:lnTo>
                  <a:lnTo>
                    <a:pt x="315395" y="502188"/>
                  </a:lnTo>
                  <a:lnTo>
                    <a:pt x="359348" y="493455"/>
                  </a:lnTo>
                  <a:lnTo>
                    <a:pt x="400751" y="476307"/>
                  </a:lnTo>
                  <a:lnTo>
                    <a:pt x="438012" y="451412"/>
                  </a:lnTo>
                  <a:lnTo>
                    <a:pt x="469700" y="419732"/>
                  </a:lnTo>
                  <a:lnTo>
                    <a:pt x="494597" y="382470"/>
                  </a:lnTo>
                  <a:lnTo>
                    <a:pt x="511747" y="341071"/>
                  </a:lnTo>
                  <a:lnTo>
                    <a:pt x="520491" y="297111"/>
                  </a:lnTo>
                  <a:lnTo>
                    <a:pt x="521588" y="274685"/>
                  </a:lnTo>
                  <a:lnTo>
                    <a:pt x="521314" y="263461"/>
                  </a:lnTo>
                  <a:lnTo>
                    <a:pt x="514735" y="219132"/>
                  </a:lnTo>
                  <a:lnTo>
                    <a:pt x="499635" y="176938"/>
                  </a:lnTo>
                  <a:lnTo>
                    <a:pt x="476594" y="138510"/>
                  </a:lnTo>
                  <a:lnTo>
                    <a:pt x="446498" y="105306"/>
                  </a:lnTo>
                  <a:lnTo>
                    <a:pt x="410502" y="78611"/>
                  </a:lnTo>
                  <a:lnTo>
                    <a:pt x="369988" y="59455"/>
                  </a:lnTo>
                  <a:lnTo>
                    <a:pt x="326518" y="48585"/>
                  </a:lnTo>
                  <a:lnTo>
                    <a:pt x="292988" y="46116"/>
                  </a:lnTo>
                  <a:lnTo>
                    <a:pt x="585215" y="46116"/>
                  </a:lnTo>
                  <a:lnTo>
                    <a:pt x="585215" y="50328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85999" y="53340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9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40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6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18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5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9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21283" y="5464175"/>
              <a:ext cx="209550" cy="21272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217417" y="2019300"/>
            <a:ext cx="15655695" cy="6345147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14599"/>
              </a:lnSpc>
              <a:spcBef>
                <a:spcPts val="129"/>
              </a:spcBef>
            </a:pP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Objective: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Assess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operator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performance, </a:t>
            </a:r>
            <a:r>
              <a:rPr sz="2500" spc="-43" dirty="0">
                <a:solidFill>
                  <a:srgbClr val="374050"/>
                </a:solidFill>
                <a:latin typeface="Arial"/>
                <a:cs typeface="Arial"/>
              </a:rPr>
              <a:t>identify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57" dirty="0">
                <a:solidFill>
                  <a:srgbClr val="374050"/>
                </a:solidFill>
                <a:latin typeface="Arial"/>
                <a:cs typeface="Arial"/>
              </a:rPr>
              <a:t>training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3" dirty="0">
                <a:solidFill>
                  <a:srgbClr val="374050"/>
                </a:solidFill>
                <a:latin typeface="Arial"/>
                <a:cs typeface="Arial"/>
              </a:rPr>
              <a:t>needs,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36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analyze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79" dirty="0">
                <a:solidFill>
                  <a:srgbClr val="374050"/>
                </a:solidFill>
                <a:latin typeface="Arial"/>
                <a:cs typeface="Arial"/>
              </a:rPr>
              <a:t>downtime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86" dirty="0">
                <a:solidFill>
                  <a:srgbClr val="374050"/>
                </a:solidFill>
                <a:latin typeface="Arial"/>
                <a:cs typeface="Arial"/>
              </a:rPr>
              <a:t>related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29" dirty="0">
                <a:solidFill>
                  <a:srgbClr val="374050"/>
                </a:solidFill>
                <a:latin typeface="Arial"/>
                <a:cs typeface="Arial"/>
              </a:rPr>
              <a:t>to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human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36" dirty="0">
                <a:solidFill>
                  <a:srgbClr val="374050"/>
                </a:solidFill>
                <a:latin typeface="Arial"/>
                <a:cs typeface="Arial"/>
              </a:rPr>
              <a:t>or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shift-</a:t>
            </a: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based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factors.</a:t>
            </a:r>
            <a:endParaRPr lang="en-US" sz="2500" spc="-14" dirty="0">
              <a:solidFill>
                <a:srgbClr val="374050"/>
              </a:solidFill>
              <a:latin typeface="Arial"/>
              <a:cs typeface="Arial"/>
            </a:endParaRPr>
          </a:p>
          <a:p>
            <a:pPr marL="18151" marR="7260">
              <a:lnSpc>
                <a:spcPct val="114599"/>
              </a:lnSpc>
              <a:spcBef>
                <a:spcPts val="129"/>
              </a:spcBef>
            </a:pPr>
            <a:endParaRPr sz="1500" dirty="0">
              <a:latin typeface="Arial"/>
              <a:cs typeface="Arial"/>
            </a:endParaRPr>
          </a:p>
          <a:p>
            <a:pPr>
              <a:spcBef>
                <a:spcPts val="922"/>
              </a:spcBef>
            </a:pPr>
            <a:endParaRPr sz="2500" dirty="0">
              <a:latin typeface="Arial"/>
              <a:cs typeface="Arial"/>
            </a:endParaRPr>
          </a:p>
          <a:p>
            <a:pPr marL="3029529"/>
            <a:r>
              <a:rPr sz="2500" spc="-150" dirty="0">
                <a:solidFill>
                  <a:srgbClr val="374050"/>
                </a:solidFill>
                <a:latin typeface="Arial"/>
                <a:cs typeface="Arial"/>
              </a:rPr>
              <a:t>Which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operators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50" dirty="0">
                <a:solidFill>
                  <a:srgbClr val="374050"/>
                </a:solidFill>
                <a:latin typeface="Arial"/>
                <a:cs typeface="Arial"/>
              </a:rPr>
              <a:t>are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the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64" dirty="0">
                <a:solidFill>
                  <a:srgbClr val="374050"/>
                </a:solidFill>
                <a:latin typeface="Arial"/>
                <a:cs typeface="Arial"/>
              </a:rPr>
              <a:t>most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36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71" dirty="0">
                <a:solidFill>
                  <a:srgbClr val="374050"/>
                </a:solidFill>
                <a:latin typeface="Arial"/>
                <a:cs typeface="Arial"/>
              </a:rPr>
              <a:t>least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efficient?</a:t>
            </a:r>
            <a:endParaRPr sz="2500" dirty="0">
              <a:latin typeface="Arial"/>
              <a:cs typeface="Arial"/>
            </a:endParaRPr>
          </a:p>
          <a:p>
            <a:pPr marL="3029529" marR="1730769">
              <a:lnSpc>
                <a:spcPct val="260400"/>
              </a:lnSpc>
            </a:pP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How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much </a:t>
            </a:r>
            <a:r>
              <a:rPr sz="2500" spc="-86" dirty="0">
                <a:solidFill>
                  <a:srgbClr val="374050"/>
                </a:solidFill>
                <a:latin typeface="Arial"/>
                <a:cs typeface="Arial"/>
              </a:rPr>
              <a:t>downtime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29" dirty="0">
                <a:solidFill>
                  <a:srgbClr val="374050"/>
                </a:solidFill>
                <a:latin typeface="Arial"/>
                <a:cs typeface="Arial"/>
              </a:rPr>
              <a:t>is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linked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29" dirty="0">
                <a:solidFill>
                  <a:srgbClr val="374050"/>
                </a:solidFill>
                <a:latin typeface="Arial"/>
                <a:cs typeface="Arial"/>
              </a:rPr>
              <a:t>to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operator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errors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86" dirty="0">
                <a:solidFill>
                  <a:srgbClr val="374050"/>
                </a:solidFill>
                <a:latin typeface="Arial"/>
                <a:cs typeface="Arial"/>
              </a:rPr>
              <a:t>or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manual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intervention? </a:t>
            </a:r>
            <a:endParaRPr lang="en-GB" sz="2500" spc="-93" dirty="0">
              <a:solidFill>
                <a:srgbClr val="374050"/>
              </a:solidFill>
              <a:latin typeface="Arial"/>
              <a:cs typeface="Arial"/>
            </a:endParaRPr>
          </a:p>
          <a:p>
            <a:pPr marL="3029529" marR="1730769">
              <a:lnSpc>
                <a:spcPct val="260400"/>
              </a:lnSpc>
            </a:pPr>
            <a:r>
              <a:rPr lang="en-GB" sz="2500" spc="-150" dirty="0">
                <a:solidFill>
                  <a:srgbClr val="374050"/>
                </a:solidFill>
                <a:latin typeface="Arial"/>
                <a:cs typeface="Arial"/>
              </a:rPr>
              <a:t>What</a:t>
            </a:r>
            <a:r>
              <a:rPr lang="en-GB"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lang="en-GB" sz="2500" spc="-150" dirty="0">
                <a:solidFill>
                  <a:srgbClr val="374050"/>
                </a:solidFill>
                <a:latin typeface="Arial"/>
                <a:cs typeface="Arial"/>
              </a:rPr>
              <a:t>are</a:t>
            </a:r>
            <a:r>
              <a:rPr lang="en-GB"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the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57" dirty="0">
                <a:solidFill>
                  <a:srgbClr val="374050"/>
                </a:solidFill>
                <a:latin typeface="Arial"/>
                <a:cs typeface="Arial"/>
              </a:rPr>
              <a:t>top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86" dirty="0">
                <a:solidFill>
                  <a:srgbClr val="374050"/>
                </a:solidFill>
                <a:latin typeface="Arial"/>
                <a:cs typeface="Arial"/>
              </a:rPr>
              <a:t>downtime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causes 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across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operators?</a:t>
            </a:r>
            <a:endParaRPr sz="2500" dirty="0">
              <a:latin typeface="Arial"/>
              <a:cs typeface="Arial"/>
            </a:endParaRPr>
          </a:p>
          <a:p>
            <a:pPr>
              <a:spcBef>
                <a:spcPts val="2243"/>
              </a:spcBef>
            </a:pPr>
            <a:endParaRPr sz="2500" dirty="0">
              <a:latin typeface="Arial"/>
              <a:cs typeface="Arial"/>
            </a:endParaRPr>
          </a:p>
          <a:p>
            <a:pPr marL="3029529"/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How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does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performance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50" dirty="0">
                <a:solidFill>
                  <a:srgbClr val="374050"/>
                </a:solidFill>
                <a:latin typeface="Arial"/>
                <a:cs typeface="Arial"/>
              </a:rPr>
              <a:t>vary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across </a:t>
            </a:r>
            <a:r>
              <a:rPr sz="2500" spc="-57" dirty="0">
                <a:solidFill>
                  <a:srgbClr val="374050"/>
                </a:solidFill>
                <a:latin typeface="Arial"/>
                <a:cs typeface="Arial"/>
              </a:rPr>
              <a:t>different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shifts?</a:t>
            </a:r>
            <a:endParaRPr sz="2500" dirty="0">
              <a:latin typeface="Arial"/>
              <a:cs typeface="Arial"/>
            </a:endParaRPr>
          </a:p>
          <a:p>
            <a:pPr>
              <a:spcBef>
                <a:spcPts val="2236"/>
              </a:spcBef>
            </a:pPr>
            <a:endParaRPr sz="2500" dirty="0">
              <a:latin typeface="Arial"/>
              <a:cs typeface="Arial"/>
            </a:endParaRPr>
          </a:p>
          <a:p>
            <a:pPr marL="3029529"/>
            <a:r>
              <a:rPr sz="2500" spc="-163" dirty="0">
                <a:solidFill>
                  <a:srgbClr val="374050"/>
                </a:solidFill>
                <a:latin typeface="Arial"/>
                <a:cs typeface="Arial"/>
              </a:rPr>
              <a:t>Are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71" dirty="0">
                <a:solidFill>
                  <a:srgbClr val="374050"/>
                </a:solidFill>
                <a:latin typeface="Arial"/>
                <a:cs typeface="Arial"/>
              </a:rPr>
              <a:t>certain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operators </a:t>
            </a: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more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64" dirty="0">
                <a:solidFill>
                  <a:srgbClr val="374050"/>
                </a:solidFill>
                <a:latin typeface="Arial"/>
                <a:cs typeface="Arial"/>
              </a:rPr>
              <a:t>efficient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57" dirty="0">
                <a:solidFill>
                  <a:srgbClr val="374050"/>
                </a:solidFill>
                <a:latin typeface="Arial"/>
                <a:cs typeface="Arial"/>
              </a:rPr>
              <a:t>with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64" dirty="0">
                <a:solidFill>
                  <a:srgbClr val="374050"/>
                </a:solidFill>
                <a:latin typeface="Arial"/>
                <a:cs typeface="Arial"/>
              </a:rPr>
              <a:t>specific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79" dirty="0">
                <a:solidFill>
                  <a:srgbClr val="374050"/>
                </a:solidFill>
                <a:latin typeface="Arial"/>
                <a:cs typeface="Arial"/>
              </a:rPr>
              <a:t>products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86" dirty="0">
                <a:solidFill>
                  <a:srgbClr val="374050"/>
                </a:solidFill>
                <a:latin typeface="Arial"/>
                <a:cs typeface="Arial"/>
              </a:rPr>
              <a:t>or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57" dirty="0">
                <a:solidFill>
                  <a:srgbClr val="374050"/>
                </a:solidFill>
                <a:latin typeface="Arial"/>
                <a:cs typeface="Arial"/>
              </a:rPr>
              <a:t>time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periods?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9069458"/>
            <a:ext cx="17475200" cy="45719"/>
          </a:xfrm>
          <a:custGeom>
            <a:avLst/>
            <a:gdLst/>
            <a:ahLst/>
            <a:cxnLst/>
            <a:rect l="l" t="t" r="r" b="b"/>
            <a:pathLst>
              <a:path w="12061190" h="9525">
                <a:moveTo>
                  <a:pt x="12060935" y="9525"/>
                </a:moveTo>
                <a:lnTo>
                  <a:pt x="0" y="9525"/>
                </a:lnTo>
                <a:lnTo>
                  <a:pt x="0" y="0"/>
                </a:lnTo>
                <a:lnTo>
                  <a:pt x="12060935" y="0"/>
                </a:lnTo>
                <a:lnTo>
                  <a:pt x="12060935" y="95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7467070" y="9222402"/>
            <a:ext cx="2775821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1615"/>
              </a:lnSpc>
            </a:pPr>
            <a:r>
              <a:rPr spc="-64" dirty="0"/>
              <a:t>Manufacturing</a:t>
            </a:r>
            <a:r>
              <a:rPr spc="-14" dirty="0"/>
              <a:t> </a:t>
            </a:r>
            <a:r>
              <a:rPr spc="-79" dirty="0"/>
              <a:t>Downtime</a:t>
            </a:r>
            <a:r>
              <a:rPr spc="-7" dirty="0"/>
              <a:t> </a:t>
            </a:r>
            <a:r>
              <a:rPr spc="-79" dirty="0"/>
              <a:t>Analysis</a:t>
            </a:r>
            <a:r>
              <a:rPr spc="-14" dirty="0"/>
              <a:t> </a:t>
            </a:r>
            <a:r>
              <a:rPr spc="-64" dirty="0"/>
              <a:t>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8DDEF-D055-32A7-114D-8981D6260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B5C9420A-3677-8E48-D0FB-F880FED98C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0200628"/>
                  </p:ext>
                </p:extLst>
              </p:nvPr>
            </p:nvGraphicFramePr>
            <p:xfrm>
              <a:off x="1116013" y="1578756"/>
              <a:ext cx="15182207" cy="663581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B5C9420A-3677-8E48-D0FB-F880FED98C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6013" y="1578756"/>
                <a:ext cx="15182207" cy="6635812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522EDA9-472D-C3B3-E0C1-674C6D996A15}"/>
              </a:ext>
            </a:extLst>
          </p:cNvPr>
          <p:cNvSpPr/>
          <p:nvPr/>
        </p:nvSpPr>
        <p:spPr>
          <a:xfrm>
            <a:off x="60960" y="0"/>
            <a:ext cx="17414237" cy="1578756"/>
          </a:xfrm>
          <a:prstGeom prst="rect">
            <a:avLst/>
          </a:prstGeom>
          <a:solidFill>
            <a:srgbClr val="0078D4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87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 BI 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F9D2D0-04CA-37D0-C37C-CD2983C58C3D}"/>
              </a:ext>
            </a:extLst>
          </p:cNvPr>
          <p:cNvSpPr/>
          <p:nvPr/>
        </p:nvSpPr>
        <p:spPr>
          <a:xfrm>
            <a:off x="-4" y="8214569"/>
            <a:ext cx="17495523" cy="1578756"/>
          </a:xfrm>
          <a:prstGeom prst="rect">
            <a:avLst/>
          </a:prstGeom>
          <a:solidFill>
            <a:srgbClr val="0078D4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4A729B-F4B3-1F79-ABAF-B88C644C2351}"/>
              </a:ext>
            </a:extLst>
          </p:cNvPr>
          <p:cNvSpPr/>
          <p:nvPr/>
        </p:nvSpPr>
        <p:spPr>
          <a:xfrm rot="5400000">
            <a:off x="12000208" y="4298016"/>
            <a:ext cx="9793324" cy="1197296"/>
          </a:xfrm>
          <a:prstGeom prst="rect">
            <a:avLst/>
          </a:prstGeom>
          <a:solidFill>
            <a:srgbClr val="0078D4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8F932D-11EE-624C-AEBB-A3D005254913}"/>
              </a:ext>
            </a:extLst>
          </p:cNvPr>
          <p:cNvSpPr/>
          <p:nvPr/>
        </p:nvSpPr>
        <p:spPr>
          <a:xfrm rot="5400000">
            <a:off x="-4338657" y="4338654"/>
            <a:ext cx="9793325" cy="1116017"/>
          </a:xfrm>
          <a:prstGeom prst="rect">
            <a:avLst/>
          </a:prstGeom>
          <a:solidFill>
            <a:srgbClr val="0078D4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63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7475200" cy="9829800"/>
          </a:xfrm>
          <a:custGeom>
            <a:avLst/>
            <a:gdLst/>
            <a:ahLst/>
            <a:cxnLst/>
            <a:rect l="l" t="t" r="r" b="b"/>
            <a:pathLst>
              <a:path w="12115800" h="6858000">
                <a:moveTo>
                  <a:pt x="12115800" y="6858000"/>
                </a:moveTo>
                <a:lnTo>
                  <a:pt x="1" y="6858000"/>
                </a:lnTo>
                <a:lnTo>
                  <a:pt x="0" y="0"/>
                </a:lnTo>
                <a:lnTo>
                  <a:pt x="12115800" y="0"/>
                </a:lnTo>
                <a:lnTo>
                  <a:pt x="12115800" y="6858000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"/>
            <a:ext cx="17475200" cy="1494048"/>
          </a:xfrm>
          <a:custGeom>
            <a:avLst/>
            <a:gdLst/>
            <a:ahLst/>
            <a:cxnLst/>
            <a:rect l="l" t="t" r="r" b="b"/>
            <a:pathLst>
              <a:path w="12115800" h="895350">
                <a:moveTo>
                  <a:pt x="12115800" y="895350"/>
                </a:moveTo>
                <a:lnTo>
                  <a:pt x="0" y="895350"/>
                </a:lnTo>
                <a:lnTo>
                  <a:pt x="0" y="0"/>
                </a:lnTo>
                <a:lnTo>
                  <a:pt x="12115800" y="0"/>
                </a:lnTo>
                <a:lnTo>
                  <a:pt x="12115800" y="895350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4571" y="443511"/>
            <a:ext cx="5050223" cy="692641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pc="-243" dirty="0"/>
              <a:t>Executive</a:t>
            </a:r>
            <a:r>
              <a:rPr spc="-279" dirty="0"/>
              <a:t> </a:t>
            </a:r>
            <a:r>
              <a:rPr spc="-264" dirty="0"/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7000" y="2436269"/>
            <a:ext cx="10622281" cy="2974930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0" indent="0"/>
            <a:r>
              <a:rPr lang="en-US" sz="2500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Power BI dashboard analyzes production efficiency, downtime causes, and operator performance. Key findings:</a:t>
            </a:r>
          </a:p>
          <a:p>
            <a:pPr marL="3429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failures</a:t>
            </a:r>
            <a:r>
              <a:rPr lang="en-US" sz="2500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500" b="1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 errors</a:t>
            </a:r>
            <a:r>
              <a:rPr lang="en-US" sz="2500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primary downtime drivers.</a:t>
            </a:r>
          </a:p>
          <a:p>
            <a:pPr marL="3429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</a:t>
            </a:r>
            <a:r>
              <a:rPr lang="en-US" sz="2500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500" b="1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 analysis</a:t>
            </a:r>
            <a:r>
              <a:rPr lang="en-US" sz="2500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reveals efficiency variations.</a:t>
            </a:r>
          </a:p>
          <a:p>
            <a:pPr marL="3429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Data-driven optimizations</a:t>
            </a:r>
            <a:r>
              <a:rPr lang="en-US" sz="2500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improve efficiency by 5–10%.</a:t>
            </a:r>
          </a:p>
        </p:txBody>
      </p:sp>
      <p:grpSp>
        <p:nvGrpSpPr>
          <p:cNvPr id="25" name="object 22">
            <a:extLst>
              <a:ext uri="{FF2B5EF4-FFF2-40B4-BE49-F238E27FC236}">
                <a16:creationId xmlns:a16="http://schemas.microsoft.com/office/drawing/2014/main" id="{FCF14248-2974-B480-5909-19DA9F7509E0}"/>
              </a:ext>
            </a:extLst>
          </p:cNvPr>
          <p:cNvGrpSpPr/>
          <p:nvPr/>
        </p:nvGrpSpPr>
        <p:grpSpPr>
          <a:xfrm>
            <a:off x="528071" y="5969052"/>
            <a:ext cx="3148665" cy="1611287"/>
            <a:chOff x="6156959" y="1231392"/>
            <a:chExt cx="5544820" cy="2365375"/>
          </a:xfrm>
        </p:grpSpPr>
        <p:sp>
          <p:nvSpPr>
            <p:cNvPr id="26" name="object 23">
              <a:extLst>
                <a:ext uri="{FF2B5EF4-FFF2-40B4-BE49-F238E27FC236}">
                  <a16:creationId xmlns:a16="http://schemas.microsoft.com/office/drawing/2014/main" id="{4804CF89-C8DA-DE4A-F5FC-C70DC224AA24}"/>
                </a:ext>
              </a:extLst>
            </p:cNvPr>
            <p:cNvSpPr/>
            <p:nvPr/>
          </p:nvSpPr>
          <p:spPr>
            <a:xfrm>
              <a:off x="6156959" y="1231392"/>
              <a:ext cx="5544820" cy="2365375"/>
            </a:xfrm>
            <a:custGeom>
              <a:avLst/>
              <a:gdLst/>
              <a:ahLst/>
              <a:cxnLst/>
              <a:rect l="l" t="t" r="r" b="b"/>
              <a:pathLst>
                <a:path w="5544820" h="2365375">
                  <a:moveTo>
                    <a:pt x="5544311" y="2365247"/>
                  </a:moveTo>
                  <a:lnTo>
                    <a:pt x="0" y="2365247"/>
                  </a:lnTo>
                  <a:lnTo>
                    <a:pt x="0" y="0"/>
                  </a:lnTo>
                  <a:lnTo>
                    <a:pt x="5544311" y="0"/>
                  </a:lnTo>
                  <a:lnTo>
                    <a:pt x="5544311" y="54482"/>
                  </a:lnTo>
                  <a:lnTo>
                    <a:pt x="158130" y="54482"/>
                  </a:lnTo>
                  <a:lnTo>
                    <a:pt x="151546" y="54800"/>
                  </a:lnTo>
                  <a:lnTo>
                    <a:pt x="115841" y="69591"/>
                  </a:lnTo>
                  <a:lnTo>
                    <a:pt x="94281" y="101832"/>
                  </a:lnTo>
                  <a:lnTo>
                    <a:pt x="91439" y="121157"/>
                  </a:lnTo>
                  <a:lnTo>
                    <a:pt x="91439" y="2169048"/>
                  </a:lnTo>
                  <a:lnTo>
                    <a:pt x="102664" y="2206085"/>
                  </a:lnTo>
                  <a:lnTo>
                    <a:pt x="132587" y="2230617"/>
                  </a:lnTo>
                  <a:lnTo>
                    <a:pt x="158130" y="2235707"/>
                  </a:lnTo>
                  <a:lnTo>
                    <a:pt x="5544311" y="2235707"/>
                  </a:lnTo>
                  <a:lnTo>
                    <a:pt x="5544311" y="2365247"/>
                  </a:lnTo>
                  <a:close/>
                </a:path>
                <a:path w="5544820" h="2365375">
                  <a:moveTo>
                    <a:pt x="5544311" y="2235707"/>
                  </a:moveTo>
                  <a:lnTo>
                    <a:pt x="5387339" y="2235707"/>
                  </a:lnTo>
                  <a:lnTo>
                    <a:pt x="5393906" y="2235388"/>
                  </a:lnTo>
                  <a:lnTo>
                    <a:pt x="5400347" y="2234431"/>
                  </a:lnTo>
                  <a:lnTo>
                    <a:pt x="5434492" y="2216170"/>
                  </a:lnTo>
                  <a:lnTo>
                    <a:pt x="5452742" y="2182055"/>
                  </a:lnTo>
                  <a:lnTo>
                    <a:pt x="5454030" y="2169048"/>
                  </a:lnTo>
                  <a:lnTo>
                    <a:pt x="5454030" y="121157"/>
                  </a:lnTo>
                  <a:lnTo>
                    <a:pt x="5442790" y="84108"/>
                  </a:lnTo>
                  <a:lnTo>
                    <a:pt x="5412851" y="59557"/>
                  </a:lnTo>
                  <a:lnTo>
                    <a:pt x="5387339" y="54482"/>
                  </a:lnTo>
                  <a:lnTo>
                    <a:pt x="5544311" y="54482"/>
                  </a:lnTo>
                  <a:lnTo>
                    <a:pt x="5544311" y="223570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32A7EBA4-AFE6-F30A-9040-938FEFB13D9B}"/>
                </a:ext>
              </a:extLst>
            </p:cNvPr>
            <p:cNvSpPr/>
            <p:nvPr/>
          </p:nvSpPr>
          <p:spPr>
            <a:xfrm>
              <a:off x="6238875" y="1276349"/>
              <a:ext cx="5381625" cy="2200275"/>
            </a:xfrm>
            <a:custGeom>
              <a:avLst/>
              <a:gdLst/>
              <a:ahLst/>
              <a:cxnLst/>
              <a:rect l="l" t="t" r="r" b="b"/>
              <a:pathLst>
                <a:path w="5381625" h="2200275">
                  <a:moveTo>
                    <a:pt x="5310473" y="2200275"/>
                  </a:moveTo>
                  <a:lnTo>
                    <a:pt x="71199" y="2200275"/>
                  </a:lnTo>
                  <a:lnTo>
                    <a:pt x="66236" y="2199789"/>
                  </a:lnTo>
                  <a:lnTo>
                    <a:pt x="29708" y="2184654"/>
                  </a:lnTo>
                  <a:lnTo>
                    <a:pt x="3886" y="2148611"/>
                  </a:lnTo>
                  <a:lnTo>
                    <a:pt x="0" y="2129075"/>
                  </a:lnTo>
                  <a:lnTo>
                    <a:pt x="0" y="212407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5310473" y="0"/>
                  </a:lnTo>
                  <a:lnTo>
                    <a:pt x="5351907" y="15620"/>
                  </a:lnTo>
                  <a:lnTo>
                    <a:pt x="5377719" y="51663"/>
                  </a:lnTo>
                  <a:lnTo>
                    <a:pt x="5381625" y="71199"/>
                  </a:lnTo>
                  <a:lnTo>
                    <a:pt x="5381625" y="2129075"/>
                  </a:lnTo>
                  <a:lnTo>
                    <a:pt x="5366004" y="2170566"/>
                  </a:lnTo>
                  <a:lnTo>
                    <a:pt x="5329999" y="2196388"/>
                  </a:lnTo>
                  <a:lnTo>
                    <a:pt x="5315426" y="2199789"/>
                  </a:lnTo>
                  <a:lnTo>
                    <a:pt x="5310473" y="2200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0749281" y="1562100"/>
            <a:ext cx="45719" cy="8264949"/>
          </a:xfrm>
          <a:custGeom>
            <a:avLst/>
            <a:gdLst/>
            <a:ahLst/>
            <a:cxnLst/>
            <a:rect l="l" t="t" r="r" b="b"/>
            <a:pathLst>
              <a:path w="9525" h="4953000">
                <a:moveTo>
                  <a:pt x="9525" y="4953000"/>
                </a:moveTo>
                <a:lnTo>
                  <a:pt x="0" y="4953000"/>
                </a:lnTo>
                <a:lnTo>
                  <a:pt x="0" y="0"/>
                </a:lnTo>
                <a:lnTo>
                  <a:pt x="9525" y="0"/>
                </a:lnTo>
                <a:lnTo>
                  <a:pt x="9525" y="4953000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979" y="6363587"/>
            <a:ext cx="274767" cy="32318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53547" y="6415597"/>
            <a:ext cx="1491070" cy="276648"/>
          </a:xfrm>
          <a:prstGeom prst="rect">
            <a:avLst/>
          </a:prstGeom>
        </p:spPr>
        <p:txBody>
          <a:bodyPr vert="horz" wrap="square" lIns="0" tIns="23591" rIns="0" bIns="0" rtlCol="0">
            <a:spAutoFit/>
          </a:bodyPr>
          <a:lstStyle/>
          <a:p>
            <a:pPr marL="18151">
              <a:spcBef>
                <a:spcPts val="186"/>
              </a:spcBef>
            </a:pPr>
            <a:r>
              <a:rPr sz="1643" spc="-79" dirty="0">
                <a:solidFill>
                  <a:srgbClr val="6A7280"/>
                </a:solidFill>
                <a:latin typeface="Tahoma"/>
                <a:cs typeface="Tahoma"/>
              </a:rPr>
              <a:t>Overall</a:t>
            </a:r>
            <a:r>
              <a:rPr sz="1643" spc="-93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643" spc="-43" dirty="0">
                <a:solidFill>
                  <a:srgbClr val="6A7280"/>
                </a:solidFill>
                <a:latin typeface="Tahoma"/>
                <a:cs typeface="Tahoma"/>
              </a:rPr>
              <a:t>Efficiency</a:t>
            </a:r>
            <a:endParaRPr sz="1643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5820" y="6770069"/>
            <a:ext cx="1132957" cy="458125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858" b="1" spc="-93" dirty="0">
                <a:solidFill>
                  <a:srgbClr val="0078D4"/>
                </a:solidFill>
                <a:latin typeface="Gill Sans MT"/>
                <a:cs typeface="Gill Sans MT"/>
              </a:rPr>
              <a:t>64.02%</a:t>
            </a:r>
            <a:endParaRPr sz="2858">
              <a:latin typeface="Gill Sans MT"/>
              <a:cs typeface="Gill Sans MT"/>
            </a:endParaRPr>
          </a:p>
        </p:txBody>
      </p:sp>
      <p:grpSp>
        <p:nvGrpSpPr>
          <p:cNvPr id="30" name="object 22">
            <a:extLst>
              <a:ext uri="{FF2B5EF4-FFF2-40B4-BE49-F238E27FC236}">
                <a16:creationId xmlns:a16="http://schemas.microsoft.com/office/drawing/2014/main" id="{2A4BC2A2-44B4-51F2-2A53-3A7D4C8CF225}"/>
              </a:ext>
            </a:extLst>
          </p:cNvPr>
          <p:cNvGrpSpPr/>
          <p:nvPr/>
        </p:nvGrpSpPr>
        <p:grpSpPr>
          <a:xfrm>
            <a:off x="3903343" y="5978999"/>
            <a:ext cx="3148660" cy="1611287"/>
            <a:chOff x="6156959" y="1231392"/>
            <a:chExt cx="5544820" cy="2365375"/>
          </a:xfrm>
        </p:grpSpPr>
        <p:sp>
          <p:nvSpPr>
            <p:cNvPr id="31" name="object 23">
              <a:extLst>
                <a:ext uri="{FF2B5EF4-FFF2-40B4-BE49-F238E27FC236}">
                  <a16:creationId xmlns:a16="http://schemas.microsoft.com/office/drawing/2014/main" id="{EF4FDE3B-F1B2-75B1-1A58-7F8B07BCD234}"/>
                </a:ext>
              </a:extLst>
            </p:cNvPr>
            <p:cNvSpPr/>
            <p:nvPr/>
          </p:nvSpPr>
          <p:spPr>
            <a:xfrm>
              <a:off x="6156959" y="1231392"/>
              <a:ext cx="5544820" cy="2365375"/>
            </a:xfrm>
            <a:custGeom>
              <a:avLst/>
              <a:gdLst/>
              <a:ahLst/>
              <a:cxnLst/>
              <a:rect l="l" t="t" r="r" b="b"/>
              <a:pathLst>
                <a:path w="5544820" h="2365375">
                  <a:moveTo>
                    <a:pt x="5544311" y="2365247"/>
                  </a:moveTo>
                  <a:lnTo>
                    <a:pt x="0" y="2365247"/>
                  </a:lnTo>
                  <a:lnTo>
                    <a:pt x="0" y="0"/>
                  </a:lnTo>
                  <a:lnTo>
                    <a:pt x="5544311" y="0"/>
                  </a:lnTo>
                  <a:lnTo>
                    <a:pt x="5544311" y="54482"/>
                  </a:lnTo>
                  <a:lnTo>
                    <a:pt x="158130" y="54482"/>
                  </a:lnTo>
                  <a:lnTo>
                    <a:pt x="151546" y="54800"/>
                  </a:lnTo>
                  <a:lnTo>
                    <a:pt x="115841" y="69591"/>
                  </a:lnTo>
                  <a:lnTo>
                    <a:pt x="94281" y="101832"/>
                  </a:lnTo>
                  <a:lnTo>
                    <a:pt x="91439" y="121157"/>
                  </a:lnTo>
                  <a:lnTo>
                    <a:pt x="91439" y="2169048"/>
                  </a:lnTo>
                  <a:lnTo>
                    <a:pt x="102664" y="2206085"/>
                  </a:lnTo>
                  <a:lnTo>
                    <a:pt x="132587" y="2230617"/>
                  </a:lnTo>
                  <a:lnTo>
                    <a:pt x="158130" y="2235707"/>
                  </a:lnTo>
                  <a:lnTo>
                    <a:pt x="5544311" y="2235707"/>
                  </a:lnTo>
                  <a:lnTo>
                    <a:pt x="5544311" y="2365247"/>
                  </a:lnTo>
                  <a:close/>
                </a:path>
                <a:path w="5544820" h="2365375">
                  <a:moveTo>
                    <a:pt x="5544311" y="2235707"/>
                  </a:moveTo>
                  <a:lnTo>
                    <a:pt x="5387339" y="2235707"/>
                  </a:lnTo>
                  <a:lnTo>
                    <a:pt x="5393906" y="2235388"/>
                  </a:lnTo>
                  <a:lnTo>
                    <a:pt x="5400347" y="2234431"/>
                  </a:lnTo>
                  <a:lnTo>
                    <a:pt x="5434492" y="2216170"/>
                  </a:lnTo>
                  <a:lnTo>
                    <a:pt x="5452742" y="2182055"/>
                  </a:lnTo>
                  <a:lnTo>
                    <a:pt x="5454030" y="2169048"/>
                  </a:lnTo>
                  <a:lnTo>
                    <a:pt x="5454030" y="121157"/>
                  </a:lnTo>
                  <a:lnTo>
                    <a:pt x="5442790" y="84108"/>
                  </a:lnTo>
                  <a:lnTo>
                    <a:pt x="5412851" y="59557"/>
                  </a:lnTo>
                  <a:lnTo>
                    <a:pt x="5387339" y="54482"/>
                  </a:lnTo>
                  <a:lnTo>
                    <a:pt x="5544311" y="54482"/>
                  </a:lnTo>
                  <a:lnTo>
                    <a:pt x="5544311" y="223570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4">
              <a:extLst>
                <a:ext uri="{FF2B5EF4-FFF2-40B4-BE49-F238E27FC236}">
                  <a16:creationId xmlns:a16="http://schemas.microsoft.com/office/drawing/2014/main" id="{7D987BD4-068D-A7AB-80FD-CB67CF0AE038}"/>
                </a:ext>
              </a:extLst>
            </p:cNvPr>
            <p:cNvSpPr/>
            <p:nvPr/>
          </p:nvSpPr>
          <p:spPr>
            <a:xfrm>
              <a:off x="6238875" y="1276349"/>
              <a:ext cx="5381625" cy="2200275"/>
            </a:xfrm>
            <a:custGeom>
              <a:avLst/>
              <a:gdLst/>
              <a:ahLst/>
              <a:cxnLst/>
              <a:rect l="l" t="t" r="r" b="b"/>
              <a:pathLst>
                <a:path w="5381625" h="2200275">
                  <a:moveTo>
                    <a:pt x="5310473" y="2200275"/>
                  </a:moveTo>
                  <a:lnTo>
                    <a:pt x="71199" y="2200275"/>
                  </a:lnTo>
                  <a:lnTo>
                    <a:pt x="66236" y="2199789"/>
                  </a:lnTo>
                  <a:lnTo>
                    <a:pt x="29708" y="2184654"/>
                  </a:lnTo>
                  <a:lnTo>
                    <a:pt x="3886" y="2148611"/>
                  </a:lnTo>
                  <a:lnTo>
                    <a:pt x="0" y="2129075"/>
                  </a:lnTo>
                  <a:lnTo>
                    <a:pt x="0" y="212407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5310473" y="0"/>
                  </a:lnTo>
                  <a:lnTo>
                    <a:pt x="5351907" y="15620"/>
                  </a:lnTo>
                  <a:lnTo>
                    <a:pt x="5377719" y="51663"/>
                  </a:lnTo>
                  <a:lnTo>
                    <a:pt x="5381625" y="71199"/>
                  </a:lnTo>
                  <a:lnTo>
                    <a:pt x="5381625" y="2129075"/>
                  </a:lnTo>
                  <a:lnTo>
                    <a:pt x="5366004" y="2170566"/>
                  </a:lnTo>
                  <a:lnTo>
                    <a:pt x="5329999" y="2196388"/>
                  </a:lnTo>
                  <a:lnTo>
                    <a:pt x="5315426" y="2199789"/>
                  </a:lnTo>
                  <a:lnTo>
                    <a:pt x="5310473" y="2200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22">
            <a:extLst>
              <a:ext uri="{FF2B5EF4-FFF2-40B4-BE49-F238E27FC236}">
                <a16:creationId xmlns:a16="http://schemas.microsoft.com/office/drawing/2014/main" id="{284D6D9E-9970-638F-7285-274CF5395CFE}"/>
              </a:ext>
            </a:extLst>
          </p:cNvPr>
          <p:cNvGrpSpPr/>
          <p:nvPr/>
        </p:nvGrpSpPr>
        <p:grpSpPr>
          <a:xfrm>
            <a:off x="3903349" y="7750757"/>
            <a:ext cx="3148662" cy="1611287"/>
            <a:chOff x="6156959" y="1231392"/>
            <a:chExt cx="5544820" cy="2365375"/>
          </a:xfrm>
        </p:grpSpPr>
        <p:sp>
          <p:nvSpPr>
            <p:cNvPr id="37" name="object 23">
              <a:extLst>
                <a:ext uri="{FF2B5EF4-FFF2-40B4-BE49-F238E27FC236}">
                  <a16:creationId xmlns:a16="http://schemas.microsoft.com/office/drawing/2014/main" id="{3934EACE-5A5D-E8BF-B0FA-152C91D4B719}"/>
                </a:ext>
              </a:extLst>
            </p:cNvPr>
            <p:cNvSpPr/>
            <p:nvPr/>
          </p:nvSpPr>
          <p:spPr>
            <a:xfrm>
              <a:off x="6156959" y="1231392"/>
              <a:ext cx="5544820" cy="2365375"/>
            </a:xfrm>
            <a:custGeom>
              <a:avLst/>
              <a:gdLst/>
              <a:ahLst/>
              <a:cxnLst/>
              <a:rect l="l" t="t" r="r" b="b"/>
              <a:pathLst>
                <a:path w="5544820" h="2365375">
                  <a:moveTo>
                    <a:pt x="5544311" y="2365247"/>
                  </a:moveTo>
                  <a:lnTo>
                    <a:pt x="0" y="2365247"/>
                  </a:lnTo>
                  <a:lnTo>
                    <a:pt x="0" y="0"/>
                  </a:lnTo>
                  <a:lnTo>
                    <a:pt x="5544311" y="0"/>
                  </a:lnTo>
                  <a:lnTo>
                    <a:pt x="5544311" y="54482"/>
                  </a:lnTo>
                  <a:lnTo>
                    <a:pt x="158130" y="54482"/>
                  </a:lnTo>
                  <a:lnTo>
                    <a:pt x="151546" y="54800"/>
                  </a:lnTo>
                  <a:lnTo>
                    <a:pt x="115841" y="69591"/>
                  </a:lnTo>
                  <a:lnTo>
                    <a:pt x="94281" y="101832"/>
                  </a:lnTo>
                  <a:lnTo>
                    <a:pt x="91439" y="121157"/>
                  </a:lnTo>
                  <a:lnTo>
                    <a:pt x="91439" y="2169048"/>
                  </a:lnTo>
                  <a:lnTo>
                    <a:pt x="102664" y="2206085"/>
                  </a:lnTo>
                  <a:lnTo>
                    <a:pt x="132587" y="2230617"/>
                  </a:lnTo>
                  <a:lnTo>
                    <a:pt x="158130" y="2235707"/>
                  </a:lnTo>
                  <a:lnTo>
                    <a:pt x="5544311" y="2235707"/>
                  </a:lnTo>
                  <a:lnTo>
                    <a:pt x="5544311" y="2365247"/>
                  </a:lnTo>
                  <a:close/>
                </a:path>
                <a:path w="5544820" h="2365375">
                  <a:moveTo>
                    <a:pt x="5544311" y="2235707"/>
                  </a:moveTo>
                  <a:lnTo>
                    <a:pt x="5387339" y="2235707"/>
                  </a:lnTo>
                  <a:lnTo>
                    <a:pt x="5393906" y="2235388"/>
                  </a:lnTo>
                  <a:lnTo>
                    <a:pt x="5400347" y="2234431"/>
                  </a:lnTo>
                  <a:lnTo>
                    <a:pt x="5434492" y="2216170"/>
                  </a:lnTo>
                  <a:lnTo>
                    <a:pt x="5452742" y="2182055"/>
                  </a:lnTo>
                  <a:lnTo>
                    <a:pt x="5454030" y="2169048"/>
                  </a:lnTo>
                  <a:lnTo>
                    <a:pt x="5454030" y="121157"/>
                  </a:lnTo>
                  <a:lnTo>
                    <a:pt x="5442790" y="84108"/>
                  </a:lnTo>
                  <a:lnTo>
                    <a:pt x="5412851" y="59557"/>
                  </a:lnTo>
                  <a:lnTo>
                    <a:pt x="5387339" y="54482"/>
                  </a:lnTo>
                  <a:lnTo>
                    <a:pt x="5544311" y="54482"/>
                  </a:lnTo>
                  <a:lnTo>
                    <a:pt x="5544311" y="223570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24">
              <a:extLst>
                <a:ext uri="{FF2B5EF4-FFF2-40B4-BE49-F238E27FC236}">
                  <a16:creationId xmlns:a16="http://schemas.microsoft.com/office/drawing/2014/main" id="{544B7E83-8C9D-CE82-D0BC-C2A20DEB44D8}"/>
                </a:ext>
              </a:extLst>
            </p:cNvPr>
            <p:cNvSpPr/>
            <p:nvPr/>
          </p:nvSpPr>
          <p:spPr>
            <a:xfrm>
              <a:off x="6238875" y="1276349"/>
              <a:ext cx="5381625" cy="2200275"/>
            </a:xfrm>
            <a:custGeom>
              <a:avLst/>
              <a:gdLst/>
              <a:ahLst/>
              <a:cxnLst/>
              <a:rect l="l" t="t" r="r" b="b"/>
              <a:pathLst>
                <a:path w="5381625" h="2200275">
                  <a:moveTo>
                    <a:pt x="5310473" y="2200275"/>
                  </a:moveTo>
                  <a:lnTo>
                    <a:pt x="71199" y="2200275"/>
                  </a:lnTo>
                  <a:lnTo>
                    <a:pt x="66236" y="2199789"/>
                  </a:lnTo>
                  <a:lnTo>
                    <a:pt x="29708" y="2184654"/>
                  </a:lnTo>
                  <a:lnTo>
                    <a:pt x="3886" y="2148611"/>
                  </a:lnTo>
                  <a:lnTo>
                    <a:pt x="0" y="2129075"/>
                  </a:lnTo>
                  <a:lnTo>
                    <a:pt x="0" y="212407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5310473" y="0"/>
                  </a:lnTo>
                  <a:lnTo>
                    <a:pt x="5351907" y="15620"/>
                  </a:lnTo>
                  <a:lnTo>
                    <a:pt x="5377719" y="51663"/>
                  </a:lnTo>
                  <a:lnTo>
                    <a:pt x="5381625" y="71199"/>
                  </a:lnTo>
                  <a:lnTo>
                    <a:pt x="5381625" y="2129075"/>
                  </a:lnTo>
                  <a:lnTo>
                    <a:pt x="5366004" y="2170566"/>
                  </a:lnTo>
                  <a:lnTo>
                    <a:pt x="5329999" y="2196388"/>
                  </a:lnTo>
                  <a:lnTo>
                    <a:pt x="5315426" y="2199789"/>
                  </a:lnTo>
                  <a:lnTo>
                    <a:pt x="5310473" y="2200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22">
            <a:extLst>
              <a:ext uri="{FF2B5EF4-FFF2-40B4-BE49-F238E27FC236}">
                <a16:creationId xmlns:a16="http://schemas.microsoft.com/office/drawing/2014/main" id="{635721D5-E9AB-B09E-C820-0A20A04B246C}"/>
              </a:ext>
            </a:extLst>
          </p:cNvPr>
          <p:cNvGrpSpPr/>
          <p:nvPr/>
        </p:nvGrpSpPr>
        <p:grpSpPr>
          <a:xfrm>
            <a:off x="548031" y="7724533"/>
            <a:ext cx="3148663" cy="1611287"/>
            <a:chOff x="6156959" y="1231392"/>
            <a:chExt cx="5544820" cy="2365375"/>
          </a:xfrm>
        </p:grpSpPr>
        <p:sp>
          <p:nvSpPr>
            <p:cNvPr id="34" name="object 23">
              <a:extLst>
                <a:ext uri="{FF2B5EF4-FFF2-40B4-BE49-F238E27FC236}">
                  <a16:creationId xmlns:a16="http://schemas.microsoft.com/office/drawing/2014/main" id="{79C2B5B5-E0BE-21A7-5B04-6E3A5E71ABF8}"/>
                </a:ext>
              </a:extLst>
            </p:cNvPr>
            <p:cNvSpPr/>
            <p:nvPr/>
          </p:nvSpPr>
          <p:spPr>
            <a:xfrm>
              <a:off x="6156959" y="1231392"/>
              <a:ext cx="5544820" cy="2365375"/>
            </a:xfrm>
            <a:custGeom>
              <a:avLst/>
              <a:gdLst/>
              <a:ahLst/>
              <a:cxnLst/>
              <a:rect l="l" t="t" r="r" b="b"/>
              <a:pathLst>
                <a:path w="5544820" h="2365375">
                  <a:moveTo>
                    <a:pt x="5544311" y="2365247"/>
                  </a:moveTo>
                  <a:lnTo>
                    <a:pt x="0" y="2365247"/>
                  </a:lnTo>
                  <a:lnTo>
                    <a:pt x="0" y="0"/>
                  </a:lnTo>
                  <a:lnTo>
                    <a:pt x="5544311" y="0"/>
                  </a:lnTo>
                  <a:lnTo>
                    <a:pt x="5544311" y="54482"/>
                  </a:lnTo>
                  <a:lnTo>
                    <a:pt x="158130" y="54482"/>
                  </a:lnTo>
                  <a:lnTo>
                    <a:pt x="151546" y="54800"/>
                  </a:lnTo>
                  <a:lnTo>
                    <a:pt x="115841" y="69591"/>
                  </a:lnTo>
                  <a:lnTo>
                    <a:pt x="94281" y="101832"/>
                  </a:lnTo>
                  <a:lnTo>
                    <a:pt x="91439" y="121157"/>
                  </a:lnTo>
                  <a:lnTo>
                    <a:pt x="91439" y="2169048"/>
                  </a:lnTo>
                  <a:lnTo>
                    <a:pt x="102664" y="2206085"/>
                  </a:lnTo>
                  <a:lnTo>
                    <a:pt x="132587" y="2230617"/>
                  </a:lnTo>
                  <a:lnTo>
                    <a:pt x="158130" y="2235707"/>
                  </a:lnTo>
                  <a:lnTo>
                    <a:pt x="5544311" y="2235707"/>
                  </a:lnTo>
                  <a:lnTo>
                    <a:pt x="5544311" y="2365247"/>
                  </a:lnTo>
                  <a:close/>
                </a:path>
                <a:path w="5544820" h="2365375">
                  <a:moveTo>
                    <a:pt x="5544311" y="2235707"/>
                  </a:moveTo>
                  <a:lnTo>
                    <a:pt x="5387339" y="2235707"/>
                  </a:lnTo>
                  <a:lnTo>
                    <a:pt x="5393906" y="2235388"/>
                  </a:lnTo>
                  <a:lnTo>
                    <a:pt x="5400347" y="2234431"/>
                  </a:lnTo>
                  <a:lnTo>
                    <a:pt x="5434492" y="2216170"/>
                  </a:lnTo>
                  <a:lnTo>
                    <a:pt x="5452742" y="2182055"/>
                  </a:lnTo>
                  <a:lnTo>
                    <a:pt x="5454030" y="2169048"/>
                  </a:lnTo>
                  <a:lnTo>
                    <a:pt x="5454030" y="121157"/>
                  </a:lnTo>
                  <a:lnTo>
                    <a:pt x="5442790" y="84108"/>
                  </a:lnTo>
                  <a:lnTo>
                    <a:pt x="5412851" y="59557"/>
                  </a:lnTo>
                  <a:lnTo>
                    <a:pt x="5387339" y="54482"/>
                  </a:lnTo>
                  <a:lnTo>
                    <a:pt x="5544311" y="54482"/>
                  </a:lnTo>
                  <a:lnTo>
                    <a:pt x="5544311" y="223570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4">
              <a:extLst>
                <a:ext uri="{FF2B5EF4-FFF2-40B4-BE49-F238E27FC236}">
                  <a16:creationId xmlns:a16="http://schemas.microsoft.com/office/drawing/2014/main" id="{1570C39E-B004-751D-F6B8-E112A2A349AA}"/>
                </a:ext>
              </a:extLst>
            </p:cNvPr>
            <p:cNvSpPr/>
            <p:nvPr/>
          </p:nvSpPr>
          <p:spPr>
            <a:xfrm>
              <a:off x="6238875" y="1276349"/>
              <a:ext cx="5381625" cy="2200275"/>
            </a:xfrm>
            <a:custGeom>
              <a:avLst/>
              <a:gdLst/>
              <a:ahLst/>
              <a:cxnLst/>
              <a:rect l="l" t="t" r="r" b="b"/>
              <a:pathLst>
                <a:path w="5381625" h="2200275">
                  <a:moveTo>
                    <a:pt x="5310473" y="2200275"/>
                  </a:moveTo>
                  <a:lnTo>
                    <a:pt x="71199" y="2200275"/>
                  </a:lnTo>
                  <a:lnTo>
                    <a:pt x="66236" y="2199789"/>
                  </a:lnTo>
                  <a:lnTo>
                    <a:pt x="29708" y="2184654"/>
                  </a:lnTo>
                  <a:lnTo>
                    <a:pt x="3886" y="2148611"/>
                  </a:lnTo>
                  <a:lnTo>
                    <a:pt x="0" y="2129075"/>
                  </a:lnTo>
                  <a:lnTo>
                    <a:pt x="0" y="212407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5310473" y="0"/>
                  </a:lnTo>
                  <a:lnTo>
                    <a:pt x="5351907" y="15620"/>
                  </a:lnTo>
                  <a:lnTo>
                    <a:pt x="5377719" y="51663"/>
                  </a:lnTo>
                  <a:lnTo>
                    <a:pt x="5381625" y="71199"/>
                  </a:lnTo>
                  <a:lnTo>
                    <a:pt x="5381625" y="2129075"/>
                  </a:lnTo>
                  <a:lnTo>
                    <a:pt x="5366004" y="2170566"/>
                  </a:lnTo>
                  <a:lnTo>
                    <a:pt x="5329999" y="2196388"/>
                  </a:lnTo>
                  <a:lnTo>
                    <a:pt x="5315426" y="2199789"/>
                  </a:lnTo>
                  <a:lnTo>
                    <a:pt x="5310473" y="2200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9075" y="6139363"/>
            <a:ext cx="274767" cy="32318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226" y="8080448"/>
            <a:ext cx="274767" cy="32318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64495" y="8101640"/>
            <a:ext cx="283926" cy="2807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721711" y="6415597"/>
            <a:ext cx="1381164" cy="276648"/>
          </a:xfrm>
          <a:prstGeom prst="rect">
            <a:avLst/>
          </a:prstGeom>
        </p:spPr>
        <p:txBody>
          <a:bodyPr vert="horz" wrap="square" lIns="0" tIns="23591" rIns="0" bIns="0" rtlCol="0">
            <a:spAutoFit/>
          </a:bodyPr>
          <a:lstStyle/>
          <a:p>
            <a:pPr marL="18151">
              <a:spcBef>
                <a:spcPts val="186"/>
              </a:spcBef>
            </a:pPr>
            <a:r>
              <a:rPr sz="1643" spc="-71" dirty="0">
                <a:solidFill>
                  <a:srgbClr val="6A7280"/>
                </a:solidFill>
                <a:latin typeface="Tahoma"/>
                <a:cs typeface="Tahoma"/>
              </a:rPr>
              <a:t>Total</a:t>
            </a:r>
            <a:r>
              <a:rPr sz="1643" spc="-100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643" spc="-64" dirty="0">
                <a:solidFill>
                  <a:srgbClr val="6A7280"/>
                </a:solidFill>
                <a:latin typeface="Tahoma"/>
                <a:cs typeface="Tahoma"/>
              </a:rPr>
              <a:t>Downtime</a:t>
            </a:r>
            <a:endParaRPr sz="1643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40971" y="6770069"/>
            <a:ext cx="1345444" cy="458125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858" b="1" spc="-150" dirty="0">
                <a:solidFill>
                  <a:srgbClr val="0078D4"/>
                </a:solidFill>
                <a:latin typeface="Gill Sans MT"/>
                <a:cs typeface="Gill Sans MT"/>
              </a:rPr>
              <a:t>23h</a:t>
            </a:r>
            <a:r>
              <a:rPr sz="2858" b="1" spc="-129" dirty="0">
                <a:solidFill>
                  <a:srgbClr val="0078D4"/>
                </a:solidFill>
                <a:latin typeface="Gill Sans MT"/>
                <a:cs typeface="Gill Sans MT"/>
              </a:rPr>
              <a:t> </a:t>
            </a:r>
            <a:r>
              <a:rPr sz="2858" b="1" spc="-214" dirty="0">
                <a:solidFill>
                  <a:srgbClr val="0078D4"/>
                </a:solidFill>
                <a:latin typeface="Gill Sans MT"/>
                <a:cs typeface="Gill Sans MT"/>
              </a:rPr>
              <a:t>08m</a:t>
            </a:r>
            <a:endParaRPr sz="2858">
              <a:latin typeface="Gill Sans MT"/>
              <a:cs typeface="Gill Sans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51200" y="8119129"/>
            <a:ext cx="1742940" cy="276648"/>
          </a:xfrm>
          <a:prstGeom prst="rect">
            <a:avLst/>
          </a:prstGeom>
        </p:spPr>
        <p:txBody>
          <a:bodyPr vert="horz" wrap="square" lIns="0" tIns="23591" rIns="0" bIns="0" rtlCol="0">
            <a:spAutoFit/>
          </a:bodyPr>
          <a:lstStyle/>
          <a:p>
            <a:pPr marL="18151">
              <a:spcBef>
                <a:spcPts val="186"/>
              </a:spcBef>
            </a:pPr>
            <a:r>
              <a:rPr sz="1643" spc="-93" dirty="0">
                <a:solidFill>
                  <a:srgbClr val="6A7280"/>
                </a:solidFill>
                <a:latin typeface="Tahoma"/>
                <a:cs typeface="Tahoma"/>
              </a:rPr>
              <a:t>Target</a:t>
            </a:r>
            <a:r>
              <a:rPr sz="1643" spc="-86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643" spc="-57" dirty="0">
                <a:solidFill>
                  <a:srgbClr val="6A7280"/>
                </a:solidFill>
                <a:latin typeface="Tahoma"/>
                <a:cs typeface="Tahoma"/>
              </a:rPr>
              <a:t>Achievement</a:t>
            </a:r>
            <a:endParaRPr sz="1643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7584" y="8473598"/>
            <a:ext cx="944284" cy="458125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858" b="1" spc="-86" dirty="0">
                <a:solidFill>
                  <a:srgbClr val="0078D4"/>
                </a:solidFill>
                <a:latin typeface="Gill Sans MT"/>
                <a:cs typeface="Gill Sans MT"/>
              </a:rPr>
              <a:t>7.89%</a:t>
            </a:r>
            <a:endParaRPr sz="2858">
              <a:latin typeface="Gill Sans MT"/>
              <a:cs typeface="Gill Sans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22255" y="8119129"/>
            <a:ext cx="1323463" cy="276648"/>
          </a:xfrm>
          <a:prstGeom prst="rect">
            <a:avLst/>
          </a:prstGeom>
        </p:spPr>
        <p:txBody>
          <a:bodyPr vert="horz" wrap="square" lIns="0" tIns="23591" rIns="0" bIns="0" rtlCol="0">
            <a:spAutoFit/>
          </a:bodyPr>
          <a:lstStyle/>
          <a:p>
            <a:pPr marL="18151">
              <a:spcBef>
                <a:spcPts val="186"/>
              </a:spcBef>
            </a:pPr>
            <a:r>
              <a:rPr sz="1643" spc="-93" dirty="0">
                <a:solidFill>
                  <a:srgbClr val="6A7280"/>
                </a:solidFill>
                <a:latin typeface="Tahoma"/>
                <a:cs typeface="Tahoma"/>
              </a:rPr>
              <a:t>Avg. </a:t>
            </a:r>
            <a:r>
              <a:rPr sz="1643" spc="-64" dirty="0">
                <a:solidFill>
                  <a:srgbClr val="6A7280"/>
                </a:solidFill>
                <a:latin typeface="Tahoma"/>
                <a:cs typeface="Tahoma"/>
              </a:rPr>
              <a:t>Downtime</a:t>
            </a:r>
            <a:endParaRPr sz="1643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43679" y="8473598"/>
            <a:ext cx="1055107" cy="458125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858" b="1" spc="-107" dirty="0">
                <a:solidFill>
                  <a:srgbClr val="0078D4"/>
                </a:solidFill>
                <a:latin typeface="Gill Sans MT"/>
                <a:cs typeface="Gill Sans MT"/>
              </a:rPr>
              <a:t>23</a:t>
            </a:r>
            <a:r>
              <a:rPr sz="2858" b="1" spc="-136" dirty="0">
                <a:solidFill>
                  <a:srgbClr val="0078D4"/>
                </a:solidFill>
                <a:latin typeface="Gill Sans MT"/>
                <a:cs typeface="Gill Sans MT"/>
              </a:rPr>
              <a:t> </a:t>
            </a:r>
            <a:r>
              <a:rPr sz="2858" b="1" spc="-257" dirty="0">
                <a:solidFill>
                  <a:srgbClr val="0078D4"/>
                </a:solidFill>
                <a:latin typeface="Gill Sans MT"/>
                <a:cs typeface="Gill Sans MT"/>
              </a:rPr>
              <a:t>min</a:t>
            </a:r>
            <a:endParaRPr sz="2858">
              <a:latin typeface="Gill Sans MT"/>
              <a:cs typeface="Gill Sans MT"/>
            </a:endParaRPr>
          </a:p>
        </p:txBody>
      </p:sp>
      <p:pic>
        <p:nvPicPr>
          <p:cNvPr id="39" name="Picture Placeholder 1" descr="image.jpg">
            <a:extLst>
              <a:ext uri="{FF2B5EF4-FFF2-40B4-BE49-F238E27FC236}">
                <a16:creationId xmlns:a16="http://schemas.microsoft.com/office/drawing/2014/main" id="{9D06BEAC-462D-50DC-0D89-D5B8CEE2C6E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68" b="1068"/>
          <a:stretch>
            <a:fillRect/>
          </a:stretch>
        </p:blipFill>
        <p:spPr>
          <a:xfrm>
            <a:off x="11023600" y="1853685"/>
            <a:ext cx="6205192" cy="780762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0917-AE0D-D3E8-6FD9-7732D3C39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0780995-E413-DCC4-58C8-1D9E0076A308}"/>
              </a:ext>
            </a:extLst>
          </p:cNvPr>
          <p:cNvSpPr/>
          <p:nvPr/>
        </p:nvSpPr>
        <p:spPr>
          <a:xfrm>
            <a:off x="0" y="0"/>
            <a:ext cx="17475200" cy="9829800"/>
          </a:xfrm>
          <a:custGeom>
            <a:avLst/>
            <a:gdLst/>
            <a:ahLst/>
            <a:cxnLst/>
            <a:rect l="l" t="t" r="r" b="b"/>
            <a:pathLst>
              <a:path w="12115800" h="6858000">
                <a:moveTo>
                  <a:pt x="12115800" y="6858000"/>
                </a:moveTo>
                <a:lnTo>
                  <a:pt x="1" y="6858000"/>
                </a:lnTo>
                <a:lnTo>
                  <a:pt x="0" y="0"/>
                </a:lnTo>
                <a:lnTo>
                  <a:pt x="12115800" y="0"/>
                </a:lnTo>
                <a:lnTo>
                  <a:pt x="12115800" y="6858000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216DB17-3113-7DC4-2622-251AC17737E3}"/>
              </a:ext>
            </a:extLst>
          </p:cNvPr>
          <p:cNvSpPr/>
          <p:nvPr/>
        </p:nvSpPr>
        <p:spPr>
          <a:xfrm>
            <a:off x="0" y="1"/>
            <a:ext cx="17475200" cy="1494048"/>
          </a:xfrm>
          <a:custGeom>
            <a:avLst/>
            <a:gdLst/>
            <a:ahLst/>
            <a:cxnLst/>
            <a:rect l="l" t="t" r="r" b="b"/>
            <a:pathLst>
              <a:path w="12115800" h="895350">
                <a:moveTo>
                  <a:pt x="12115800" y="895350"/>
                </a:moveTo>
                <a:lnTo>
                  <a:pt x="0" y="895350"/>
                </a:lnTo>
                <a:lnTo>
                  <a:pt x="0" y="0"/>
                </a:lnTo>
                <a:lnTo>
                  <a:pt x="12115800" y="0"/>
                </a:lnTo>
                <a:lnTo>
                  <a:pt x="12115800" y="895350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F40A084-C2AC-8A44-7465-F4E7F23903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571" y="443511"/>
            <a:ext cx="5050223" cy="692641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lang="en-US" dirty="0"/>
              <a:t>Dataset Overview</a:t>
            </a:r>
            <a:endParaRPr spc="-264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FACF1E5-0403-40CB-F70B-BD191796DC47}"/>
              </a:ext>
            </a:extLst>
          </p:cNvPr>
          <p:cNvSpPr txBox="1"/>
          <p:nvPr/>
        </p:nvSpPr>
        <p:spPr>
          <a:xfrm>
            <a:off x="172720" y="1531130"/>
            <a:ext cx="17129759" cy="939821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0" indent="0" algn="just"/>
            <a:r>
              <a:rPr lang="en-US" sz="2500" b="1" dirty="0">
                <a:solidFill>
                  <a:srgbClr val="374050"/>
                </a:solidFill>
              </a:rPr>
              <a:t>Project Scope:</a:t>
            </a:r>
            <a:r>
              <a:rPr lang="en-US" sz="2500" dirty="0">
                <a:solidFill>
                  <a:srgbClr val="374050"/>
                </a:solidFill>
              </a:rPr>
              <a:t> Manufacturing line efficiency, downtime patterns, and operator performance analysis.</a:t>
            </a:r>
          </a:p>
          <a:p>
            <a:pPr marL="0" indent="0" algn="just"/>
            <a:endParaRPr lang="en-US" sz="1000" dirty="0">
              <a:solidFill>
                <a:srgbClr val="374050"/>
              </a:solidFill>
            </a:endParaRPr>
          </a:p>
          <a:p>
            <a:pPr marL="0" indent="0" algn="just"/>
            <a:r>
              <a:rPr lang="en-US" sz="2500" b="1" dirty="0">
                <a:solidFill>
                  <a:srgbClr val="374050"/>
                </a:solidFill>
              </a:rPr>
              <a:t>Model Structure:</a:t>
            </a:r>
            <a:r>
              <a:rPr lang="en-US" sz="2500" dirty="0">
                <a:solidFill>
                  <a:srgbClr val="374050"/>
                </a:solidFill>
              </a:rPr>
              <a:t> Star Schema centered around two fact tables connected to five-dimension tables.</a:t>
            </a:r>
            <a:endParaRPr lang="en-US" sz="2500" dirty="0">
              <a:solidFill>
                <a:srgbClr val="374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439F9075-CA24-8D77-6E7E-20440DFEC3F9}"/>
              </a:ext>
            </a:extLst>
          </p:cNvPr>
          <p:cNvSpPr txBox="1"/>
          <p:nvPr/>
        </p:nvSpPr>
        <p:spPr>
          <a:xfrm>
            <a:off x="172720" y="2770315"/>
            <a:ext cx="7726679" cy="5094805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0" indent="0" algn="just"/>
            <a:r>
              <a:rPr lang="en-US" sz="2500" b="1" u="sng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 Tables (Transactional Data)</a:t>
            </a:r>
          </a:p>
          <a:p>
            <a:pPr marL="0" indent="0" algn="just"/>
            <a:r>
              <a:rPr lang="en-US" sz="25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factLineProductivity:</a:t>
            </a:r>
          </a:p>
          <a:p>
            <a:pPr marL="0" indent="0" algn="just"/>
            <a:r>
              <a:rPr lang="en-US" sz="23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2300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primary table measuring production events and efficiency.</a:t>
            </a:r>
          </a:p>
          <a:p>
            <a:pPr marL="0" indent="0" algn="just"/>
            <a:r>
              <a:rPr lang="en-US" sz="23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Columns:</a:t>
            </a:r>
            <a:r>
              <a:rPr lang="en-US" sz="2300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Batch (ID), Duration (Min) (calculated production time), StartDateTime, EndDateTime, ProductID, OperatorID.</a:t>
            </a:r>
          </a:p>
          <a:p>
            <a:pPr marL="0" indent="0" algn="just"/>
            <a:endParaRPr lang="en-US" sz="2500" noProof="1">
              <a:solidFill>
                <a:srgbClr val="374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/>
            <a:r>
              <a:rPr lang="en-US" sz="25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factLineDowntime </a:t>
            </a:r>
          </a:p>
          <a:p>
            <a:pPr marL="0" indent="0" algn="just"/>
            <a:r>
              <a:rPr lang="en-US" sz="23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2300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Captures specific machine stoppage incidents and durations.</a:t>
            </a:r>
          </a:p>
          <a:p>
            <a:pPr marL="0" indent="0" algn="just"/>
            <a:r>
              <a:rPr lang="en-US" sz="23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Columns:</a:t>
            </a:r>
            <a:r>
              <a:rPr lang="en-US" sz="2300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DowntimeMinutes (duration of stop), DowntimeFactorID (reason code), Batch (link to production).</a:t>
            </a:r>
          </a:p>
        </p:txBody>
      </p:sp>
      <p:sp>
        <p:nvSpPr>
          <p:cNvPr id="29" name="object 5">
            <a:extLst>
              <a:ext uri="{FF2B5EF4-FFF2-40B4-BE49-F238E27FC236}">
                <a16:creationId xmlns:a16="http://schemas.microsoft.com/office/drawing/2014/main" id="{38A97CF1-9089-746D-B5D9-FAB1070AFBDD}"/>
              </a:ext>
            </a:extLst>
          </p:cNvPr>
          <p:cNvSpPr txBox="1"/>
          <p:nvPr/>
        </p:nvSpPr>
        <p:spPr>
          <a:xfrm>
            <a:off x="8508994" y="2766950"/>
            <a:ext cx="8793485" cy="6987631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0" indent="0" algn="just"/>
            <a:r>
              <a:rPr lang="en-US" sz="2500" b="1" u="sng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 Tables (Descriptive Context)</a:t>
            </a:r>
            <a:endParaRPr lang="en-US" sz="2500" noProof="1">
              <a:solidFill>
                <a:srgbClr val="374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/>
            <a:r>
              <a:rPr lang="en-US" sz="25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dimProducts:</a:t>
            </a:r>
          </a:p>
          <a:p>
            <a:pPr marL="0" indent="0" algn="just"/>
            <a:r>
              <a:rPr lang="en-US" sz="23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Context:</a:t>
            </a:r>
            <a:r>
              <a:rPr lang="en-US" sz="2300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Product master data.</a:t>
            </a:r>
          </a:p>
          <a:p>
            <a:pPr marL="0" indent="0" algn="just"/>
            <a:r>
              <a:rPr lang="en-US" sz="23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Columns:</a:t>
            </a:r>
            <a:r>
              <a:rPr lang="en-US" sz="2300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Flavor, Size(ml), BatchTime (Min) (Target time used for KPI calculations).</a:t>
            </a:r>
          </a:p>
          <a:p>
            <a:pPr marL="0" indent="0" algn="just"/>
            <a:endParaRPr lang="en-US" sz="2500" noProof="1">
              <a:solidFill>
                <a:srgbClr val="374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/>
            <a:r>
              <a:rPr lang="en-US" sz="25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dimDowntimeFactors:</a:t>
            </a:r>
          </a:p>
          <a:p>
            <a:pPr marL="0" indent="0" algn="just"/>
            <a:r>
              <a:rPr lang="en-US" sz="23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Context:</a:t>
            </a:r>
            <a:r>
              <a:rPr lang="en-US" sz="2300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Categorization of stop reasons.</a:t>
            </a:r>
          </a:p>
          <a:p>
            <a:pPr marL="0" indent="0" algn="just"/>
            <a:r>
              <a:rPr lang="en-US" sz="2300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Columns: Description (e.g., "Machine Failure"), OperatorError (Flag: Yes/No).</a:t>
            </a:r>
          </a:p>
          <a:p>
            <a:pPr marL="0" indent="0" algn="just"/>
            <a:endParaRPr lang="en-US" sz="2500" noProof="1">
              <a:solidFill>
                <a:srgbClr val="374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/>
            <a:r>
              <a:rPr lang="en-US" sz="25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dimOperatorName:</a:t>
            </a:r>
          </a:p>
          <a:p>
            <a:pPr marL="0" indent="0" algn="just"/>
            <a:r>
              <a:rPr lang="en-US" sz="23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Context:</a:t>
            </a:r>
            <a:r>
              <a:rPr lang="en-US" sz="2300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Workforce identification.</a:t>
            </a:r>
          </a:p>
          <a:p>
            <a:pPr marL="0" indent="0" algn="just"/>
            <a:r>
              <a:rPr lang="en-US" sz="23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Columns:</a:t>
            </a:r>
            <a:r>
              <a:rPr lang="en-US" sz="2300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Operator (Name), OperatorID.</a:t>
            </a:r>
          </a:p>
          <a:p>
            <a:pPr marL="0" indent="0" algn="just"/>
            <a:endParaRPr lang="en-US" sz="2500" noProof="1">
              <a:solidFill>
                <a:srgbClr val="374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/>
            <a:r>
              <a:rPr lang="en-US" sz="25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dimDate &amp; TimeTable </a:t>
            </a:r>
          </a:p>
          <a:p>
            <a:pPr marL="0" indent="0" algn="just"/>
            <a:r>
              <a:rPr lang="en-US" sz="23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Context:</a:t>
            </a:r>
            <a:r>
              <a:rPr lang="en-US" sz="2300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Temporal analysis.</a:t>
            </a:r>
          </a:p>
          <a:p>
            <a:pPr marL="0" indent="0" algn="just"/>
            <a:r>
              <a:rPr lang="en-US" sz="2300" b="1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Columns:</a:t>
            </a:r>
            <a:r>
              <a:rPr lang="en-US" sz="2300" noProof="1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Year, Month, Shift Time (Calculated: Day Shift vs. Night Shift), Hour.</a:t>
            </a:r>
          </a:p>
        </p:txBody>
      </p:sp>
      <p:sp>
        <p:nvSpPr>
          <p:cNvPr id="41" name="object 8">
            <a:extLst>
              <a:ext uri="{FF2B5EF4-FFF2-40B4-BE49-F238E27FC236}">
                <a16:creationId xmlns:a16="http://schemas.microsoft.com/office/drawing/2014/main" id="{233EFED5-6935-4962-DE12-15B92F4A9298}"/>
              </a:ext>
            </a:extLst>
          </p:cNvPr>
          <p:cNvSpPr/>
          <p:nvPr/>
        </p:nvSpPr>
        <p:spPr>
          <a:xfrm>
            <a:off x="8072121" y="2781299"/>
            <a:ext cx="264152" cy="7048499"/>
          </a:xfrm>
          <a:custGeom>
            <a:avLst/>
            <a:gdLst/>
            <a:ahLst/>
            <a:cxnLst/>
            <a:rect l="l" t="t" r="r" b="b"/>
            <a:pathLst>
              <a:path w="9525" h="4953000">
                <a:moveTo>
                  <a:pt x="9525" y="4953000"/>
                </a:moveTo>
                <a:lnTo>
                  <a:pt x="0" y="4953000"/>
                </a:lnTo>
                <a:lnTo>
                  <a:pt x="0" y="0"/>
                </a:lnTo>
                <a:lnTo>
                  <a:pt x="9525" y="0"/>
                </a:lnTo>
                <a:lnTo>
                  <a:pt x="9525" y="4953000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8">
            <a:extLst>
              <a:ext uri="{FF2B5EF4-FFF2-40B4-BE49-F238E27FC236}">
                <a16:creationId xmlns:a16="http://schemas.microsoft.com/office/drawing/2014/main" id="{2245A9B5-6BB3-80C0-D04C-82EF8D92A451}"/>
              </a:ext>
            </a:extLst>
          </p:cNvPr>
          <p:cNvSpPr/>
          <p:nvPr/>
        </p:nvSpPr>
        <p:spPr>
          <a:xfrm rot="16200000">
            <a:off x="8605523" y="-6088376"/>
            <a:ext cx="264152" cy="17475199"/>
          </a:xfrm>
          <a:custGeom>
            <a:avLst/>
            <a:gdLst/>
            <a:ahLst/>
            <a:cxnLst/>
            <a:rect l="l" t="t" r="r" b="b"/>
            <a:pathLst>
              <a:path w="9525" h="4953000">
                <a:moveTo>
                  <a:pt x="9525" y="4953000"/>
                </a:moveTo>
                <a:lnTo>
                  <a:pt x="0" y="4953000"/>
                </a:lnTo>
                <a:lnTo>
                  <a:pt x="0" y="0"/>
                </a:lnTo>
                <a:lnTo>
                  <a:pt x="9525" y="0"/>
                </a:lnTo>
                <a:lnTo>
                  <a:pt x="9525" y="4953000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4458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821008"/>
            <a:chOff x="0" y="0"/>
            <a:chExt cx="12171045" cy="8953500"/>
          </a:xfrm>
        </p:grpSpPr>
        <p:sp>
          <p:nvSpPr>
            <p:cNvPr id="3" name="object 3"/>
            <p:cNvSpPr/>
            <p:nvPr/>
          </p:nvSpPr>
          <p:spPr>
            <a:xfrm>
              <a:off x="0" y="895349"/>
              <a:ext cx="12171045" cy="8058150"/>
            </a:xfrm>
            <a:custGeom>
              <a:avLst/>
              <a:gdLst/>
              <a:ahLst/>
              <a:cxnLst/>
              <a:rect l="l" t="t" r="r" b="b"/>
              <a:pathLst>
                <a:path w="12171045" h="8058150">
                  <a:moveTo>
                    <a:pt x="0" y="8058150"/>
                  </a:moveTo>
                  <a:lnTo>
                    <a:pt x="12170664" y="8058150"/>
                  </a:lnTo>
                  <a:lnTo>
                    <a:pt x="12170664" y="0"/>
                  </a:lnTo>
                  <a:lnTo>
                    <a:pt x="0" y="0"/>
                  </a:lnTo>
                  <a:lnTo>
                    <a:pt x="0" y="805815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71045" cy="895350"/>
            </a:xfrm>
            <a:custGeom>
              <a:avLst/>
              <a:gdLst/>
              <a:ahLst/>
              <a:cxnLst/>
              <a:rect l="l" t="t" r="r" b="b"/>
              <a:pathLst>
                <a:path w="12171045" h="895350">
                  <a:moveTo>
                    <a:pt x="12170664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70664" y="0"/>
                  </a:lnTo>
                  <a:lnTo>
                    <a:pt x="12170664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01040" y="114300"/>
            <a:ext cx="14394560" cy="692641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pc="-243" dirty="0"/>
              <a:t>Data</a:t>
            </a:r>
            <a:r>
              <a:rPr spc="-314" dirty="0"/>
              <a:t> </a:t>
            </a:r>
            <a:r>
              <a:rPr spc="-271" dirty="0"/>
              <a:t>Model</a:t>
            </a:r>
            <a:r>
              <a:rPr spc="-307" dirty="0"/>
              <a:t> </a:t>
            </a:r>
            <a:r>
              <a:rPr spc="-214" dirty="0"/>
              <a:t>Architecture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66075" y="-769254"/>
            <a:ext cx="8657755" cy="310649"/>
          </a:xfrm>
          <a:prstGeom prst="rect">
            <a:avLst/>
          </a:prstGeom>
        </p:spPr>
        <p:txBody>
          <a:bodyPr vert="horz" wrap="square" lIns="0" tIns="24498" rIns="0" bIns="0" rtlCol="0">
            <a:spAutoFit/>
          </a:bodyPr>
          <a:lstStyle/>
          <a:p>
            <a:pPr marL="18151">
              <a:spcBef>
                <a:spcPts val="193"/>
              </a:spcBef>
            </a:pPr>
            <a:r>
              <a:rPr sz="1858" spc="-64" dirty="0">
                <a:solidFill>
                  <a:srgbClr val="4A5462"/>
                </a:solidFill>
                <a:latin typeface="Arial"/>
                <a:cs typeface="Arial"/>
              </a:rPr>
              <a:t>This</a:t>
            </a:r>
            <a:r>
              <a:rPr sz="1858" spc="-79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star</a:t>
            </a:r>
            <a:r>
              <a:rPr sz="1858" spc="-79" dirty="0">
                <a:solidFill>
                  <a:srgbClr val="4A5462"/>
                </a:solidFill>
                <a:latin typeface="Arial"/>
                <a:cs typeface="Arial"/>
              </a:rPr>
              <a:t> schema 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model</a:t>
            </a:r>
            <a:r>
              <a:rPr sz="1858" spc="-71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connects</a:t>
            </a:r>
            <a:r>
              <a:rPr sz="1858" spc="-79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dirty="0">
                <a:solidFill>
                  <a:srgbClr val="4A5462"/>
                </a:solidFill>
                <a:latin typeface="Arial"/>
                <a:cs typeface="Arial"/>
              </a:rPr>
              <a:t>fact</a:t>
            </a:r>
            <a:r>
              <a:rPr sz="1858" spc="-79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tables</a:t>
            </a:r>
            <a:r>
              <a:rPr sz="1858" spc="-79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dirty="0">
                <a:solidFill>
                  <a:srgbClr val="4A5462"/>
                </a:solidFill>
                <a:latin typeface="Arial"/>
                <a:cs typeface="Arial"/>
              </a:rPr>
              <a:t>for</a:t>
            </a:r>
            <a:r>
              <a:rPr sz="1858" spc="-71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50" dirty="0">
                <a:solidFill>
                  <a:srgbClr val="4A5462"/>
                </a:solidFill>
                <a:latin typeface="Arial"/>
                <a:cs typeface="Arial"/>
              </a:rPr>
              <a:t>production</a:t>
            </a:r>
            <a:r>
              <a:rPr sz="1858" spc="-79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93" dirty="0">
                <a:solidFill>
                  <a:srgbClr val="4A5462"/>
                </a:solidFill>
                <a:latin typeface="Arial"/>
                <a:cs typeface="Arial"/>
              </a:rPr>
              <a:t>and</a:t>
            </a:r>
            <a:r>
              <a:rPr sz="1858" spc="-79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50" dirty="0">
                <a:solidFill>
                  <a:srgbClr val="4A5462"/>
                </a:solidFill>
                <a:latin typeface="Arial"/>
                <a:cs typeface="Arial"/>
              </a:rPr>
              <a:t>downtime</a:t>
            </a:r>
            <a:r>
              <a:rPr sz="1858" spc="-79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29" dirty="0">
                <a:solidFill>
                  <a:srgbClr val="4A5462"/>
                </a:solidFill>
                <a:latin typeface="Arial"/>
                <a:cs typeface="Arial"/>
              </a:rPr>
              <a:t>with</a:t>
            </a:r>
            <a:r>
              <a:rPr sz="1858" spc="-71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dimensio</a:t>
            </a:r>
            <a:endParaRPr sz="185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95304" y="8383613"/>
            <a:ext cx="12199069" cy="646087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3162947" marR="7260" indent="-3145703">
              <a:lnSpc>
                <a:spcPct val="115399"/>
              </a:lnSpc>
              <a:spcBef>
                <a:spcPts val="129"/>
              </a:spcBef>
            </a:pPr>
            <a:r>
              <a:rPr sz="1858" spc="-93" dirty="0">
                <a:solidFill>
                  <a:srgbClr val="4A5462"/>
                </a:solidFill>
                <a:latin typeface="Arial"/>
                <a:cs typeface="Arial"/>
              </a:rPr>
              <a:t>n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tables </a:t>
            </a:r>
            <a:r>
              <a:rPr sz="1858" dirty="0">
                <a:solidFill>
                  <a:srgbClr val="4A5462"/>
                </a:solidFill>
                <a:latin typeface="Arial"/>
                <a:cs typeface="Arial"/>
              </a:rPr>
              <a:t>for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79" dirty="0">
                <a:solidFill>
                  <a:srgbClr val="4A5462"/>
                </a:solidFill>
                <a:latin typeface="Arial"/>
                <a:cs typeface="Arial"/>
              </a:rPr>
              <a:t>operators,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71" dirty="0">
                <a:solidFill>
                  <a:srgbClr val="4A5462"/>
                </a:solidFill>
                <a:latin typeface="Arial"/>
                <a:cs typeface="Arial"/>
              </a:rPr>
              <a:t>products,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64" dirty="0">
                <a:solidFill>
                  <a:srgbClr val="4A5462"/>
                </a:solidFill>
                <a:latin typeface="Arial"/>
                <a:cs typeface="Arial"/>
              </a:rPr>
              <a:t>time,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93" dirty="0">
                <a:solidFill>
                  <a:srgbClr val="4A5462"/>
                </a:solidFill>
                <a:latin typeface="Arial"/>
                <a:cs typeface="Arial"/>
              </a:rPr>
              <a:t>and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50" dirty="0">
                <a:solidFill>
                  <a:srgbClr val="4A5462"/>
                </a:solidFill>
                <a:latin typeface="Arial"/>
                <a:cs typeface="Arial"/>
              </a:rPr>
              <a:t>downtime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factors.</a:t>
            </a:r>
            <a:r>
              <a:rPr sz="1858" spc="-9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121" dirty="0">
                <a:solidFill>
                  <a:srgbClr val="4A5462"/>
                </a:solidFill>
                <a:latin typeface="Arial"/>
                <a:cs typeface="Arial"/>
              </a:rPr>
              <a:t>The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model </a:t>
            </a:r>
            <a:r>
              <a:rPr sz="1858" spc="-86" dirty="0">
                <a:solidFill>
                  <a:srgbClr val="4A5462"/>
                </a:solidFill>
                <a:latin typeface="Arial"/>
                <a:cs typeface="Arial"/>
              </a:rPr>
              <a:t>enables</a:t>
            </a:r>
            <a:r>
              <a:rPr sz="1858" spc="-5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79" dirty="0">
                <a:solidFill>
                  <a:srgbClr val="4A5462"/>
                </a:solidFill>
                <a:latin typeface="Arial"/>
                <a:cs typeface="Arial"/>
              </a:rPr>
              <a:t>cross-</a:t>
            </a:r>
            <a:r>
              <a:rPr sz="1858" spc="-50" dirty="0">
                <a:solidFill>
                  <a:srgbClr val="4A5462"/>
                </a:solidFill>
                <a:latin typeface="Arial"/>
                <a:cs typeface="Arial"/>
              </a:rPr>
              <a:t>sectional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64" dirty="0">
                <a:solidFill>
                  <a:srgbClr val="4A5462"/>
                </a:solidFill>
                <a:latin typeface="Arial"/>
                <a:cs typeface="Arial"/>
              </a:rPr>
              <a:t>analysis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114" dirty="0">
                <a:solidFill>
                  <a:srgbClr val="4A5462"/>
                </a:solidFill>
                <a:latin typeface="Arial"/>
                <a:cs typeface="Arial"/>
              </a:rPr>
              <a:t>by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36" dirty="0">
                <a:solidFill>
                  <a:srgbClr val="4A5462"/>
                </a:solidFill>
                <a:latin typeface="Arial"/>
                <a:cs typeface="Arial"/>
              </a:rPr>
              <a:t>shift,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71" dirty="0">
                <a:solidFill>
                  <a:srgbClr val="4A5462"/>
                </a:solidFill>
                <a:latin typeface="Arial"/>
                <a:cs typeface="Arial"/>
              </a:rPr>
              <a:t>product,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114" dirty="0">
                <a:solidFill>
                  <a:srgbClr val="4A5462"/>
                </a:solidFill>
                <a:latin typeface="Arial"/>
                <a:cs typeface="Arial"/>
              </a:rPr>
              <a:t>and </a:t>
            </a:r>
            <a:r>
              <a:rPr sz="1858" spc="-50" dirty="0">
                <a:solidFill>
                  <a:srgbClr val="4A5462"/>
                </a:solidFill>
                <a:latin typeface="Arial"/>
                <a:cs typeface="Arial"/>
              </a:rPr>
              <a:t>downtime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93" dirty="0">
                <a:solidFill>
                  <a:srgbClr val="4A5462"/>
                </a:solidFill>
                <a:latin typeface="Arial"/>
                <a:cs typeface="Arial"/>
              </a:rPr>
              <a:t>category,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64" dirty="0">
                <a:solidFill>
                  <a:srgbClr val="4A5462"/>
                </a:solidFill>
                <a:latin typeface="Arial"/>
                <a:cs typeface="Arial"/>
              </a:rPr>
              <a:t>providing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36" dirty="0">
                <a:solidFill>
                  <a:srgbClr val="4A5462"/>
                </a:solidFill>
                <a:latin typeface="Arial"/>
                <a:cs typeface="Arial"/>
              </a:rPr>
              <a:t>flexibility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dirty="0">
                <a:solidFill>
                  <a:srgbClr val="4A5462"/>
                </a:solidFill>
                <a:latin typeface="Arial"/>
                <a:cs typeface="Arial"/>
              </a:rPr>
              <a:t>for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71" dirty="0">
                <a:solidFill>
                  <a:srgbClr val="4A5462"/>
                </a:solidFill>
                <a:latin typeface="Arial"/>
                <a:cs typeface="Arial"/>
              </a:rPr>
              <a:t>business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14" dirty="0">
                <a:solidFill>
                  <a:srgbClr val="4A5462"/>
                </a:solidFill>
                <a:latin typeface="Arial"/>
                <a:cs typeface="Arial"/>
              </a:rPr>
              <a:t>insights.</a:t>
            </a:r>
            <a:endParaRPr sz="1858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4382" y="9081184"/>
            <a:ext cx="17390818" cy="45719"/>
          </a:xfrm>
          <a:custGeom>
            <a:avLst/>
            <a:gdLst/>
            <a:ahLst/>
            <a:cxnLst/>
            <a:rect l="l" t="t" r="r" b="b"/>
            <a:pathLst>
              <a:path w="12171045" h="9525">
                <a:moveTo>
                  <a:pt x="12170664" y="9525"/>
                </a:moveTo>
                <a:lnTo>
                  <a:pt x="0" y="9525"/>
                </a:lnTo>
                <a:lnTo>
                  <a:pt x="0" y="0"/>
                </a:lnTo>
                <a:lnTo>
                  <a:pt x="12170664" y="0"/>
                </a:lnTo>
                <a:lnTo>
                  <a:pt x="12170664" y="95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900" y="982099"/>
            <a:ext cx="13487400" cy="741321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794958" y="9372278"/>
            <a:ext cx="391150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1615"/>
              </a:lnSpc>
            </a:pPr>
            <a:r>
              <a:rPr sz="1643" spc="-64" dirty="0">
                <a:solidFill>
                  <a:srgbClr val="6A7280"/>
                </a:solidFill>
                <a:latin typeface="Arial"/>
                <a:cs typeface="Arial"/>
              </a:rPr>
              <a:t>Manufacturing</a:t>
            </a:r>
            <a:r>
              <a:rPr sz="1643" spc="-1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643" spc="-79" dirty="0">
                <a:solidFill>
                  <a:srgbClr val="6A7280"/>
                </a:solidFill>
                <a:latin typeface="Arial"/>
                <a:cs typeface="Arial"/>
              </a:rPr>
              <a:t>Downtime</a:t>
            </a:r>
            <a:r>
              <a:rPr sz="1643" spc="-7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643" spc="-79" dirty="0">
                <a:solidFill>
                  <a:srgbClr val="6A7280"/>
                </a:solidFill>
                <a:latin typeface="Arial"/>
                <a:cs typeface="Arial"/>
              </a:rPr>
              <a:t>Analysis</a:t>
            </a:r>
            <a:r>
              <a:rPr sz="1643" spc="-1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6A7280"/>
                </a:solidFill>
                <a:latin typeface="Arial"/>
                <a:cs typeface="Arial"/>
              </a:rPr>
              <a:t>Dashboard</a:t>
            </a:r>
            <a:endParaRPr sz="164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829800"/>
            <a:chOff x="0" y="0"/>
            <a:chExt cx="1217104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895350"/>
              <a:ext cx="12171045" cy="5962650"/>
            </a:xfrm>
            <a:custGeom>
              <a:avLst/>
              <a:gdLst/>
              <a:ahLst/>
              <a:cxnLst/>
              <a:rect l="l" t="t" r="r" b="b"/>
              <a:pathLst>
                <a:path w="12171045" h="5962650">
                  <a:moveTo>
                    <a:pt x="0" y="5962650"/>
                  </a:moveTo>
                  <a:lnTo>
                    <a:pt x="12170664" y="5962650"/>
                  </a:lnTo>
                  <a:lnTo>
                    <a:pt x="12170664" y="0"/>
                  </a:lnTo>
                  <a:lnTo>
                    <a:pt x="0" y="0"/>
                  </a:lnTo>
                  <a:lnTo>
                    <a:pt x="0" y="596265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71045" cy="895350"/>
            </a:xfrm>
            <a:custGeom>
              <a:avLst/>
              <a:gdLst/>
              <a:ahLst/>
              <a:cxnLst/>
              <a:rect l="l" t="t" r="r" b="b"/>
              <a:pathLst>
                <a:path w="12171045" h="895350">
                  <a:moveTo>
                    <a:pt x="12170664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70664" y="0"/>
                  </a:lnTo>
                  <a:lnTo>
                    <a:pt x="12170664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4800" y="305896"/>
            <a:ext cx="7084614" cy="671544"/>
          </a:xfrm>
          <a:prstGeom prst="rect">
            <a:avLst/>
          </a:prstGeom>
        </p:spPr>
        <p:txBody>
          <a:bodyPr vert="horz" wrap="square" lIns="0" tIns="22683" rIns="0" bIns="0" rtlCol="0">
            <a:spAutoFit/>
          </a:bodyPr>
          <a:lstStyle/>
          <a:p>
            <a:pPr marL="18151">
              <a:spcBef>
                <a:spcPts val="179"/>
              </a:spcBef>
            </a:pPr>
            <a:r>
              <a:rPr sz="4215" spc="-186" dirty="0"/>
              <a:t>Approach</a:t>
            </a:r>
            <a:r>
              <a:rPr sz="4215" spc="-264" dirty="0"/>
              <a:t> </a:t>
            </a:r>
            <a:r>
              <a:rPr sz="4215" spc="-163" dirty="0"/>
              <a:t>and</a:t>
            </a:r>
            <a:r>
              <a:rPr sz="4215" spc="-264" dirty="0"/>
              <a:t> </a:t>
            </a:r>
            <a:r>
              <a:rPr sz="4215" spc="-150" dirty="0"/>
              <a:t>Methodology</a:t>
            </a:r>
            <a:endParaRPr sz="4215" dirty="0"/>
          </a:p>
        </p:txBody>
      </p:sp>
      <p:sp>
        <p:nvSpPr>
          <p:cNvPr id="6" name="object 6"/>
          <p:cNvSpPr/>
          <p:nvPr/>
        </p:nvSpPr>
        <p:spPr>
          <a:xfrm>
            <a:off x="1" y="9089977"/>
            <a:ext cx="17475200" cy="45719"/>
          </a:xfrm>
          <a:custGeom>
            <a:avLst/>
            <a:gdLst/>
            <a:ahLst/>
            <a:cxnLst/>
            <a:rect l="l" t="t" r="r" b="b"/>
            <a:pathLst>
              <a:path w="12171045" h="9525">
                <a:moveTo>
                  <a:pt x="12170664" y="9525"/>
                </a:moveTo>
                <a:lnTo>
                  <a:pt x="0" y="9525"/>
                </a:lnTo>
                <a:lnTo>
                  <a:pt x="0" y="0"/>
                </a:lnTo>
                <a:lnTo>
                  <a:pt x="12170664" y="0"/>
                </a:lnTo>
                <a:lnTo>
                  <a:pt x="12170664" y="95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5100" y="3551326"/>
            <a:ext cx="1663001" cy="224993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52956" y="3667889"/>
            <a:ext cx="177788" cy="338110"/>
          </a:xfrm>
          <a:prstGeom prst="rect">
            <a:avLst/>
          </a:prstGeom>
        </p:spPr>
        <p:txBody>
          <a:bodyPr vert="horz" wrap="square" lIns="0" tIns="19054" rIns="0" bIns="0" rtlCol="0">
            <a:spAutoFit/>
          </a:bodyPr>
          <a:lstStyle/>
          <a:p>
            <a:pPr marL="18151">
              <a:spcBef>
                <a:spcPts val="150"/>
              </a:spcBef>
            </a:pPr>
            <a:r>
              <a:rPr sz="2072" b="1" spc="-71" dirty="0">
                <a:solidFill>
                  <a:srgbClr val="FFFFFF"/>
                </a:solidFill>
                <a:latin typeface="Gadugi"/>
                <a:cs typeface="Gadugi"/>
              </a:rPr>
              <a:t>1</a:t>
            </a:r>
            <a:endParaRPr sz="2072">
              <a:latin typeface="Gadugi"/>
              <a:cs typeface="Gadug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3324" y="4642701"/>
            <a:ext cx="478660" cy="5461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55234" y="5617898"/>
            <a:ext cx="2384183" cy="1160531"/>
          </a:xfrm>
          <a:prstGeom prst="rect">
            <a:avLst/>
          </a:prstGeom>
        </p:spPr>
        <p:txBody>
          <a:bodyPr vert="horz" wrap="square" lIns="0" tIns="183281" rIns="0" bIns="0" rtlCol="0">
            <a:spAutoFit/>
          </a:bodyPr>
          <a:lstStyle/>
          <a:p>
            <a:pPr algn="ctr">
              <a:spcBef>
                <a:spcPts val="1443"/>
              </a:spcBef>
            </a:pPr>
            <a:r>
              <a:rPr sz="2143" b="1" spc="-179" dirty="0">
                <a:solidFill>
                  <a:srgbClr val="0078D4"/>
                </a:solidFill>
                <a:latin typeface="Arial"/>
                <a:cs typeface="Arial"/>
              </a:rPr>
              <a:t>Data</a:t>
            </a:r>
            <a:r>
              <a:rPr sz="2143" b="1" spc="-121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2143" b="1" spc="-50" dirty="0">
                <a:solidFill>
                  <a:srgbClr val="0078D4"/>
                </a:solidFill>
                <a:latin typeface="Arial"/>
                <a:cs typeface="Arial"/>
              </a:rPr>
              <a:t>Acquisition</a:t>
            </a:r>
            <a:endParaRPr sz="2143">
              <a:latin typeface="Arial"/>
              <a:cs typeface="Arial"/>
            </a:endParaRPr>
          </a:p>
          <a:p>
            <a:pPr marL="17244" marR="7260" algn="ctr">
              <a:lnSpc>
                <a:spcPct val="108700"/>
              </a:lnSpc>
              <a:spcBef>
                <a:spcPts val="864"/>
              </a:spcBef>
            </a:pPr>
            <a:r>
              <a:rPr sz="1643" spc="-79" dirty="0">
                <a:solidFill>
                  <a:srgbClr val="4A5462"/>
                </a:solidFill>
                <a:latin typeface="Arial"/>
                <a:cs typeface="Arial"/>
              </a:rPr>
              <a:t>Consolidate</a:t>
            </a:r>
            <a:r>
              <a:rPr sz="16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production</a:t>
            </a:r>
            <a:r>
              <a:rPr sz="16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50" dirty="0">
                <a:solidFill>
                  <a:srgbClr val="4A5462"/>
                </a:solidFill>
                <a:latin typeface="Arial"/>
                <a:cs typeface="Arial"/>
              </a:rPr>
              <a:t>and 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downtime</a:t>
            </a:r>
            <a:r>
              <a:rPr sz="1643" spc="-57" dirty="0">
                <a:solidFill>
                  <a:srgbClr val="4A5462"/>
                </a:solidFill>
                <a:latin typeface="Arial"/>
                <a:cs typeface="Arial"/>
              </a:rPr>
              <a:t> logs </a:t>
            </a:r>
            <a:r>
              <a:rPr sz="1643" spc="-29" dirty="0">
                <a:solidFill>
                  <a:srgbClr val="4A5462"/>
                </a:solidFill>
                <a:latin typeface="Arial"/>
                <a:cs typeface="Arial"/>
              </a:rPr>
              <a:t>from</a:t>
            </a:r>
            <a:r>
              <a:rPr sz="1643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Excel.</a:t>
            </a:r>
            <a:endParaRPr sz="1643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94197" y="3551326"/>
            <a:ext cx="3227536" cy="224993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287400" y="3667889"/>
            <a:ext cx="177788" cy="338110"/>
          </a:xfrm>
          <a:prstGeom prst="rect">
            <a:avLst/>
          </a:prstGeom>
        </p:spPr>
        <p:txBody>
          <a:bodyPr vert="horz" wrap="square" lIns="0" tIns="19054" rIns="0" bIns="0" rtlCol="0">
            <a:spAutoFit/>
          </a:bodyPr>
          <a:lstStyle/>
          <a:p>
            <a:pPr marL="18151">
              <a:spcBef>
                <a:spcPts val="150"/>
              </a:spcBef>
            </a:pPr>
            <a:r>
              <a:rPr sz="2072" b="1" spc="-71" dirty="0">
                <a:solidFill>
                  <a:srgbClr val="FFFFFF"/>
                </a:solidFill>
                <a:latin typeface="Gadugi"/>
                <a:cs typeface="Gadugi"/>
              </a:rPr>
              <a:t>2</a:t>
            </a:r>
            <a:endParaRPr sz="2072">
              <a:latin typeface="Gadugi"/>
              <a:cs typeface="Gadug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94661" y="4674646"/>
            <a:ext cx="565275" cy="48693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225395" y="5617902"/>
            <a:ext cx="2312157" cy="1160531"/>
          </a:xfrm>
          <a:prstGeom prst="rect">
            <a:avLst/>
          </a:prstGeom>
        </p:spPr>
        <p:txBody>
          <a:bodyPr vert="horz" wrap="square" lIns="0" tIns="183281" rIns="0" bIns="0" rtlCol="0">
            <a:spAutoFit/>
          </a:bodyPr>
          <a:lstStyle/>
          <a:p>
            <a:pPr algn="ctr">
              <a:spcBef>
                <a:spcPts val="1443"/>
              </a:spcBef>
            </a:pPr>
            <a:r>
              <a:rPr sz="2143" b="1" spc="-186" dirty="0">
                <a:solidFill>
                  <a:srgbClr val="0078D4"/>
                </a:solidFill>
                <a:latin typeface="Arial"/>
                <a:cs typeface="Arial"/>
              </a:rPr>
              <a:t>Data</a:t>
            </a:r>
            <a:r>
              <a:rPr sz="2143" b="1" spc="-143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2143" b="1" spc="-157" dirty="0">
                <a:solidFill>
                  <a:srgbClr val="0078D4"/>
                </a:solidFill>
                <a:latin typeface="Arial"/>
                <a:cs typeface="Arial"/>
              </a:rPr>
              <a:t>Transformation</a:t>
            </a:r>
            <a:endParaRPr sz="2143">
              <a:latin typeface="Arial"/>
              <a:cs typeface="Arial"/>
            </a:endParaRPr>
          </a:p>
          <a:p>
            <a:pPr marL="137046" marR="126153" indent="-907" algn="ctr">
              <a:lnSpc>
                <a:spcPct val="108700"/>
              </a:lnSpc>
              <a:spcBef>
                <a:spcPts val="864"/>
              </a:spcBef>
            </a:pPr>
            <a:r>
              <a:rPr sz="1643" spc="-129" dirty="0">
                <a:solidFill>
                  <a:srgbClr val="4A5462"/>
                </a:solidFill>
                <a:latin typeface="Arial"/>
                <a:cs typeface="Arial"/>
              </a:rPr>
              <a:t>Clean,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86" dirty="0">
                <a:solidFill>
                  <a:srgbClr val="4A5462"/>
                </a:solidFill>
                <a:latin typeface="Arial"/>
                <a:cs typeface="Arial"/>
              </a:rPr>
              <a:t>standardize,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36" dirty="0">
                <a:solidFill>
                  <a:srgbClr val="4A5462"/>
                </a:solidFill>
                <a:latin typeface="Arial"/>
                <a:cs typeface="Arial"/>
              </a:rPr>
              <a:t>and </a:t>
            </a:r>
            <a:r>
              <a:rPr sz="1643" spc="-71" dirty="0">
                <a:solidFill>
                  <a:srgbClr val="4A5462"/>
                </a:solidFill>
                <a:latin typeface="Arial"/>
                <a:cs typeface="Arial"/>
              </a:rPr>
              <a:t>validate</a:t>
            </a:r>
            <a:r>
              <a:rPr sz="1643" spc="-57" dirty="0">
                <a:solidFill>
                  <a:srgbClr val="4A5462"/>
                </a:solidFill>
                <a:latin typeface="Arial"/>
                <a:cs typeface="Arial"/>
              </a:rPr>
              <a:t> in</a:t>
            </a:r>
            <a:r>
              <a:rPr sz="1643" spc="-5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00" dirty="0">
                <a:solidFill>
                  <a:srgbClr val="4A5462"/>
                </a:solidFill>
                <a:latin typeface="Arial"/>
                <a:cs typeface="Arial"/>
              </a:rPr>
              <a:t>Power</a:t>
            </a:r>
            <a:r>
              <a:rPr sz="1643" spc="-5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21" dirty="0">
                <a:solidFill>
                  <a:srgbClr val="4A5462"/>
                </a:solidFill>
                <a:latin typeface="Arial"/>
                <a:cs typeface="Arial"/>
              </a:rPr>
              <a:t>Query.</a:t>
            </a:r>
            <a:endParaRPr sz="1643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28639" y="3551318"/>
            <a:ext cx="3224803" cy="2249932"/>
            <a:chOff x="4429125" y="2468880"/>
            <a:chExt cx="2245995" cy="156972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29125" y="2468880"/>
              <a:ext cx="2245994" cy="156971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81687" y="3251200"/>
              <a:ext cx="428625" cy="33655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621841" y="3667889"/>
            <a:ext cx="177788" cy="338110"/>
          </a:xfrm>
          <a:prstGeom prst="rect">
            <a:avLst/>
          </a:prstGeom>
        </p:spPr>
        <p:txBody>
          <a:bodyPr vert="horz" wrap="square" lIns="0" tIns="19054" rIns="0" bIns="0" rtlCol="0">
            <a:spAutoFit/>
          </a:bodyPr>
          <a:lstStyle/>
          <a:p>
            <a:pPr marL="18151">
              <a:spcBef>
                <a:spcPts val="150"/>
              </a:spcBef>
            </a:pPr>
            <a:r>
              <a:rPr sz="2072" b="1" spc="-71" dirty="0">
                <a:solidFill>
                  <a:srgbClr val="FFFFFF"/>
                </a:solidFill>
                <a:latin typeface="Gadugi"/>
                <a:cs typeface="Gadugi"/>
              </a:rPr>
              <a:t>3</a:t>
            </a:r>
            <a:endParaRPr sz="2072">
              <a:latin typeface="Gadugi"/>
              <a:cs typeface="Gadug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14334" y="5617898"/>
            <a:ext cx="2404242" cy="1160531"/>
          </a:xfrm>
          <a:prstGeom prst="rect">
            <a:avLst/>
          </a:prstGeom>
        </p:spPr>
        <p:txBody>
          <a:bodyPr vert="horz" wrap="square" lIns="0" tIns="183281" rIns="0" bIns="0" rtlCol="0">
            <a:spAutoFit/>
          </a:bodyPr>
          <a:lstStyle/>
          <a:p>
            <a:pPr algn="ctr">
              <a:spcBef>
                <a:spcPts val="1443"/>
              </a:spcBef>
            </a:pPr>
            <a:r>
              <a:rPr sz="2143" b="1" spc="-179" dirty="0">
                <a:solidFill>
                  <a:srgbClr val="0078D4"/>
                </a:solidFill>
                <a:latin typeface="Arial"/>
                <a:cs typeface="Arial"/>
              </a:rPr>
              <a:t>Data</a:t>
            </a:r>
            <a:r>
              <a:rPr sz="2143" b="1" spc="-121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2143" b="1" spc="-14" dirty="0">
                <a:solidFill>
                  <a:srgbClr val="0078D4"/>
                </a:solidFill>
                <a:latin typeface="Arial"/>
                <a:cs typeface="Arial"/>
              </a:rPr>
              <a:t>Modeling</a:t>
            </a:r>
            <a:endParaRPr sz="2143">
              <a:latin typeface="Arial"/>
              <a:cs typeface="Arial"/>
            </a:endParaRPr>
          </a:p>
          <a:p>
            <a:pPr marL="18151" marR="7260" algn="ctr">
              <a:lnSpc>
                <a:spcPct val="108700"/>
              </a:lnSpc>
              <a:spcBef>
                <a:spcPts val="864"/>
              </a:spcBef>
            </a:pPr>
            <a:r>
              <a:rPr sz="1643" spc="-79" dirty="0">
                <a:solidFill>
                  <a:srgbClr val="4A5462"/>
                </a:solidFill>
                <a:latin typeface="Arial"/>
                <a:cs typeface="Arial"/>
              </a:rPr>
              <a:t>Build</a:t>
            </a:r>
            <a:r>
              <a:rPr sz="1643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relational</a:t>
            </a:r>
            <a:r>
              <a:rPr sz="1643" spc="-36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43" dirty="0">
                <a:solidFill>
                  <a:srgbClr val="4A5462"/>
                </a:solidFill>
                <a:latin typeface="Arial"/>
                <a:cs typeface="Arial"/>
              </a:rPr>
              <a:t>star</a:t>
            </a:r>
            <a:r>
              <a:rPr sz="1643" spc="-36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71" dirty="0">
                <a:solidFill>
                  <a:srgbClr val="4A5462"/>
                </a:solidFill>
                <a:latin typeface="Arial"/>
                <a:cs typeface="Arial"/>
              </a:rPr>
              <a:t>schema </a:t>
            </a:r>
            <a:r>
              <a:rPr sz="1643" spc="-57" dirty="0">
                <a:solidFill>
                  <a:srgbClr val="4A5462"/>
                </a:solidFill>
                <a:latin typeface="Arial"/>
                <a:cs typeface="Arial"/>
              </a:rPr>
              <a:t>in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00" dirty="0">
                <a:solidFill>
                  <a:srgbClr val="4A5462"/>
                </a:solidFill>
                <a:latin typeface="Arial"/>
                <a:cs typeface="Arial"/>
              </a:rPr>
              <a:t>Power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36" dirty="0">
                <a:solidFill>
                  <a:srgbClr val="4A5462"/>
                </a:solidFill>
                <a:latin typeface="Arial"/>
                <a:cs typeface="Arial"/>
              </a:rPr>
              <a:t>BI.</a:t>
            </a:r>
            <a:endParaRPr sz="1643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63078" y="3551326"/>
            <a:ext cx="3226441" cy="224993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1956286" y="3667889"/>
            <a:ext cx="177788" cy="338110"/>
          </a:xfrm>
          <a:prstGeom prst="rect">
            <a:avLst/>
          </a:prstGeom>
        </p:spPr>
        <p:txBody>
          <a:bodyPr vert="horz" wrap="square" lIns="0" tIns="19054" rIns="0" bIns="0" rtlCol="0">
            <a:spAutoFit/>
          </a:bodyPr>
          <a:lstStyle/>
          <a:p>
            <a:pPr marL="18151">
              <a:spcBef>
                <a:spcPts val="150"/>
              </a:spcBef>
            </a:pPr>
            <a:r>
              <a:rPr sz="2072" b="1" spc="-71" dirty="0">
                <a:solidFill>
                  <a:srgbClr val="FFFFFF"/>
                </a:solidFill>
                <a:latin typeface="Gadugi"/>
                <a:cs typeface="Gadugi"/>
              </a:rPr>
              <a:t>4</a:t>
            </a:r>
            <a:endParaRPr sz="2072">
              <a:latin typeface="Gadugi"/>
              <a:cs typeface="Gadug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840669" y="4642701"/>
            <a:ext cx="410280" cy="54610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0889176" y="5617898"/>
            <a:ext cx="2323097" cy="1160531"/>
          </a:xfrm>
          <a:prstGeom prst="rect">
            <a:avLst/>
          </a:prstGeom>
        </p:spPr>
        <p:txBody>
          <a:bodyPr vert="horz" wrap="square" lIns="0" tIns="183281" rIns="0" bIns="0" rtlCol="0">
            <a:spAutoFit/>
          </a:bodyPr>
          <a:lstStyle/>
          <a:p>
            <a:pPr algn="ctr">
              <a:spcBef>
                <a:spcPts val="1443"/>
              </a:spcBef>
            </a:pPr>
            <a:r>
              <a:rPr sz="2143" b="1" spc="-271" dirty="0">
                <a:solidFill>
                  <a:srgbClr val="0078D4"/>
                </a:solidFill>
                <a:latin typeface="Arial"/>
                <a:cs typeface="Arial"/>
              </a:rPr>
              <a:t>DAX</a:t>
            </a:r>
            <a:r>
              <a:rPr sz="2143" b="1" spc="-121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2143" b="1" spc="-71" dirty="0">
                <a:solidFill>
                  <a:srgbClr val="0078D4"/>
                </a:solidFill>
                <a:latin typeface="Arial"/>
                <a:cs typeface="Arial"/>
              </a:rPr>
              <a:t>Development</a:t>
            </a:r>
            <a:endParaRPr sz="2143">
              <a:latin typeface="Arial"/>
              <a:cs typeface="Arial"/>
            </a:endParaRPr>
          </a:p>
          <a:p>
            <a:pPr marL="17244" marR="7260" indent="-907" algn="ctr">
              <a:lnSpc>
                <a:spcPct val="108700"/>
              </a:lnSpc>
              <a:spcBef>
                <a:spcPts val="864"/>
              </a:spcBef>
            </a:pPr>
            <a:r>
              <a:rPr sz="1643" spc="-100" dirty="0">
                <a:solidFill>
                  <a:srgbClr val="4A5462"/>
                </a:solidFill>
                <a:latin typeface="Arial"/>
                <a:cs typeface="Arial"/>
              </a:rPr>
              <a:t>Define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07" dirty="0">
                <a:solidFill>
                  <a:srgbClr val="4A5462"/>
                </a:solidFill>
                <a:latin typeface="Arial"/>
                <a:cs typeface="Arial"/>
              </a:rPr>
              <a:t>KPIs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for</a:t>
            </a:r>
            <a:r>
              <a:rPr sz="1643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downtime, </a:t>
            </a:r>
            <a:r>
              <a:rPr sz="1643" spc="-71" dirty="0">
                <a:solidFill>
                  <a:srgbClr val="4A5462"/>
                </a:solidFill>
                <a:latin typeface="Arial"/>
                <a:cs typeface="Arial"/>
              </a:rPr>
              <a:t>productivity,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07" dirty="0">
                <a:solidFill>
                  <a:srgbClr val="4A5462"/>
                </a:solidFill>
                <a:latin typeface="Arial"/>
                <a:cs typeface="Arial"/>
              </a:rPr>
              <a:t>and</a:t>
            </a:r>
            <a:r>
              <a:rPr sz="1643" spc="-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efficiency.</a:t>
            </a:r>
            <a:endParaRPr sz="1643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997516" y="3429392"/>
            <a:ext cx="3223706" cy="2245561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5290754" y="3531788"/>
            <a:ext cx="177788" cy="338110"/>
          </a:xfrm>
          <a:prstGeom prst="rect">
            <a:avLst/>
          </a:prstGeom>
        </p:spPr>
        <p:txBody>
          <a:bodyPr vert="horz" wrap="square" lIns="0" tIns="19054" rIns="0" bIns="0" rtlCol="0">
            <a:spAutoFit/>
          </a:bodyPr>
          <a:lstStyle/>
          <a:p>
            <a:pPr marL="18151">
              <a:spcBef>
                <a:spcPts val="150"/>
              </a:spcBef>
            </a:pPr>
            <a:r>
              <a:rPr sz="2072" b="1" spc="-71" dirty="0">
                <a:solidFill>
                  <a:srgbClr val="FFFFFF"/>
                </a:solidFill>
                <a:latin typeface="Gadugi"/>
                <a:cs typeface="Gadugi"/>
              </a:rPr>
              <a:t>5</a:t>
            </a:r>
            <a:endParaRPr sz="2072">
              <a:latin typeface="Gadugi"/>
              <a:cs typeface="Gadug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107061" y="4552165"/>
            <a:ext cx="547040" cy="482389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4180457" y="5557021"/>
            <a:ext cx="2409713" cy="1415279"/>
          </a:xfrm>
          <a:prstGeom prst="rect">
            <a:avLst/>
          </a:prstGeom>
        </p:spPr>
        <p:txBody>
          <a:bodyPr vert="horz" wrap="square" lIns="0" tIns="183281" rIns="0" bIns="0" rtlCol="0">
            <a:spAutoFit/>
          </a:bodyPr>
          <a:lstStyle/>
          <a:p>
            <a:pPr algn="ctr">
              <a:spcBef>
                <a:spcPts val="1443"/>
              </a:spcBef>
            </a:pPr>
            <a:r>
              <a:rPr sz="2143" b="1" spc="-50" dirty="0">
                <a:solidFill>
                  <a:srgbClr val="0078D4"/>
                </a:solidFill>
                <a:latin typeface="Arial"/>
                <a:cs typeface="Arial"/>
              </a:rPr>
              <a:t>Visualization</a:t>
            </a:r>
            <a:endParaRPr sz="2143">
              <a:latin typeface="Arial"/>
              <a:cs typeface="Arial"/>
            </a:endParaRPr>
          </a:p>
          <a:p>
            <a:pPr marL="18151" marR="7260" algn="ctr">
              <a:lnSpc>
                <a:spcPct val="106000"/>
              </a:lnSpc>
              <a:spcBef>
                <a:spcPts val="914"/>
              </a:spcBef>
            </a:pPr>
            <a:r>
              <a:rPr sz="1643" spc="-100" dirty="0">
                <a:solidFill>
                  <a:srgbClr val="4A5462"/>
                </a:solidFill>
                <a:latin typeface="Arial"/>
                <a:cs typeface="Arial"/>
              </a:rPr>
              <a:t>Design</a:t>
            </a:r>
            <a:r>
              <a:rPr sz="1643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interactive </a:t>
            </a:r>
            <a:r>
              <a:rPr sz="1643" spc="-86" dirty="0">
                <a:solidFill>
                  <a:srgbClr val="4A5462"/>
                </a:solidFill>
                <a:latin typeface="Arial"/>
                <a:cs typeface="Arial"/>
              </a:rPr>
              <a:t>dashboard</a:t>
            </a:r>
            <a:r>
              <a:rPr sz="1643" spc="-71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for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86" dirty="0">
                <a:solidFill>
                  <a:srgbClr val="4A5462"/>
                </a:solidFill>
                <a:latin typeface="Arial"/>
                <a:cs typeface="Arial"/>
              </a:rPr>
              <a:t>management 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review.</a:t>
            </a:r>
            <a:endParaRPr sz="1643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7424245" y="9236406"/>
            <a:ext cx="2750767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1615"/>
              </a:lnSpc>
            </a:pPr>
            <a:r>
              <a:rPr spc="-64" dirty="0"/>
              <a:t>Manufacturing</a:t>
            </a:r>
            <a:r>
              <a:rPr spc="-14" dirty="0"/>
              <a:t> </a:t>
            </a:r>
            <a:r>
              <a:rPr spc="-79" dirty="0"/>
              <a:t>Downtime</a:t>
            </a:r>
            <a:r>
              <a:rPr spc="-7" dirty="0"/>
              <a:t> </a:t>
            </a:r>
            <a:r>
              <a:rPr spc="-79" dirty="0"/>
              <a:t>Analysis</a:t>
            </a:r>
            <a:r>
              <a:rPr spc="-14" dirty="0"/>
              <a:t> </a:t>
            </a:r>
            <a:r>
              <a:rPr spc="-64" dirty="0"/>
              <a:t>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829800"/>
            <a:chOff x="0" y="0"/>
            <a:chExt cx="12171045" cy="9620250"/>
          </a:xfrm>
        </p:grpSpPr>
        <p:sp>
          <p:nvSpPr>
            <p:cNvPr id="3" name="object 3"/>
            <p:cNvSpPr/>
            <p:nvPr/>
          </p:nvSpPr>
          <p:spPr>
            <a:xfrm>
              <a:off x="0" y="895349"/>
              <a:ext cx="12171045" cy="8724900"/>
            </a:xfrm>
            <a:custGeom>
              <a:avLst/>
              <a:gdLst/>
              <a:ahLst/>
              <a:cxnLst/>
              <a:rect l="l" t="t" r="r" b="b"/>
              <a:pathLst>
                <a:path w="12171045" h="8724900">
                  <a:moveTo>
                    <a:pt x="0" y="8724900"/>
                  </a:moveTo>
                  <a:lnTo>
                    <a:pt x="12170664" y="8724900"/>
                  </a:lnTo>
                  <a:lnTo>
                    <a:pt x="12170664" y="0"/>
                  </a:lnTo>
                  <a:lnTo>
                    <a:pt x="0" y="0"/>
                  </a:lnTo>
                  <a:lnTo>
                    <a:pt x="0" y="872490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71045" cy="895350"/>
            </a:xfrm>
            <a:custGeom>
              <a:avLst/>
              <a:gdLst/>
              <a:ahLst/>
              <a:cxnLst/>
              <a:rect l="l" t="t" r="r" b="b"/>
              <a:pathLst>
                <a:path w="12171045" h="895350">
                  <a:moveTo>
                    <a:pt x="12170664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70664" y="0"/>
                  </a:lnTo>
                  <a:lnTo>
                    <a:pt x="12170664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82979" y="114300"/>
            <a:ext cx="14394560" cy="692641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pc="-279" dirty="0"/>
              <a:t>Critical</a:t>
            </a:r>
            <a:r>
              <a:rPr spc="-214" dirty="0"/>
              <a:t> </a:t>
            </a:r>
            <a:r>
              <a:rPr spc="-243" dirty="0"/>
              <a:t>Performance</a:t>
            </a:r>
            <a:r>
              <a:rPr spc="-221" dirty="0"/>
              <a:t> Metrics</a:t>
            </a:r>
          </a:p>
        </p:txBody>
      </p:sp>
      <p:sp>
        <p:nvSpPr>
          <p:cNvPr id="15" name="object 15"/>
          <p:cNvSpPr/>
          <p:nvPr/>
        </p:nvSpPr>
        <p:spPr>
          <a:xfrm>
            <a:off x="16442" y="9182100"/>
            <a:ext cx="17390818" cy="13610"/>
          </a:xfrm>
          <a:custGeom>
            <a:avLst/>
            <a:gdLst/>
            <a:ahLst/>
            <a:cxnLst/>
            <a:rect l="l" t="t" r="r" b="b"/>
            <a:pathLst>
              <a:path w="12171045" h="9525">
                <a:moveTo>
                  <a:pt x="12170664" y="9525"/>
                </a:moveTo>
                <a:lnTo>
                  <a:pt x="0" y="9525"/>
                </a:lnTo>
                <a:lnTo>
                  <a:pt x="0" y="0"/>
                </a:lnTo>
                <a:lnTo>
                  <a:pt x="12170664" y="0"/>
                </a:lnTo>
                <a:lnTo>
                  <a:pt x="12170664" y="95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3290" y="1632962"/>
            <a:ext cx="7922816" cy="3379809"/>
          </a:xfrm>
          <a:custGeom>
            <a:avLst/>
            <a:gdLst/>
            <a:ahLst/>
            <a:cxnLst/>
            <a:rect l="l" t="t" r="r" b="b"/>
            <a:pathLst>
              <a:path w="5544820" h="2365375">
                <a:moveTo>
                  <a:pt x="5544311" y="2365247"/>
                </a:moveTo>
                <a:lnTo>
                  <a:pt x="0" y="2365247"/>
                </a:lnTo>
                <a:lnTo>
                  <a:pt x="0" y="0"/>
                </a:lnTo>
                <a:lnTo>
                  <a:pt x="5544311" y="0"/>
                </a:lnTo>
                <a:lnTo>
                  <a:pt x="5544311" y="54482"/>
                </a:lnTo>
                <a:lnTo>
                  <a:pt x="156971" y="54482"/>
                </a:lnTo>
                <a:lnTo>
                  <a:pt x="150403" y="54800"/>
                </a:lnTo>
                <a:lnTo>
                  <a:pt x="114694" y="69591"/>
                </a:lnTo>
                <a:lnTo>
                  <a:pt x="93151" y="101832"/>
                </a:lnTo>
                <a:lnTo>
                  <a:pt x="90296" y="121157"/>
                </a:lnTo>
                <a:lnTo>
                  <a:pt x="90296" y="2169048"/>
                </a:lnTo>
                <a:lnTo>
                  <a:pt x="101523" y="2206085"/>
                </a:lnTo>
                <a:lnTo>
                  <a:pt x="131457" y="2230617"/>
                </a:lnTo>
                <a:lnTo>
                  <a:pt x="156971" y="2235707"/>
                </a:lnTo>
                <a:lnTo>
                  <a:pt x="5544311" y="2235707"/>
                </a:lnTo>
                <a:lnTo>
                  <a:pt x="5544311" y="2365247"/>
                </a:lnTo>
                <a:close/>
              </a:path>
              <a:path w="5544820" h="2365375">
                <a:moveTo>
                  <a:pt x="5544311" y="2235707"/>
                </a:moveTo>
                <a:lnTo>
                  <a:pt x="5386212" y="2235707"/>
                </a:lnTo>
                <a:lnTo>
                  <a:pt x="5392778" y="2235388"/>
                </a:lnTo>
                <a:lnTo>
                  <a:pt x="5399219" y="2234431"/>
                </a:lnTo>
                <a:lnTo>
                  <a:pt x="5433334" y="2216170"/>
                </a:lnTo>
                <a:lnTo>
                  <a:pt x="5451595" y="2182055"/>
                </a:lnTo>
                <a:lnTo>
                  <a:pt x="5452871" y="2169048"/>
                </a:lnTo>
                <a:lnTo>
                  <a:pt x="5452871" y="121157"/>
                </a:lnTo>
                <a:lnTo>
                  <a:pt x="5441632" y="84108"/>
                </a:lnTo>
                <a:lnTo>
                  <a:pt x="5411723" y="59557"/>
                </a:lnTo>
                <a:lnTo>
                  <a:pt x="5386212" y="54482"/>
                </a:lnTo>
                <a:lnTo>
                  <a:pt x="5544311" y="54482"/>
                </a:lnTo>
                <a:lnTo>
                  <a:pt x="5544311" y="2235707"/>
                </a:lnTo>
                <a:close/>
              </a:path>
            </a:pathLst>
          </a:custGeom>
          <a:solidFill>
            <a:srgbClr val="000000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8704" y="1697200"/>
            <a:ext cx="7689632" cy="3143903"/>
          </a:xfrm>
          <a:custGeom>
            <a:avLst/>
            <a:gdLst/>
            <a:ahLst/>
            <a:cxnLst/>
            <a:rect l="l" t="t" r="r" b="b"/>
            <a:pathLst>
              <a:path w="5381625" h="2200275">
                <a:moveTo>
                  <a:pt x="5310425" y="2200275"/>
                </a:moveTo>
                <a:lnTo>
                  <a:pt x="71196" y="2200275"/>
                </a:lnTo>
                <a:lnTo>
                  <a:pt x="66241" y="2199789"/>
                </a:lnTo>
                <a:lnTo>
                  <a:pt x="29705" y="2184654"/>
                </a:lnTo>
                <a:lnTo>
                  <a:pt x="3885" y="2148611"/>
                </a:lnTo>
                <a:lnTo>
                  <a:pt x="0" y="2129075"/>
                </a:lnTo>
                <a:lnTo>
                  <a:pt x="0" y="2124075"/>
                </a:lnTo>
                <a:lnTo>
                  <a:pt x="0" y="71199"/>
                </a:lnTo>
                <a:lnTo>
                  <a:pt x="15621" y="29708"/>
                </a:lnTo>
                <a:lnTo>
                  <a:pt x="51661" y="3886"/>
                </a:lnTo>
                <a:lnTo>
                  <a:pt x="71196" y="0"/>
                </a:lnTo>
                <a:lnTo>
                  <a:pt x="5310425" y="0"/>
                </a:lnTo>
                <a:lnTo>
                  <a:pt x="5351916" y="15620"/>
                </a:lnTo>
                <a:lnTo>
                  <a:pt x="5377738" y="51663"/>
                </a:lnTo>
                <a:lnTo>
                  <a:pt x="5381625" y="71199"/>
                </a:lnTo>
                <a:lnTo>
                  <a:pt x="5381625" y="2129075"/>
                </a:lnTo>
                <a:lnTo>
                  <a:pt x="5366004" y="2170566"/>
                </a:lnTo>
                <a:lnTo>
                  <a:pt x="5329961" y="2196388"/>
                </a:lnTo>
                <a:lnTo>
                  <a:pt x="5315388" y="2199789"/>
                </a:lnTo>
                <a:lnTo>
                  <a:pt x="5310425" y="22002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98953" y="2037449"/>
            <a:ext cx="653278" cy="653278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200"/>
                </a:moveTo>
                <a:lnTo>
                  <a:pt x="221113" y="457200"/>
                </a:lnTo>
                <a:lnTo>
                  <a:pt x="213645" y="456828"/>
                </a:lnTo>
                <a:lnTo>
                  <a:pt x="169402" y="449532"/>
                </a:lnTo>
                <a:lnTo>
                  <a:pt x="127441" y="433739"/>
                </a:lnTo>
                <a:lnTo>
                  <a:pt x="89365" y="410060"/>
                </a:lnTo>
                <a:lnTo>
                  <a:pt x="56639" y="379409"/>
                </a:lnTo>
                <a:lnTo>
                  <a:pt x="30521" y="342966"/>
                </a:lnTo>
                <a:lnTo>
                  <a:pt x="12016" y="302123"/>
                </a:lnTo>
                <a:lnTo>
                  <a:pt x="1834" y="258460"/>
                </a:lnTo>
                <a:lnTo>
                  <a:pt x="0" y="236086"/>
                </a:lnTo>
                <a:lnTo>
                  <a:pt x="0" y="221113"/>
                </a:lnTo>
                <a:lnTo>
                  <a:pt x="5853" y="176660"/>
                </a:lnTo>
                <a:lnTo>
                  <a:pt x="20266" y="134197"/>
                </a:lnTo>
                <a:lnTo>
                  <a:pt x="42685" y="95373"/>
                </a:lnTo>
                <a:lnTo>
                  <a:pt x="72249" y="61664"/>
                </a:lnTo>
                <a:lnTo>
                  <a:pt x="107822" y="34366"/>
                </a:lnTo>
                <a:lnTo>
                  <a:pt x="148037" y="14535"/>
                </a:lnTo>
                <a:lnTo>
                  <a:pt x="191347" y="2933"/>
                </a:lnTo>
                <a:lnTo>
                  <a:pt x="221113" y="0"/>
                </a:lnTo>
                <a:lnTo>
                  <a:pt x="236086" y="0"/>
                </a:lnTo>
                <a:lnTo>
                  <a:pt x="280539" y="5857"/>
                </a:lnTo>
                <a:lnTo>
                  <a:pt x="323002" y="20269"/>
                </a:lnTo>
                <a:lnTo>
                  <a:pt x="361826" y="42681"/>
                </a:lnTo>
                <a:lnTo>
                  <a:pt x="395535" y="72247"/>
                </a:lnTo>
                <a:lnTo>
                  <a:pt x="422833" y="107823"/>
                </a:lnTo>
                <a:lnTo>
                  <a:pt x="442664" y="148037"/>
                </a:lnTo>
                <a:lnTo>
                  <a:pt x="454266" y="191347"/>
                </a:lnTo>
                <a:lnTo>
                  <a:pt x="457200" y="221113"/>
                </a:lnTo>
                <a:lnTo>
                  <a:pt x="457200" y="228600"/>
                </a:lnTo>
                <a:lnTo>
                  <a:pt x="457200" y="236086"/>
                </a:lnTo>
                <a:lnTo>
                  <a:pt x="451342" y="280539"/>
                </a:lnTo>
                <a:lnTo>
                  <a:pt x="436930" y="323002"/>
                </a:lnTo>
                <a:lnTo>
                  <a:pt x="414518" y="361826"/>
                </a:lnTo>
                <a:lnTo>
                  <a:pt x="384952" y="395535"/>
                </a:lnTo>
                <a:lnTo>
                  <a:pt x="349377" y="422833"/>
                </a:lnTo>
                <a:lnTo>
                  <a:pt x="309162" y="442664"/>
                </a:lnTo>
                <a:lnTo>
                  <a:pt x="265852" y="454266"/>
                </a:lnTo>
                <a:lnTo>
                  <a:pt x="243554" y="456828"/>
                </a:lnTo>
                <a:lnTo>
                  <a:pt x="236086" y="457200"/>
                </a:lnTo>
                <a:close/>
              </a:path>
            </a:pathLst>
          </a:custGeom>
          <a:solidFill>
            <a:srgbClr val="E4EF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2273" y="2200768"/>
            <a:ext cx="326639" cy="32663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8953" y="4274022"/>
            <a:ext cx="145173" cy="17239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80810" y="2068652"/>
            <a:ext cx="7045427" cy="2418837"/>
          </a:xfrm>
          <a:prstGeom prst="rect">
            <a:avLst/>
          </a:prstGeom>
        </p:spPr>
        <p:txBody>
          <a:bodyPr vert="horz" wrap="square" lIns="0" tIns="117953" rIns="0" bIns="0" rtlCol="0">
            <a:spAutoFit/>
          </a:bodyPr>
          <a:lstStyle/>
          <a:p>
            <a:pPr marL="3883572">
              <a:spcBef>
                <a:spcPts val="929"/>
              </a:spcBef>
            </a:pPr>
            <a:r>
              <a:rPr sz="2143" spc="-107" dirty="0">
                <a:solidFill>
                  <a:srgbClr val="4A5462"/>
                </a:solidFill>
                <a:latin typeface="Tahoma"/>
                <a:cs typeface="Tahoma"/>
              </a:rPr>
              <a:t>Overall</a:t>
            </a:r>
            <a:r>
              <a:rPr sz="2143" spc="-86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2143" spc="-79" dirty="0">
                <a:solidFill>
                  <a:srgbClr val="4A5462"/>
                </a:solidFill>
                <a:latin typeface="Tahoma"/>
                <a:cs typeface="Tahoma"/>
              </a:rPr>
              <a:t>Production</a:t>
            </a:r>
            <a:r>
              <a:rPr sz="2143" spc="-86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2143" spc="-43" dirty="0">
                <a:solidFill>
                  <a:srgbClr val="4A5462"/>
                </a:solidFill>
                <a:latin typeface="Tahoma"/>
                <a:cs typeface="Tahoma"/>
              </a:rPr>
              <a:t>Efficiency</a:t>
            </a:r>
            <a:endParaRPr sz="2143" dirty="0">
              <a:latin typeface="Tahoma"/>
              <a:cs typeface="Tahoma"/>
            </a:endParaRPr>
          </a:p>
          <a:p>
            <a:pPr marL="18151">
              <a:spcBef>
                <a:spcPts val="2108"/>
              </a:spcBef>
            </a:pPr>
            <a:r>
              <a:rPr sz="5717" b="1" spc="-14" dirty="0">
                <a:solidFill>
                  <a:srgbClr val="0078D4"/>
                </a:solidFill>
                <a:latin typeface="Gill Sans MT"/>
                <a:cs typeface="Gill Sans MT"/>
              </a:rPr>
              <a:t>64.02%</a:t>
            </a:r>
            <a:endParaRPr sz="5717" dirty="0">
              <a:latin typeface="Gill Sans MT"/>
              <a:cs typeface="Gill Sans MT"/>
            </a:endParaRPr>
          </a:p>
          <a:p>
            <a:pPr marL="18151">
              <a:spcBef>
                <a:spcPts val="750"/>
              </a:spcBef>
            </a:pPr>
            <a:r>
              <a:rPr sz="1858" spc="-57" dirty="0">
                <a:solidFill>
                  <a:srgbClr val="6A7280"/>
                </a:solidFill>
                <a:latin typeface="Arial"/>
                <a:cs typeface="Arial"/>
              </a:rPr>
              <a:t>Significant</a:t>
            </a:r>
            <a:r>
              <a:rPr sz="1858" spc="-7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71" dirty="0">
                <a:solidFill>
                  <a:srgbClr val="6A7280"/>
                </a:solidFill>
                <a:latin typeface="Arial"/>
                <a:cs typeface="Arial"/>
              </a:rPr>
              <a:t>improvement</a:t>
            </a:r>
            <a:r>
              <a:rPr sz="1858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14" dirty="0">
                <a:solidFill>
                  <a:srgbClr val="6A7280"/>
                </a:solidFill>
                <a:latin typeface="Arial"/>
                <a:cs typeface="Arial"/>
              </a:rPr>
              <a:t>opportunity</a:t>
            </a:r>
            <a:endParaRPr sz="1858" dirty="0">
              <a:latin typeface="Arial"/>
              <a:cs typeface="Arial"/>
            </a:endParaRPr>
          </a:p>
          <a:p>
            <a:pPr marL="215098">
              <a:spcBef>
                <a:spcPts val="1415"/>
              </a:spcBef>
            </a:pPr>
            <a:r>
              <a:rPr lang="en-US" sz="1643" spc="-186" dirty="0">
                <a:solidFill>
                  <a:srgbClr val="EF4444"/>
                </a:solidFill>
                <a:latin typeface="Arial"/>
                <a:cs typeface="Arial"/>
              </a:rPr>
              <a:t>21</a:t>
            </a:r>
            <a:r>
              <a:rPr sz="1643" spc="-186" dirty="0">
                <a:solidFill>
                  <a:srgbClr val="EF4444"/>
                </a:solidFill>
                <a:latin typeface="Arial"/>
                <a:cs typeface="Arial"/>
              </a:rPr>
              <a:t>%</a:t>
            </a:r>
            <a:r>
              <a:rPr sz="1643" spc="-57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71" dirty="0">
                <a:solidFill>
                  <a:srgbClr val="EF4444"/>
                </a:solidFill>
                <a:latin typeface="Arial"/>
                <a:cs typeface="Arial"/>
              </a:rPr>
              <a:t>below</a:t>
            </a:r>
            <a:r>
              <a:rPr sz="1643" spc="-57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EF4444"/>
                </a:solidFill>
                <a:latin typeface="Arial"/>
                <a:cs typeface="Arial"/>
              </a:rPr>
              <a:t>industry</a:t>
            </a:r>
            <a:r>
              <a:rPr sz="1643" spc="-50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14" dirty="0">
                <a:solidFill>
                  <a:srgbClr val="EF4444"/>
                </a:solidFill>
                <a:latin typeface="Arial"/>
                <a:cs typeface="Arial"/>
              </a:rPr>
              <a:t>standard</a:t>
            </a:r>
            <a:r>
              <a:rPr lang="en-US" sz="1643" spc="-14" dirty="0">
                <a:solidFill>
                  <a:srgbClr val="EF4444"/>
                </a:solidFill>
                <a:latin typeface="Arial"/>
                <a:cs typeface="Arial"/>
              </a:rPr>
              <a:t> (80%~90%)</a:t>
            </a:r>
            <a:endParaRPr sz="1643" dirty="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739583" y="1632957"/>
            <a:ext cx="7922817" cy="3379809"/>
            <a:chOff x="6156959" y="1231392"/>
            <a:chExt cx="5544820" cy="2365375"/>
          </a:xfrm>
        </p:grpSpPr>
        <p:sp>
          <p:nvSpPr>
            <p:cNvPr id="23" name="object 23"/>
            <p:cNvSpPr/>
            <p:nvPr/>
          </p:nvSpPr>
          <p:spPr>
            <a:xfrm>
              <a:off x="6156959" y="1231392"/>
              <a:ext cx="5544820" cy="2365375"/>
            </a:xfrm>
            <a:custGeom>
              <a:avLst/>
              <a:gdLst/>
              <a:ahLst/>
              <a:cxnLst/>
              <a:rect l="l" t="t" r="r" b="b"/>
              <a:pathLst>
                <a:path w="5544820" h="2365375">
                  <a:moveTo>
                    <a:pt x="5544311" y="2365247"/>
                  </a:moveTo>
                  <a:lnTo>
                    <a:pt x="0" y="2365247"/>
                  </a:lnTo>
                  <a:lnTo>
                    <a:pt x="0" y="0"/>
                  </a:lnTo>
                  <a:lnTo>
                    <a:pt x="5544311" y="0"/>
                  </a:lnTo>
                  <a:lnTo>
                    <a:pt x="5544311" y="54482"/>
                  </a:lnTo>
                  <a:lnTo>
                    <a:pt x="158130" y="54482"/>
                  </a:lnTo>
                  <a:lnTo>
                    <a:pt x="151546" y="54800"/>
                  </a:lnTo>
                  <a:lnTo>
                    <a:pt x="115841" y="69591"/>
                  </a:lnTo>
                  <a:lnTo>
                    <a:pt x="94281" y="101832"/>
                  </a:lnTo>
                  <a:lnTo>
                    <a:pt x="91439" y="121157"/>
                  </a:lnTo>
                  <a:lnTo>
                    <a:pt x="91439" y="2169048"/>
                  </a:lnTo>
                  <a:lnTo>
                    <a:pt x="102664" y="2206085"/>
                  </a:lnTo>
                  <a:lnTo>
                    <a:pt x="132587" y="2230617"/>
                  </a:lnTo>
                  <a:lnTo>
                    <a:pt x="158130" y="2235707"/>
                  </a:lnTo>
                  <a:lnTo>
                    <a:pt x="5544311" y="2235707"/>
                  </a:lnTo>
                  <a:lnTo>
                    <a:pt x="5544311" y="2365247"/>
                  </a:lnTo>
                  <a:close/>
                </a:path>
                <a:path w="5544820" h="2365375">
                  <a:moveTo>
                    <a:pt x="5544311" y="2235707"/>
                  </a:moveTo>
                  <a:lnTo>
                    <a:pt x="5387339" y="2235707"/>
                  </a:lnTo>
                  <a:lnTo>
                    <a:pt x="5393906" y="2235388"/>
                  </a:lnTo>
                  <a:lnTo>
                    <a:pt x="5400347" y="2234431"/>
                  </a:lnTo>
                  <a:lnTo>
                    <a:pt x="5434492" y="2216170"/>
                  </a:lnTo>
                  <a:lnTo>
                    <a:pt x="5452742" y="2182055"/>
                  </a:lnTo>
                  <a:lnTo>
                    <a:pt x="5454030" y="2169048"/>
                  </a:lnTo>
                  <a:lnTo>
                    <a:pt x="5454030" y="121157"/>
                  </a:lnTo>
                  <a:lnTo>
                    <a:pt x="5442790" y="84108"/>
                  </a:lnTo>
                  <a:lnTo>
                    <a:pt x="5412851" y="59557"/>
                  </a:lnTo>
                  <a:lnTo>
                    <a:pt x="5387339" y="54482"/>
                  </a:lnTo>
                  <a:lnTo>
                    <a:pt x="5544311" y="54482"/>
                  </a:lnTo>
                  <a:lnTo>
                    <a:pt x="5544311" y="223570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38875" y="1276349"/>
              <a:ext cx="5381625" cy="2200275"/>
            </a:xfrm>
            <a:custGeom>
              <a:avLst/>
              <a:gdLst/>
              <a:ahLst/>
              <a:cxnLst/>
              <a:rect l="l" t="t" r="r" b="b"/>
              <a:pathLst>
                <a:path w="5381625" h="2200275">
                  <a:moveTo>
                    <a:pt x="5310473" y="2200275"/>
                  </a:moveTo>
                  <a:lnTo>
                    <a:pt x="71199" y="2200275"/>
                  </a:lnTo>
                  <a:lnTo>
                    <a:pt x="66236" y="2199789"/>
                  </a:lnTo>
                  <a:lnTo>
                    <a:pt x="29708" y="2184654"/>
                  </a:lnTo>
                  <a:lnTo>
                    <a:pt x="3886" y="2148611"/>
                  </a:lnTo>
                  <a:lnTo>
                    <a:pt x="0" y="2129075"/>
                  </a:lnTo>
                  <a:lnTo>
                    <a:pt x="0" y="212407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5310473" y="0"/>
                  </a:lnTo>
                  <a:lnTo>
                    <a:pt x="5351907" y="15620"/>
                  </a:lnTo>
                  <a:lnTo>
                    <a:pt x="5377719" y="51663"/>
                  </a:lnTo>
                  <a:lnTo>
                    <a:pt x="5381625" y="71199"/>
                  </a:lnTo>
                  <a:lnTo>
                    <a:pt x="5381625" y="2129075"/>
                  </a:lnTo>
                  <a:lnTo>
                    <a:pt x="5366004" y="2170566"/>
                  </a:lnTo>
                  <a:lnTo>
                    <a:pt x="5329999" y="2196388"/>
                  </a:lnTo>
                  <a:lnTo>
                    <a:pt x="5315426" y="2199789"/>
                  </a:lnTo>
                  <a:lnTo>
                    <a:pt x="5310473" y="2200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77000" y="15144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200"/>
                  </a:moveTo>
                  <a:lnTo>
                    <a:pt x="221113" y="457200"/>
                  </a:lnTo>
                  <a:lnTo>
                    <a:pt x="213645" y="456828"/>
                  </a:lnTo>
                  <a:lnTo>
                    <a:pt x="169402" y="449532"/>
                  </a:lnTo>
                  <a:lnTo>
                    <a:pt x="127444" y="433739"/>
                  </a:lnTo>
                  <a:lnTo>
                    <a:pt x="89363" y="410060"/>
                  </a:lnTo>
                  <a:lnTo>
                    <a:pt x="56635" y="379409"/>
                  </a:lnTo>
                  <a:lnTo>
                    <a:pt x="30518" y="342966"/>
                  </a:lnTo>
                  <a:lnTo>
                    <a:pt x="12020" y="302123"/>
                  </a:lnTo>
                  <a:lnTo>
                    <a:pt x="1838" y="258460"/>
                  </a:lnTo>
                  <a:lnTo>
                    <a:pt x="0" y="236086"/>
                  </a:lnTo>
                  <a:lnTo>
                    <a:pt x="0" y="221113"/>
                  </a:lnTo>
                  <a:lnTo>
                    <a:pt x="5848" y="176660"/>
                  </a:lnTo>
                  <a:lnTo>
                    <a:pt x="20269" y="134197"/>
                  </a:lnTo>
                  <a:lnTo>
                    <a:pt x="42681" y="95373"/>
                  </a:lnTo>
                  <a:lnTo>
                    <a:pt x="72247" y="61664"/>
                  </a:lnTo>
                  <a:lnTo>
                    <a:pt x="107823" y="34366"/>
                  </a:lnTo>
                  <a:lnTo>
                    <a:pt x="148037" y="14535"/>
                  </a:lnTo>
                  <a:lnTo>
                    <a:pt x="191347" y="2933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39" y="5857"/>
                  </a:lnTo>
                  <a:lnTo>
                    <a:pt x="323002" y="20269"/>
                  </a:lnTo>
                  <a:lnTo>
                    <a:pt x="361826" y="42681"/>
                  </a:lnTo>
                  <a:lnTo>
                    <a:pt x="395535" y="72247"/>
                  </a:lnTo>
                  <a:lnTo>
                    <a:pt x="422833" y="107823"/>
                  </a:lnTo>
                  <a:lnTo>
                    <a:pt x="442664" y="148037"/>
                  </a:lnTo>
                  <a:lnTo>
                    <a:pt x="454266" y="191347"/>
                  </a:lnTo>
                  <a:lnTo>
                    <a:pt x="457200" y="221113"/>
                  </a:lnTo>
                  <a:lnTo>
                    <a:pt x="457200" y="228600"/>
                  </a:lnTo>
                  <a:lnTo>
                    <a:pt x="457200" y="236086"/>
                  </a:lnTo>
                  <a:lnTo>
                    <a:pt x="451342" y="280539"/>
                  </a:lnTo>
                  <a:lnTo>
                    <a:pt x="436930" y="323002"/>
                  </a:lnTo>
                  <a:lnTo>
                    <a:pt x="414508" y="361826"/>
                  </a:lnTo>
                  <a:lnTo>
                    <a:pt x="384952" y="395535"/>
                  </a:lnTo>
                  <a:lnTo>
                    <a:pt x="349377" y="422833"/>
                  </a:lnTo>
                  <a:lnTo>
                    <a:pt x="309162" y="442664"/>
                  </a:lnTo>
                  <a:lnTo>
                    <a:pt x="265852" y="454266"/>
                  </a:lnTo>
                  <a:lnTo>
                    <a:pt x="243554" y="456828"/>
                  </a:lnTo>
                  <a:lnTo>
                    <a:pt x="236086" y="457200"/>
                  </a:lnTo>
                  <a:close/>
                </a:path>
              </a:pathLst>
            </a:custGeom>
            <a:solidFill>
              <a:srgbClr val="E4E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91300" y="1628774"/>
              <a:ext cx="228600" cy="22860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4473420" y="2168788"/>
            <a:ext cx="1751149" cy="348094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143" spc="-107" dirty="0">
                <a:solidFill>
                  <a:srgbClr val="4A5462"/>
                </a:solidFill>
                <a:latin typeface="Tahoma"/>
                <a:cs typeface="Tahoma"/>
              </a:rPr>
              <a:t>Total</a:t>
            </a:r>
            <a:r>
              <a:rPr sz="2143" spc="-15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2143" spc="-93" dirty="0">
                <a:solidFill>
                  <a:srgbClr val="4A5462"/>
                </a:solidFill>
                <a:latin typeface="Tahoma"/>
                <a:cs typeface="Tahoma"/>
              </a:rPr>
              <a:t>Downtime</a:t>
            </a:r>
            <a:endParaRPr sz="2143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78733" y="2495999"/>
            <a:ext cx="2767360" cy="1555980"/>
          </a:xfrm>
          <a:prstGeom prst="rect">
            <a:avLst/>
          </a:prstGeom>
        </p:spPr>
        <p:txBody>
          <a:bodyPr vert="horz" wrap="square" lIns="0" tIns="284902" rIns="0" bIns="0" rtlCol="0">
            <a:spAutoFit/>
          </a:bodyPr>
          <a:lstStyle/>
          <a:p>
            <a:pPr marL="18151">
              <a:spcBef>
                <a:spcPts val="2243"/>
              </a:spcBef>
            </a:pPr>
            <a:r>
              <a:rPr sz="5717" b="1" spc="-314" dirty="0">
                <a:solidFill>
                  <a:srgbClr val="0078D4"/>
                </a:solidFill>
                <a:latin typeface="Gill Sans MT"/>
                <a:cs typeface="Gill Sans MT"/>
              </a:rPr>
              <a:t>23h</a:t>
            </a:r>
            <a:r>
              <a:rPr sz="5717" b="1" spc="-286" dirty="0">
                <a:solidFill>
                  <a:srgbClr val="0078D4"/>
                </a:solidFill>
                <a:latin typeface="Gill Sans MT"/>
                <a:cs typeface="Gill Sans MT"/>
              </a:rPr>
              <a:t> </a:t>
            </a:r>
            <a:r>
              <a:rPr sz="5717" b="1" spc="-536" dirty="0">
                <a:solidFill>
                  <a:srgbClr val="0078D4"/>
                </a:solidFill>
                <a:latin typeface="Gill Sans MT"/>
                <a:cs typeface="Gill Sans MT"/>
              </a:rPr>
              <a:t>08m</a:t>
            </a:r>
            <a:endParaRPr sz="5717" dirty="0">
              <a:latin typeface="Gill Sans MT"/>
              <a:cs typeface="Gill Sans MT"/>
            </a:endParaRPr>
          </a:p>
          <a:p>
            <a:pPr marL="18151">
              <a:spcBef>
                <a:spcPts val="750"/>
              </a:spcBef>
            </a:pPr>
            <a:r>
              <a:rPr sz="1858" spc="-193" dirty="0">
                <a:solidFill>
                  <a:srgbClr val="6A7280"/>
                </a:solidFill>
                <a:latin typeface="Arial"/>
                <a:cs typeface="Arial"/>
              </a:rPr>
              <a:t>36%</a:t>
            </a:r>
            <a:r>
              <a:rPr sz="1858" spc="-57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dirty="0">
                <a:solidFill>
                  <a:srgbClr val="6A7280"/>
                </a:solidFill>
                <a:latin typeface="Arial"/>
                <a:cs typeface="Arial"/>
              </a:rPr>
              <a:t>of</a:t>
            </a:r>
            <a:r>
              <a:rPr sz="1858" spc="-57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29" dirty="0">
                <a:solidFill>
                  <a:srgbClr val="6A7280"/>
                </a:solidFill>
                <a:latin typeface="Arial"/>
                <a:cs typeface="Arial"/>
              </a:rPr>
              <a:t>total</a:t>
            </a:r>
            <a:r>
              <a:rPr sz="1858" spc="-57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50" dirty="0">
                <a:solidFill>
                  <a:srgbClr val="6A7280"/>
                </a:solidFill>
                <a:latin typeface="Arial"/>
                <a:cs typeface="Arial"/>
              </a:rPr>
              <a:t>production</a:t>
            </a:r>
            <a:r>
              <a:rPr sz="1858" spc="-57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29" dirty="0">
                <a:solidFill>
                  <a:srgbClr val="6A7280"/>
                </a:solidFill>
                <a:latin typeface="Arial"/>
                <a:cs typeface="Arial"/>
              </a:rPr>
              <a:t>time</a:t>
            </a:r>
            <a:endParaRPr sz="1858" dirty="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96880" y="4274015"/>
            <a:ext cx="145173" cy="172393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9376077" y="4189159"/>
            <a:ext cx="2957900" cy="27389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1643" spc="-186" dirty="0">
                <a:solidFill>
                  <a:srgbClr val="EF4444"/>
                </a:solidFill>
                <a:latin typeface="Arial"/>
                <a:cs typeface="Arial"/>
              </a:rPr>
              <a:t>12%</a:t>
            </a:r>
            <a:r>
              <a:rPr sz="1643" spc="-43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86" dirty="0">
                <a:solidFill>
                  <a:srgbClr val="EF4444"/>
                </a:solidFill>
                <a:latin typeface="Arial"/>
                <a:cs typeface="Arial"/>
              </a:rPr>
              <a:t>increase</a:t>
            </a:r>
            <a:r>
              <a:rPr sz="1643" spc="-43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29" dirty="0">
                <a:solidFill>
                  <a:srgbClr val="EF4444"/>
                </a:solidFill>
                <a:latin typeface="Arial"/>
                <a:cs typeface="Arial"/>
              </a:rPr>
              <a:t>from</a:t>
            </a:r>
            <a:r>
              <a:rPr sz="1643" spc="-43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86" dirty="0">
                <a:solidFill>
                  <a:srgbClr val="EF4444"/>
                </a:solidFill>
                <a:latin typeface="Arial"/>
                <a:cs typeface="Arial"/>
              </a:rPr>
              <a:t>previous</a:t>
            </a:r>
            <a:r>
              <a:rPr sz="1643" spc="-43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29" dirty="0">
                <a:solidFill>
                  <a:srgbClr val="EF4444"/>
                </a:solidFill>
                <a:latin typeface="Arial"/>
                <a:cs typeface="Arial"/>
              </a:rPr>
              <a:t>period</a:t>
            </a:r>
            <a:endParaRPr sz="1643" dirty="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43285" y="5186797"/>
            <a:ext cx="7922817" cy="3379809"/>
            <a:chOff x="490727" y="3718560"/>
            <a:chExt cx="5544820" cy="2365375"/>
          </a:xfrm>
        </p:grpSpPr>
        <p:sp>
          <p:nvSpPr>
            <p:cNvPr id="32" name="object 32"/>
            <p:cNvSpPr/>
            <p:nvPr/>
          </p:nvSpPr>
          <p:spPr>
            <a:xfrm>
              <a:off x="490727" y="3718560"/>
              <a:ext cx="5544820" cy="2365375"/>
            </a:xfrm>
            <a:custGeom>
              <a:avLst/>
              <a:gdLst/>
              <a:ahLst/>
              <a:cxnLst/>
              <a:rect l="l" t="t" r="r" b="b"/>
              <a:pathLst>
                <a:path w="5544820" h="2365375">
                  <a:moveTo>
                    <a:pt x="5544311" y="2365247"/>
                  </a:moveTo>
                  <a:lnTo>
                    <a:pt x="0" y="2365247"/>
                  </a:lnTo>
                  <a:lnTo>
                    <a:pt x="0" y="0"/>
                  </a:lnTo>
                  <a:lnTo>
                    <a:pt x="5544311" y="0"/>
                  </a:lnTo>
                  <a:lnTo>
                    <a:pt x="5544311" y="53339"/>
                  </a:lnTo>
                  <a:lnTo>
                    <a:pt x="156971" y="53339"/>
                  </a:lnTo>
                  <a:lnTo>
                    <a:pt x="150403" y="53659"/>
                  </a:lnTo>
                  <a:lnTo>
                    <a:pt x="114694" y="68459"/>
                  </a:lnTo>
                  <a:lnTo>
                    <a:pt x="93151" y="100677"/>
                  </a:lnTo>
                  <a:lnTo>
                    <a:pt x="90296" y="119999"/>
                  </a:lnTo>
                  <a:lnTo>
                    <a:pt x="90296" y="2167889"/>
                  </a:lnTo>
                  <a:lnTo>
                    <a:pt x="101523" y="2204942"/>
                  </a:lnTo>
                  <a:lnTo>
                    <a:pt x="131457" y="2229490"/>
                  </a:lnTo>
                  <a:lnTo>
                    <a:pt x="156971" y="2234549"/>
                  </a:lnTo>
                  <a:lnTo>
                    <a:pt x="5544311" y="2234549"/>
                  </a:lnTo>
                  <a:lnTo>
                    <a:pt x="5544311" y="2365247"/>
                  </a:lnTo>
                  <a:close/>
                </a:path>
                <a:path w="5544820" h="2365375">
                  <a:moveTo>
                    <a:pt x="5544311" y="2234549"/>
                  </a:moveTo>
                  <a:lnTo>
                    <a:pt x="5386212" y="2234549"/>
                  </a:lnTo>
                  <a:lnTo>
                    <a:pt x="5392778" y="2234234"/>
                  </a:lnTo>
                  <a:lnTo>
                    <a:pt x="5399219" y="2233288"/>
                  </a:lnTo>
                  <a:lnTo>
                    <a:pt x="5433334" y="2215042"/>
                  </a:lnTo>
                  <a:lnTo>
                    <a:pt x="5451595" y="2180897"/>
                  </a:lnTo>
                  <a:lnTo>
                    <a:pt x="5452871" y="2167889"/>
                  </a:lnTo>
                  <a:lnTo>
                    <a:pt x="5452871" y="119999"/>
                  </a:lnTo>
                  <a:lnTo>
                    <a:pt x="5441632" y="82962"/>
                  </a:lnTo>
                  <a:lnTo>
                    <a:pt x="5411723" y="58430"/>
                  </a:lnTo>
                  <a:lnTo>
                    <a:pt x="5386212" y="53339"/>
                  </a:lnTo>
                  <a:lnTo>
                    <a:pt x="5544311" y="53339"/>
                  </a:lnTo>
                  <a:lnTo>
                    <a:pt x="5544311" y="223454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1500" y="3762374"/>
              <a:ext cx="5381625" cy="2200275"/>
            </a:xfrm>
            <a:custGeom>
              <a:avLst/>
              <a:gdLst/>
              <a:ahLst/>
              <a:cxnLst/>
              <a:rect l="l" t="t" r="r" b="b"/>
              <a:pathLst>
                <a:path w="5381625" h="2200275">
                  <a:moveTo>
                    <a:pt x="5310425" y="2200275"/>
                  </a:moveTo>
                  <a:lnTo>
                    <a:pt x="71196" y="2200275"/>
                  </a:lnTo>
                  <a:lnTo>
                    <a:pt x="66241" y="2199789"/>
                  </a:lnTo>
                  <a:lnTo>
                    <a:pt x="29705" y="2184654"/>
                  </a:lnTo>
                  <a:lnTo>
                    <a:pt x="3885" y="2148611"/>
                  </a:lnTo>
                  <a:lnTo>
                    <a:pt x="0" y="2129075"/>
                  </a:lnTo>
                  <a:lnTo>
                    <a:pt x="0" y="212407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1" y="3886"/>
                  </a:lnTo>
                  <a:lnTo>
                    <a:pt x="71196" y="0"/>
                  </a:lnTo>
                  <a:lnTo>
                    <a:pt x="5310425" y="0"/>
                  </a:lnTo>
                  <a:lnTo>
                    <a:pt x="5351916" y="15621"/>
                  </a:lnTo>
                  <a:lnTo>
                    <a:pt x="5377738" y="51663"/>
                  </a:lnTo>
                  <a:lnTo>
                    <a:pt x="5381625" y="71199"/>
                  </a:lnTo>
                  <a:lnTo>
                    <a:pt x="5381625" y="2129075"/>
                  </a:lnTo>
                  <a:lnTo>
                    <a:pt x="5366004" y="2170566"/>
                  </a:lnTo>
                  <a:lnTo>
                    <a:pt x="5329961" y="2196388"/>
                  </a:lnTo>
                  <a:lnTo>
                    <a:pt x="5315388" y="2199789"/>
                  </a:lnTo>
                  <a:lnTo>
                    <a:pt x="5310425" y="2200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9625" y="4000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200"/>
                  </a:moveTo>
                  <a:lnTo>
                    <a:pt x="221113" y="457200"/>
                  </a:lnTo>
                  <a:lnTo>
                    <a:pt x="213645" y="456828"/>
                  </a:lnTo>
                  <a:lnTo>
                    <a:pt x="169402" y="449532"/>
                  </a:lnTo>
                  <a:lnTo>
                    <a:pt x="127441" y="433739"/>
                  </a:lnTo>
                  <a:lnTo>
                    <a:pt x="89365" y="410060"/>
                  </a:lnTo>
                  <a:lnTo>
                    <a:pt x="56639" y="379409"/>
                  </a:lnTo>
                  <a:lnTo>
                    <a:pt x="30521" y="342966"/>
                  </a:lnTo>
                  <a:lnTo>
                    <a:pt x="12016" y="302123"/>
                  </a:lnTo>
                  <a:lnTo>
                    <a:pt x="1834" y="258460"/>
                  </a:lnTo>
                  <a:lnTo>
                    <a:pt x="0" y="236086"/>
                  </a:lnTo>
                  <a:lnTo>
                    <a:pt x="0" y="221113"/>
                  </a:lnTo>
                  <a:lnTo>
                    <a:pt x="5853" y="176660"/>
                  </a:lnTo>
                  <a:lnTo>
                    <a:pt x="20266" y="134197"/>
                  </a:lnTo>
                  <a:lnTo>
                    <a:pt x="42685" y="95373"/>
                  </a:lnTo>
                  <a:lnTo>
                    <a:pt x="72249" y="61664"/>
                  </a:lnTo>
                  <a:lnTo>
                    <a:pt x="107822" y="34366"/>
                  </a:lnTo>
                  <a:lnTo>
                    <a:pt x="148037" y="14535"/>
                  </a:lnTo>
                  <a:lnTo>
                    <a:pt x="191347" y="2933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39" y="5857"/>
                  </a:lnTo>
                  <a:lnTo>
                    <a:pt x="323002" y="20269"/>
                  </a:lnTo>
                  <a:lnTo>
                    <a:pt x="361826" y="42681"/>
                  </a:lnTo>
                  <a:lnTo>
                    <a:pt x="395535" y="72247"/>
                  </a:lnTo>
                  <a:lnTo>
                    <a:pt x="422833" y="107823"/>
                  </a:lnTo>
                  <a:lnTo>
                    <a:pt x="442664" y="148037"/>
                  </a:lnTo>
                  <a:lnTo>
                    <a:pt x="454266" y="191347"/>
                  </a:lnTo>
                  <a:lnTo>
                    <a:pt x="457200" y="221113"/>
                  </a:lnTo>
                  <a:lnTo>
                    <a:pt x="457200" y="228600"/>
                  </a:lnTo>
                  <a:lnTo>
                    <a:pt x="457200" y="236086"/>
                  </a:lnTo>
                  <a:lnTo>
                    <a:pt x="451342" y="280539"/>
                  </a:lnTo>
                  <a:lnTo>
                    <a:pt x="436930" y="323002"/>
                  </a:lnTo>
                  <a:lnTo>
                    <a:pt x="414518" y="361826"/>
                  </a:lnTo>
                  <a:lnTo>
                    <a:pt x="384952" y="395535"/>
                  </a:lnTo>
                  <a:lnTo>
                    <a:pt x="349377" y="422833"/>
                  </a:lnTo>
                  <a:lnTo>
                    <a:pt x="309162" y="442664"/>
                  </a:lnTo>
                  <a:lnTo>
                    <a:pt x="265852" y="454266"/>
                  </a:lnTo>
                  <a:lnTo>
                    <a:pt x="243554" y="456828"/>
                  </a:lnTo>
                  <a:lnTo>
                    <a:pt x="236086" y="457200"/>
                  </a:lnTo>
                  <a:close/>
                </a:path>
              </a:pathLst>
            </a:custGeom>
            <a:solidFill>
              <a:srgbClr val="E4E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3925" y="4114799"/>
              <a:ext cx="228600" cy="2286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625" y="5565775"/>
              <a:ext cx="101600" cy="12065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080810" y="5620853"/>
            <a:ext cx="7045427" cy="2418837"/>
          </a:xfrm>
          <a:prstGeom prst="rect">
            <a:avLst/>
          </a:prstGeom>
        </p:spPr>
        <p:txBody>
          <a:bodyPr vert="horz" wrap="square" lIns="0" tIns="117953" rIns="0" bIns="0" rtlCol="0">
            <a:spAutoFit/>
          </a:bodyPr>
          <a:lstStyle/>
          <a:p>
            <a:pPr marL="4145866">
              <a:spcBef>
                <a:spcPts val="929"/>
              </a:spcBef>
            </a:pPr>
            <a:r>
              <a:rPr sz="2143" spc="-86" dirty="0">
                <a:solidFill>
                  <a:srgbClr val="4A5462"/>
                </a:solidFill>
                <a:latin typeface="Tahoma"/>
                <a:cs typeface="Tahoma"/>
              </a:rPr>
              <a:t>Batch</a:t>
            </a:r>
            <a:r>
              <a:rPr sz="2143" spc="-186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2143" spc="-129" dirty="0">
                <a:solidFill>
                  <a:srgbClr val="4A5462"/>
                </a:solidFill>
                <a:latin typeface="Tahoma"/>
                <a:cs typeface="Tahoma"/>
              </a:rPr>
              <a:t>Target </a:t>
            </a:r>
            <a:r>
              <a:rPr sz="2143" spc="-71" dirty="0">
                <a:solidFill>
                  <a:srgbClr val="4A5462"/>
                </a:solidFill>
                <a:latin typeface="Tahoma"/>
                <a:cs typeface="Tahoma"/>
              </a:rPr>
              <a:t>Achievement</a:t>
            </a:r>
            <a:endParaRPr sz="2143">
              <a:latin typeface="Tahoma"/>
              <a:cs typeface="Tahoma"/>
            </a:endParaRPr>
          </a:p>
          <a:p>
            <a:pPr marL="18151">
              <a:spcBef>
                <a:spcPts val="2108"/>
              </a:spcBef>
            </a:pPr>
            <a:r>
              <a:rPr sz="5717" b="1" spc="-14" dirty="0">
                <a:solidFill>
                  <a:srgbClr val="0078D4"/>
                </a:solidFill>
                <a:latin typeface="Gill Sans MT"/>
                <a:cs typeface="Gill Sans MT"/>
              </a:rPr>
              <a:t>7.89%</a:t>
            </a:r>
            <a:endParaRPr sz="5717">
              <a:latin typeface="Gill Sans MT"/>
              <a:cs typeface="Gill Sans MT"/>
            </a:endParaRPr>
          </a:p>
          <a:p>
            <a:pPr marL="18151">
              <a:spcBef>
                <a:spcPts val="750"/>
              </a:spcBef>
            </a:pPr>
            <a:r>
              <a:rPr sz="1858" spc="-114" dirty="0">
                <a:solidFill>
                  <a:srgbClr val="6A7280"/>
                </a:solidFill>
                <a:latin typeface="Arial"/>
                <a:cs typeface="Arial"/>
              </a:rPr>
              <a:t>Of</a:t>
            </a:r>
            <a:r>
              <a:rPr sz="1858" spc="-64" dirty="0">
                <a:solidFill>
                  <a:srgbClr val="6A7280"/>
                </a:solidFill>
                <a:latin typeface="Arial"/>
                <a:cs typeface="Arial"/>
              </a:rPr>
              <a:t> batches meeting </a:t>
            </a:r>
            <a:r>
              <a:rPr sz="1858" spc="-14" dirty="0">
                <a:solidFill>
                  <a:srgbClr val="6A7280"/>
                </a:solidFill>
                <a:latin typeface="Arial"/>
                <a:cs typeface="Arial"/>
              </a:rPr>
              <a:t>targets</a:t>
            </a:r>
            <a:endParaRPr sz="1858">
              <a:latin typeface="Arial"/>
              <a:cs typeface="Arial"/>
            </a:endParaRPr>
          </a:p>
          <a:p>
            <a:pPr marL="215098">
              <a:spcBef>
                <a:spcPts val="1415"/>
              </a:spcBef>
            </a:pPr>
            <a:r>
              <a:rPr sz="1643" spc="-93" dirty="0">
                <a:solidFill>
                  <a:srgbClr val="EF4444"/>
                </a:solidFill>
                <a:latin typeface="Arial"/>
                <a:cs typeface="Arial"/>
              </a:rPr>
              <a:t>Below</a:t>
            </a:r>
            <a:r>
              <a:rPr sz="1643" spc="-57" dirty="0">
                <a:solidFill>
                  <a:srgbClr val="EF4444"/>
                </a:solidFill>
                <a:latin typeface="Arial"/>
                <a:cs typeface="Arial"/>
              </a:rPr>
              <a:t> target </a:t>
            </a:r>
            <a:r>
              <a:rPr sz="1643" dirty="0">
                <a:solidFill>
                  <a:srgbClr val="EF4444"/>
                </a:solidFill>
                <a:latin typeface="Arial"/>
                <a:cs typeface="Arial"/>
              </a:rPr>
              <a:t>of</a:t>
            </a:r>
            <a:r>
              <a:rPr sz="1643" spc="-57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36" dirty="0">
                <a:solidFill>
                  <a:srgbClr val="EF4444"/>
                </a:solidFill>
                <a:latin typeface="Arial"/>
                <a:cs typeface="Arial"/>
              </a:rPr>
              <a:t>25%</a:t>
            </a:r>
            <a:endParaRPr sz="1643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739583" y="5186797"/>
            <a:ext cx="7922817" cy="3379809"/>
            <a:chOff x="6156959" y="3718560"/>
            <a:chExt cx="5544820" cy="2365375"/>
          </a:xfrm>
        </p:grpSpPr>
        <p:sp>
          <p:nvSpPr>
            <p:cNvPr id="39" name="object 39"/>
            <p:cNvSpPr/>
            <p:nvPr/>
          </p:nvSpPr>
          <p:spPr>
            <a:xfrm>
              <a:off x="6156959" y="3718560"/>
              <a:ext cx="5544820" cy="2365375"/>
            </a:xfrm>
            <a:custGeom>
              <a:avLst/>
              <a:gdLst/>
              <a:ahLst/>
              <a:cxnLst/>
              <a:rect l="l" t="t" r="r" b="b"/>
              <a:pathLst>
                <a:path w="5544820" h="2365375">
                  <a:moveTo>
                    <a:pt x="5544311" y="2365247"/>
                  </a:moveTo>
                  <a:lnTo>
                    <a:pt x="0" y="2365247"/>
                  </a:lnTo>
                  <a:lnTo>
                    <a:pt x="0" y="0"/>
                  </a:lnTo>
                  <a:lnTo>
                    <a:pt x="5544311" y="0"/>
                  </a:lnTo>
                  <a:lnTo>
                    <a:pt x="5544311" y="53339"/>
                  </a:lnTo>
                  <a:lnTo>
                    <a:pt x="158130" y="53339"/>
                  </a:lnTo>
                  <a:lnTo>
                    <a:pt x="151546" y="53659"/>
                  </a:lnTo>
                  <a:lnTo>
                    <a:pt x="115841" y="68459"/>
                  </a:lnTo>
                  <a:lnTo>
                    <a:pt x="94281" y="100677"/>
                  </a:lnTo>
                  <a:lnTo>
                    <a:pt x="91439" y="119999"/>
                  </a:lnTo>
                  <a:lnTo>
                    <a:pt x="91439" y="2167889"/>
                  </a:lnTo>
                  <a:lnTo>
                    <a:pt x="102664" y="2204942"/>
                  </a:lnTo>
                  <a:lnTo>
                    <a:pt x="132587" y="2229490"/>
                  </a:lnTo>
                  <a:lnTo>
                    <a:pt x="158130" y="2234549"/>
                  </a:lnTo>
                  <a:lnTo>
                    <a:pt x="5544311" y="2234549"/>
                  </a:lnTo>
                  <a:lnTo>
                    <a:pt x="5544311" y="2365247"/>
                  </a:lnTo>
                  <a:close/>
                </a:path>
                <a:path w="5544820" h="2365375">
                  <a:moveTo>
                    <a:pt x="5544311" y="2234549"/>
                  </a:moveTo>
                  <a:lnTo>
                    <a:pt x="5387339" y="2234549"/>
                  </a:lnTo>
                  <a:lnTo>
                    <a:pt x="5393906" y="2234234"/>
                  </a:lnTo>
                  <a:lnTo>
                    <a:pt x="5400347" y="2233288"/>
                  </a:lnTo>
                  <a:lnTo>
                    <a:pt x="5434492" y="2215042"/>
                  </a:lnTo>
                  <a:lnTo>
                    <a:pt x="5452742" y="2180897"/>
                  </a:lnTo>
                  <a:lnTo>
                    <a:pt x="5454030" y="2167889"/>
                  </a:lnTo>
                  <a:lnTo>
                    <a:pt x="5454030" y="119999"/>
                  </a:lnTo>
                  <a:lnTo>
                    <a:pt x="5442790" y="82962"/>
                  </a:lnTo>
                  <a:lnTo>
                    <a:pt x="5412851" y="58430"/>
                  </a:lnTo>
                  <a:lnTo>
                    <a:pt x="5387339" y="53339"/>
                  </a:lnTo>
                  <a:lnTo>
                    <a:pt x="5544311" y="53339"/>
                  </a:lnTo>
                  <a:lnTo>
                    <a:pt x="5544311" y="223454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38875" y="3762374"/>
              <a:ext cx="5381625" cy="2200275"/>
            </a:xfrm>
            <a:custGeom>
              <a:avLst/>
              <a:gdLst/>
              <a:ahLst/>
              <a:cxnLst/>
              <a:rect l="l" t="t" r="r" b="b"/>
              <a:pathLst>
                <a:path w="5381625" h="2200275">
                  <a:moveTo>
                    <a:pt x="5310473" y="2200275"/>
                  </a:moveTo>
                  <a:lnTo>
                    <a:pt x="71199" y="2200275"/>
                  </a:lnTo>
                  <a:lnTo>
                    <a:pt x="66236" y="2199789"/>
                  </a:lnTo>
                  <a:lnTo>
                    <a:pt x="29708" y="2184654"/>
                  </a:lnTo>
                  <a:lnTo>
                    <a:pt x="3886" y="2148611"/>
                  </a:lnTo>
                  <a:lnTo>
                    <a:pt x="0" y="2129075"/>
                  </a:lnTo>
                  <a:lnTo>
                    <a:pt x="0" y="212407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5310473" y="0"/>
                  </a:lnTo>
                  <a:lnTo>
                    <a:pt x="5351907" y="15621"/>
                  </a:lnTo>
                  <a:lnTo>
                    <a:pt x="5377719" y="51663"/>
                  </a:lnTo>
                  <a:lnTo>
                    <a:pt x="5381625" y="71199"/>
                  </a:lnTo>
                  <a:lnTo>
                    <a:pt x="5381625" y="2129075"/>
                  </a:lnTo>
                  <a:lnTo>
                    <a:pt x="5366004" y="2170566"/>
                  </a:lnTo>
                  <a:lnTo>
                    <a:pt x="5329999" y="2196388"/>
                  </a:lnTo>
                  <a:lnTo>
                    <a:pt x="5315426" y="2199789"/>
                  </a:lnTo>
                  <a:lnTo>
                    <a:pt x="5310473" y="2200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77000" y="4000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200"/>
                  </a:moveTo>
                  <a:lnTo>
                    <a:pt x="221113" y="457200"/>
                  </a:lnTo>
                  <a:lnTo>
                    <a:pt x="213645" y="456828"/>
                  </a:lnTo>
                  <a:lnTo>
                    <a:pt x="169402" y="449532"/>
                  </a:lnTo>
                  <a:lnTo>
                    <a:pt x="127444" y="433739"/>
                  </a:lnTo>
                  <a:lnTo>
                    <a:pt x="89363" y="410060"/>
                  </a:lnTo>
                  <a:lnTo>
                    <a:pt x="56635" y="379409"/>
                  </a:lnTo>
                  <a:lnTo>
                    <a:pt x="30518" y="342966"/>
                  </a:lnTo>
                  <a:lnTo>
                    <a:pt x="12020" y="302123"/>
                  </a:lnTo>
                  <a:lnTo>
                    <a:pt x="1838" y="258460"/>
                  </a:lnTo>
                  <a:lnTo>
                    <a:pt x="0" y="236086"/>
                  </a:lnTo>
                  <a:lnTo>
                    <a:pt x="0" y="221113"/>
                  </a:lnTo>
                  <a:lnTo>
                    <a:pt x="5848" y="176660"/>
                  </a:lnTo>
                  <a:lnTo>
                    <a:pt x="20269" y="134197"/>
                  </a:lnTo>
                  <a:lnTo>
                    <a:pt x="42681" y="95373"/>
                  </a:lnTo>
                  <a:lnTo>
                    <a:pt x="72247" y="61664"/>
                  </a:lnTo>
                  <a:lnTo>
                    <a:pt x="107823" y="34366"/>
                  </a:lnTo>
                  <a:lnTo>
                    <a:pt x="148037" y="14535"/>
                  </a:lnTo>
                  <a:lnTo>
                    <a:pt x="191347" y="2933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39" y="5857"/>
                  </a:lnTo>
                  <a:lnTo>
                    <a:pt x="323002" y="20269"/>
                  </a:lnTo>
                  <a:lnTo>
                    <a:pt x="361826" y="42681"/>
                  </a:lnTo>
                  <a:lnTo>
                    <a:pt x="395535" y="72247"/>
                  </a:lnTo>
                  <a:lnTo>
                    <a:pt x="422833" y="107823"/>
                  </a:lnTo>
                  <a:lnTo>
                    <a:pt x="442664" y="148037"/>
                  </a:lnTo>
                  <a:lnTo>
                    <a:pt x="454266" y="191347"/>
                  </a:lnTo>
                  <a:lnTo>
                    <a:pt x="457200" y="221113"/>
                  </a:lnTo>
                  <a:lnTo>
                    <a:pt x="457200" y="228600"/>
                  </a:lnTo>
                  <a:lnTo>
                    <a:pt x="457200" y="236086"/>
                  </a:lnTo>
                  <a:lnTo>
                    <a:pt x="451342" y="280539"/>
                  </a:lnTo>
                  <a:lnTo>
                    <a:pt x="436930" y="323002"/>
                  </a:lnTo>
                  <a:lnTo>
                    <a:pt x="414508" y="361826"/>
                  </a:lnTo>
                  <a:lnTo>
                    <a:pt x="384952" y="395535"/>
                  </a:lnTo>
                  <a:lnTo>
                    <a:pt x="349377" y="422833"/>
                  </a:lnTo>
                  <a:lnTo>
                    <a:pt x="309162" y="442664"/>
                  </a:lnTo>
                  <a:lnTo>
                    <a:pt x="265852" y="454266"/>
                  </a:lnTo>
                  <a:lnTo>
                    <a:pt x="243554" y="456828"/>
                  </a:lnTo>
                  <a:lnTo>
                    <a:pt x="236086" y="457200"/>
                  </a:lnTo>
                  <a:close/>
                </a:path>
              </a:pathLst>
            </a:custGeom>
            <a:solidFill>
              <a:srgbClr val="E4E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88125" y="4127499"/>
              <a:ext cx="234950" cy="20320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14128953" y="5720987"/>
            <a:ext cx="2095028" cy="348094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143" spc="-114" dirty="0">
                <a:solidFill>
                  <a:srgbClr val="4A5462"/>
                </a:solidFill>
                <a:latin typeface="Tahoma"/>
                <a:cs typeface="Tahoma"/>
              </a:rPr>
              <a:t>Average</a:t>
            </a:r>
            <a:r>
              <a:rPr sz="2143" spc="-129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2143" spc="-93" dirty="0">
                <a:solidFill>
                  <a:srgbClr val="4A5462"/>
                </a:solidFill>
                <a:latin typeface="Tahoma"/>
                <a:cs typeface="Tahoma"/>
              </a:rPr>
              <a:t>Downtime</a:t>
            </a:r>
            <a:endParaRPr sz="2143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178741" y="6048201"/>
            <a:ext cx="2053291" cy="1555980"/>
          </a:xfrm>
          <a:prstGeom prst="rect">
            <a:avLst/>
          </a:prstGeom>
        </p:spPr>
        <p:txBody>
          <a:bodyPr vert="horz" wrap="square" lIns="0" tIns="284902" rIns="0" bIns="0" rtlCol="0">
            <a:spAutoFit/>
          </a:bodyPr>
          <a:lstStyle/>
          <a:p>
            <a:pPr marL="18151">
              <a:spcBef>
                <a:spcPts val="2243"/>
              </a:spcBef>
            </a:pPr>
            <a:r>
              <a:rPr sz="5717" b="1" spc="-229" dirty="0">
                <a:solidFill>
                  <a:srgbClr val="0078D4"/>
                </a:solidFill>
                <a:latin typeface="Gill Sans MT"/>
                <a:cs typeface="Gill Sans MT"/>
              </a:rPr>
              <a:t>23</a:t>
            </a:r>
            <a:r>
              <a:rPr sz="5717" b="1" spc="-300" dirty="0">
                <a:solidFill>
                  <a:srgbClr val="0078D4"/>
                </a:solidFill>
                <a:latin typeface="Gill Sans MT"/>
                <a:cs typeface="Gill Sans MT"/>
              </a:rPr>
              <a:t> </a:t>
            </a:r>
            <a:r>
              <a:rPr sz="5717" b="1" spc="-607" dirty="0">
                <a:solidFill>
                  <a:srgbClr val="0078D4"/>
                </a:solidFill>
                <a:latin typeface="Gill Sans MT"/>
                <a:cs typeface="Gill Sans MT"/>
              </a:rPr>
              <a:t>min</a:t>
            </a:r>
            <a:endParaRPr sz="5717">
              <a:latin typeface="Gill Sans MT"/>
              <a:cs typeface="Gill Sans MT"/>
            </a:endParaRPr>
          </a:p>
          <a:p>
            <a:pPr marL="18151">
              <a:spcBef>
                <a:spcPts val="750"/>
              </a:spcBef>
            </a:pPr>
            <a:r>
              <a:rPr sz="1858" spc="-114" dirty="0">
                <a:solidFill>
                  <a:srgbClr val="6A7280"/>
                </a:solidFill>
                <a:latin typeface="Arial"/>
                <a:cs typeface="Arial"/>
              </a:rPr>
              <a:t>Per</a:t>
            </a:r>
            <a:r>
              <a:rPr sz="1858" spc="-79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50" dirty="0">
                <a:solidFill>
                  <a:srgbClr val="6A7280"/>
                </a:solidFill>
                <a:latin typeface="Arial"/>
                <a:cs typeface="Arial"/>
              </a:rPr>
              <a:t>production</a:t>
            </a:r>
            <a:r>
              <a:rPr sz="1858" spc="-71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29" dirty="0">
                <a:solidFill>
                  <a:srgbClr val="6A7280"/>
                </a:solidFill>
                <a:latin typeface="Arial"/>
                <a:cs typeface="Arial"/>
              </a:rPr>
              <a:t>cycle</a:t>
            </a:r>
            <a:endParaRPr sz="1858">
              <a:latin typeface="Arial"/>
              <a:cs typeface="Arial"/>
            </a:endParaRPr>
          </a:p>
        </p:txBody>
      </p:sp>
      <p:pic>
        <p:nvPicPr>
          <p:cNvPr id="45" name="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01424" y="7898802"/>
            <a:ext cx="158783" cy="27220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9399898" y="7741361"/>
            <a:ext cx="2751936" cy="27389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1643" spc="-107" dirty="0">
                <a:solidFill>
                  <a:srgbClr val="F59D0A"/>
                </a:solidFill>
                <a:latin typeface="Arial"/>
                <a:cs typeface="Arial"/>
              </a:rPr>
              <a:t>No</a:t>
            </a:r>
            <a:r>
              <a:rPr sz="1643" spc="-50" dirty="0">
                <a:solidFill>
                  <a:srgbClr val="F59D0A"/>
                </a:solidFill>
                <a:latin typeface="Arial"/>
                <a:cs typeface="Arial"/>
              </a:rPr>
              <a:t> </a:t>
            </a:r>
            <a:r>
              <a:rPr sz="1643" spc="-100" dirty="0">
                <a:solidFill>
                  <a:srgbClr val="F59D0A"/>
                </a:solidFill>
                <a:latin typeface="Arial"/>
                <a:cs typeface="Arial"/>
              </a:rPr>
              <a:t>change</a:t>
            </a:r>
            <a:r>
              <a:rPr sz="1643" spc="-43" dirty="0">
                <a:solidFill>
                  <a:srgbClr val="F59D0A"/>
                </a:solidFill>
                <a:latin typeface="Arial"/>
                <a:cs typeface="Arial"/>
              </a:rPr>
              <a:t> </a:t>
            </a:r>
            <a:r>
              <a:rPr sz="1643" spc="-29" dirty="0">
                <a:solidFill>
                  <a:srgbClr val="F59D0A"/>
                </a:solidFill>
                <a:latin typeface="Arial"/>
                <a:cs typeface="Arial"/>
              </a:rPr>
              <a:t>from</a:t>
            </a:r>
            <a:r>
              <a:rPr sz="1643" spc="-50" dirty="0">
                <a:solidFill>
                  <a:srgbClr val="F59D0A"/>
                </a:solidFill>
                <a:latin typeface="Arial"/>
                <a:cs typeface="Arial"/>
              </a:rPr>
              <a:t> </a:t>
            </a:r>
            <a:r>
              <a:rPr sz="1643" spc="-86" dirty="0">
                <a:solidFill>
                  <a:srgbClr val="F59D0A"/>
                </a:solidFill>
                <a:latin typeface="Arial"/>
                <a:cs typeface="Arial"/>
              </a:rPr>
              <a:t>previous</a:t>
            </a:r>
            <a:r>
              <a:rPr sz="1643" spc="-43" dirty="0">
                <a:solidFill>
                  <a:srgbClr val="F59D0A"/>
                </a:solidFill>
                <a:latin typeface="Arial"/>
                <a:cs typeface="Arial"/>
              </a:rPr>
              <a:t> </a:t>
            </a:r>
            <a:r>
              <a:rPr sz="1643" spc="-36" dirty="0">
                <a:solidFill>
                  <a:srgbClr val="F59D0A"/>
                </a:solidFill>
                <a:latin typeface="Arial"/>
                <a:cs typeface="Arial"/>
              </a:rPr>
              <a:t>period</a:t>
            </a:r>
            <a:endParaRPr sz="1643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727017" y="9441081"/>
            <a:ext cx="391150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1615"/>
              </a:lnSpc>
            </a:pPr>
            <a:r>
              <a:rPr sz="1643" spc="-64" dirty="0">
                <a:solidFill>
                  <a:srgbClr val="6A7280"/>
                </a:solidFill>
                <a:latin typeface="Arial"/>
                <a:cs typeface="Arial"/>
              </a:rPr>
              <a:t>Manufacturing</a:t>
            </a:r>
            <a:r>
              <a:rPr sz="1643" spc="-1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643" spc="-79" dirty="0">
                <a:solidFill>
                  <a:srgbClr val="6A7280"/>
                </a:solidFill>
                <a:latin typeface="Arial"/>
                <a:cs typeface="Arial"/>
              </a:rPr>
              <a:t>Downtime</a:t>
            </a:r>
            <a:r>
              <a:rPr sz="1643" spc="-7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643" spc="-79" dirty="0">
                <a:solidFill>
                  <a:srgbClr val="6A7280"/>
                </a:solidFill>
                <a:latin typeface="Arial"/>
                <a:cs typeface="Arial"/>
              </a:rPr>
              <a:t>Analysis</a:t>
            </a:r>
            <a:r>
              <a:rPr sz="1643" spc="-1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6A7280"/>
                </a:solidFill>
                <a:latin typeface="Arial"/>
                <a:cs typeface="Arial"/>
              </a:rPr>
              <a:t>Dashboard</a:t>
            </a:r>
            <a:endParaRPr sz="164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69703" cy="9829800"/>
            <a:chOff x="0" y="0"/>
            <a:chExt cx="12171045" cy="9810750"/>
          </a:xfrm>
        </p:grpSpPr>
        <p:sp>
          <p:nvSpPr>
            <p:cNvPr id="3" name="object 3"/>
            <p:cNvSpPr/>
            <p:nvPr/>
          </p:nvSpPr>
          <p:spPr>
            <a:xfrm>
              <a:off x="0" y="895349"/>
              <a:ext cx="12171045" cy="8915400"/>
            </a:xfrm>
            <a:custGeom>
              <a:avLst/>
              <a:gdLst/>
              <a:ahLst/>
              <a:cxnLst/>
              <a:rect l="l" t="t" r="r" b="b"/>
              <a:pathLst>
                <a:path w="12171045" h="8915400">
                  <a:moveTo>
                    <a:pt x="0" y="8915400"/>
                  </a:moveTo>
                  <a:lnTo>
                    <a:pt x="12170664" y="8915400"/>
                  </a:lnTo>
                  <a:lnTo>
                    <a:pt x="12170664" y="0"/>
                  </a:lnTo>
                  <a:lnTo>
                    <a:pt x="0" y="0"/>
                  </a:lnTo>
                  <a:lnTo>
                    <a:pt x="0" y="891540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71045" cy="895350"/>
            </a:xfrm>
            <a:custGeom>
              <a:avLst/>
              <a:gdLst/>
              <a:ahLst/>
              <a:cxnLst/>
              <a:rect l="l" t="t" r="r" b="b"/>
              <a:pathLst>
                <a:path w="12171045" h="895350">
                  <a:moveTo>
                    <a:pt x="12170664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70664" y="0"/>
                  </a:lnTo>
                  <a:lnTo>
                    <a:pt x="12170664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82979" y="120194"/>
            <a:ext cx="14394560" cy="692641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pc="-257" dirty="0"/>
              <a:t>Primary</a:t>
            </a:r>
            <a:r>
              <a:rPr spc="-279" dirty="0"/>
              <a:t> </a:t>
            </a:r>
            <a:r>
              <a:rPr spc="-243" dirty="0"/>
              <a:t>Downtime</a:t>
            </a:r>
            <a:r>
              <a:rPr spc="-279" dirty="0"/>
              <a:t> </a:t>
            </a:r>
            <a:r>
              <a:rPr spc="-314" dirty="0"/>
              <a:t>Drivers</a:t>
            </a:r>
          </a:p>
        </p:txBody>
      </p:sp>
      <p:sp>
        <p:nvSpPr>
          <p:cNvPr id="9" name="object 9"/>
          <p:cNvSpPr/>
          <p:nvPr/>
        </p:nvSpPr>
        <p:spPr>
          <a:xfrm>
            <a:off x="33582" y="9258300"/>
            <a:ext cx="17390818" cy="13610"/>
          </a:xfrm>
          <a:custGeom>
            <a:avLst/>
            <a:gdLst/>
            <a:ahLst/>
            <a:cxnLst/>
            <a:rect l="l" t="t" r="r" b="b"/>
            <a:pathLst>
              <a:path w="12171045" h="9525">
                <a:moveTo>
                  <a:pt x="12170664" y="9525"/>
                </a:moveTo>
                <a:lnTo>
                  <a:pt x="0" y="9525"/>
                </a:lnTo>
                <a:lnTo>
                  <a:pt x="0" y="0"/>
                </a:lnTo>
                <a:lnTo>
                  <a:pt x="12170664" y="0"/>
                </a:lnTo>
                <a:lnTo>
                  <a:pt x="12170664" y="95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3290" y="1638856"/>
            <a:ext cx="7922816" cy="3379809"/>
          </a:xfrm>
          <a:custGeom>
            <a:avLst/>
            <a:gdLst/>
            <a:ahLst/>
            <a:cxnLst/>
            <a:rect l="l" t="t" r="r" b="b"/>
            <a:pathLst>
              <a:path w="5544820" h="2365375">
                <a:moveTo>
                  <a:pt x="5544311" y="2365247"/>
                </a:moveTo>
                <a:lnTo>
                  <a:pt x="0" y="2365247"/>
                </a:lnTo>
                <a:lnTo>
                  <a:pt x="0" y="0"/>
                </a:lnTo>
                <a:lnTo>
                  <a:pt x="5544311" y="0"/>
                </a:lnTo>
                <a:lnTo>
                  <a:pt x="5544311" y="54482"/>
                </a:lnTo>
                <a:lnTo>
                  <a:pt x="156971" y="54482"/>
                </a:lnTo>
                <a:lnTo>
                  <a:pt x="150403" y="54800"/>
                </a:lnTo>
                <a:lnTo>
                  <a:pt x="114694" y="69591"/>
                </a:lnTo>
                <a:lnTo>
                  <a:pt x="93151" y="101832"/>
                </a:lnTo>
                <a:lnTo>
                  <a:pt x="90296" y="121157"/>
                </a:lnTo>
                <a:lnTo>
                  <a:pt x="90296" y="2169048"/>
                </a:lnTo>
                <a:lnTo>
                  <a:pt x="101523" y="2206085"/>
                </a:lnTo>
                <a:lnTo>
                  <a:pt x="131457" y="2230617"/>
                </a:lnTo>
                <a:lnTo>
                  <a:pt x="156971" y="2235707"/>
                </a:lnTo>
                <a:lnTo>
                  <a:pt x="5544311" y="2235707"/>
                </a:lnTo>
                <a:lnTo>
                  <a:pt x="5544311" y="2365247"/>
                </a:lnTo>
                <a:close/>
              </a:path>
              <a:path w="5544820" h="2365375">
                <a:moveTo>
                  <a:pt x="5544311" y="2235707"/>
                </a:moveTo>
                <a:lnTo>
                  <a:pt x="5386212" y="2235707"/>
                </a:lnTo>
                <a:lnTo>
                  <a:pt x="5392778" y="2235388"/>
                </a:lnTo>
                <a:lnTo>
                  <a:pt x="5399219" y="2234431"/>
                </a:lnTo>
                <a:lnTo>
                  <a:pt x="5433334" y="2216170"/>
                </a:lnTo>
                <a:lnTo>
                  <a:pt x="5451595" y="2182055"/>
                </a:lnTo>
                <a:lnTo>
                  <a:pt x="5452871" y="2169048"/>
                </a:lnTo>
                <a:lnTo>
                  <a:pt x="5452871" y="121157"/>
                </a:lnTo>
                <a:lnTo>
                  <a:pt x="5441632" y="84108"/>
                </a:lnTo>
                <a:lnTo>
                  <a:pt x="5411723" y="59557"/>
                </a:lnTo>
                <a:lnTo>
                  <a:pt x="5386212" y="54482"/>
                </a:lnTo>
                <a:lnTo>
                  <a:pt x="5544311" y="54482"/>
                </a:lnTo>
                <a:lnTo>
                  <a:pt x="5544311" y="2235707"/>
                </a:lnTo>
                <a:close/>
              </a:path>
            </a:pathLst>
          </a:custGeom>
          <a:solidFill>
            <a:srgbClr val="000000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8704" y="1703094"/>
            <a:ext cx="7689632" cy="3143903"/>
          </a:xfrm>
          <a:custGeom>
            <a:avLst/>
            <a:gdLst/>
            <a:ahLst/>
            <a:cxnLst/>
            <a:rect l="l" t="t" r="r" b="b"/>
            <a:pathLst>
              <a:path w="5381625" h="2200275">
                <a:moveTo>
                  <a:pt x="5310425" y="2200275"/>
                </a:moveTo>
                <a:lnTo>
                  <a:pt x="71196" y="2200275"/>
                </a:lnTo>
                <a:lnTo>
                  <a:pt x="66241" y="2199789"/>
                </a:lnTo>
                <a:lnTo>
                  <a:pt x="29705" y="2184654"/>
                </a:lnTo>
                <a:lnTo>
                  <a:pt x="3885" y="2148611"/>
                </a:lnTo>
                <a:lnTo>
                  <a:pt x="0" y="2129075"/>
                </a:lnTo>
                <a:lnTo>
                  <a:pt x="0" y="2124075"/>
                </a:lnTo>
                <a:lnTo>
                  <a:pt x="0" y="71199"/>
                </a:lnTo>
                <a:lnTo>
                  <a:pt x="15621" y="29708"/>
                </a:lnTo>
                <a:lnTo>
                  <a:pt x="51661" y="3886"/>
                </a:lnTo>
                <a:lnTo>
                  <a:pt x="71196" y="0"/>
                </a:lnTo>
                <a:lnTo>
                  <a:pt x="5310425" y="0"/>
                </a:lnTo>
                <a:lnTo>
                  <a:pt x="5351916" y="15620"/>
                </a:lnTo>
                <a:lnTo>
                  <a:pt x="5377738" y="51663"/>
                </a:lnTo>
                <a:lnTo>
                  <a:pt x="5381625" y="71199"/>
                </a:lnTo>
                <a:lnTo>
                  <a:pt x="5381625" y="2129075"/>
                </a:lnTo>
                <a:lnTo>
                  <a:pt x="5366004" y="2170566"/>
                </a:lnTo>
                <a:lnTo>
                  <a:pt x="5329961" y="2196388"/>
                </a:lnTo>
                <a:lnTo>
                  <a:pt x="5315388" y="2199789"/>
                </a:lnTo>
                <a:lnTo>
                  <a:pt x="5310425" y="22002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98953" y="2043343"/>
            <a:ext cx="653278" cy="653279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200"/>
                </a:moveTo>
                <a:lnTo>
                  <a:pt x="221113" y="457200"/>
                </a:lnTo>
                <a:lnTo>
                  <a:pt x="213645" y="456828"/>
                </a:lnTo>
                <a:lnTo>
                  <a:pt x="169402" y="449532"/>
                </a:lnTo>
                <a:lnTo>
                  <a:pt x="127441" y="433739"/>
                </a:lnTo>
                <a:lnTo>
                  <a:pt x="89365" y="410060"/>
                </a:lnTo>
                <a:lnTo>
                  <a:pt x="56639" y="379409"/>
                </a:lnTo>
                <a:lnTo>
                  <a:pt x="30521" y="342966"/>
                </a:lnTo>
                <a:lnTo>
                  <a:pt x="12016" y="302123"/>
                </a:lnTo>
                <a:lnTo>
                  <a:pt x="1834" y="258460"/>
                </a:lnTo>
                <a:lnTo>
                  <a:pt x="0" y="236086"/>
                </a:lnTo>
                <a:lnTo>
                  <a:pt x="0" y="221113"/>
                </a:lnTo>
                <a:lnTo>
                  <a:pt x="5853" y="176660"/>
                </a:lnTo>
                <a:lnTo>
                  <a:pt x="20266" y="134197"/>
                </a:lnTo>
                <a:lnTo>
                  <a:pt x="42685" y="95373"/>
                </a:lnTo>
                <a:lnTo>
                  <a:pt x="72249" y="61664"/>
                </a:lnTo>
                <a:lnTo>
                  <a:pt x="107822" y="34366"/>
                </a:lnTo>
                <a:lnTo>
                  <a:pt x="148037" y="14535"/>
                </a:lnTo>
                <a:lnTo>
                  <a:pt x="191347" y="2933"/>
                </a:lnTo>
                <a:lnTo>
                  <a:pt x="221113" y="0"/>
                </a:lnTo>
                <a:lnTo>
                  <a:pt x="236086" y="0"/>
                </a:lnTo>
                <a:lnTo>
                  <a:pt x="280539" y="5857"/>
                </a:lnTo>
                <a:lnTo>
                  <a:pt x="323002" y="20269"/>
                </a:lnTo>
                <a:lnTo>
                  <a:pt x="361826" y="42681"/>
                </a:lnTo>
                <a:lnTo>
                  <a:pt x="395535" y="72247"/>
                </a:lnTo>
                <a:lnTo>
                  <a:pt x="422833" y="107823"/>
                </a:lnTo>
                <a:lnTo>
                  <a:pt x="442664" y="148037"/>
                </a:lnTo>
                <a:lnTo>
                  <a:pt x="454266" y="191347"/>
                </a:lnTo>
                <a:lnTo>
                  <a:pt x="457200" y="221113"/>
                </a:lnTo>
                <a:lnTo>
                  <a:pt x="457200" y="228600"/>
                </a:lnTo>
                <a:lnTo>
                  <a:pt x="457200" y="236086"/>
                </a:lnTo>
                <a:lnTo>
                  <a:pt x="451342" y="280539"/>
                </a:lnTo>
                <a:lnTo>
                  <a:pt x="436930" y="323002"/>
                </a:lnTo>
                <a:lnTo>
                  <a:pt x="414518" y="361826"/>
                </a:lnTo>
                <a:lnTo>
                  <a:pt x="384952" y="395535"/>
                </a:lnTo>
                <a:lnTo>
                  <a:pt x="349377" y="422833"/>
                </a:lnTo>
                <a:lnTo>
                  <a:pt x="309162" y="442664"/>
                </a:lnTo>
                <a:lnTo>
                  <a:pt x="265852" y="454266"/>
                </a:lnTo>
                <a:lnTo>
                  <a:pt x="243554" y="456828"/>
                </a:lnTo>
                <a:lnTo>
                  <a:pt x="236086" y="457200"/>
                </a:lnTo>
                <a:close/>
              </a:path>
            </a:pathLst>
          </a:custGeom>
          <a:solidFill>
            <a:srgbClr val="E4EF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736" y="2202126"/>
            <a:ext cx="331176" cy="33117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820254" y="2174682"/>
            <a:ext cx="2306436" cy="348094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143" spc="-114" dirty="0">
                <a:solidFill>
                  <a:srgbClr val="4A5462"/>
                </a:solidFill>
                <a:latin typeface="Arial"/>
                <a:cs typeface="Arial"/>
              </a:rPr>
              <a:t>Machine</a:t>
            </a:r>
            <a:r>
              <a:rPr sz="21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71" dirty="0">
                <a:solidFill>
                  <a:srgbClr val="4A5462"/>
                </a:solidFill>
                <a:latin typeface="Arial"/>
                <a:cs typeface="Arial"/>
              </a:rPr>
              <a:t>Adjustment</a:t>
            </a:r>
            <a:endParaRPr sz="2143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0810" y="2518873"/>
            <a:ext cx="2251089" cy="1533697"/>
          </a:xfrm>
          <a:prstGeom prst="rect">
            <a:avLst/>
          </a:prstGeom>
        </p:spPr>
        <p:txBody>
          <a:bodyPr vert="horz" wrap="square" lIns="0" tIns="295790" rIns="0" bIns="0" rtlCol="0">
            <a:spAutoFit/>
          </a:bodyPr>
          <a:lstStyle/>
          <a:p>
            <a:pPr marL="18151">
              <a:spcBef>
                <a:spcPts val="2329"/>
              </a:spcBef>
            </a:pPr>
            <a:r>
              <a:rPr sz="5501" b="1" spc="-36" dirty="0">
                <a:solidFill>
                  <a:srgbClr val="0078D4"/>
                </a:solidFill>
                <a:latin typeface="Gill Sans MT"/>
                <a:cs typeface="Gill Sans MT"/>
              </a:rPr>
              <a:t>#1</a:t>
            </a:r>
            <a:endParaRPr sz="5501">
              <a:latin typeface="Gill Sans MT"/>
              <a:cs typeface="Gill Sans MT"/>
            </a:endParaRPr>
          </a:p>
          <a:p>
            <a:pPr marL="18151">
              <a:spcBef>
                <a:spcPts val="793"/>
              </a:spcBef>
            </a:pPr>
            <a:r>
              <a:rPr sz="1858" spc="-93" dirty="0">
                <a:solidFill>
                  <a:srgbClr val="6A7280"/>
                </a:solidFill>
                <a:latin typeface="Tahoma"/>
                <a:cs typeface="Tahoma"/>
              </a:rPr>
              <a:t>Top</a:t>
            </a:r>
            <a:r>
              <a:rPr sz="1858" spc="-64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858" spc="-71" dirty="0">
                <a:solidFill>
                  <a:srgbClr val="6A7280"/>
                </a:solidFill>
                <a:latin typeface="Tahoma"/>
                <a:cs typeface="Tahoma"/>
              </a:rPr>
              <a:t>contributing</a:t>
            </a:r>
            <a:r>
              <a:rPr sz="1858" spc="-57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858" spc="-14" dirty="0">
                <a:solidFill>
                  <a:srgbClr val="6A7280"/>
                </a:solidFill>
                <a:latin typeface="Tahoma"/>
                <a:cs typeface="Tahoma"/>
              </a:rPr>
              <a:t>factor</a:t>
            </a:r>
            <a:endParaRPr sz="1858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8948" y="4279909"/>
            <a:ext cx="145173" cy="17239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278146" y="4195053"/>
            <a:ext cx="2547786" cy="27389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1643" spc="-71" dirty="0">
                <a:solidFill>
                  <a:srgbClr val="EF4444"/>
                </a:solidFill>
                <a:latin typeface="Arial"/>
                <a:cs typeface="Arial"/>
              </a:rPr>
              <a:t>Highest</a:t>
            </a:r>
            <a:r>
              <a:rPr sz="1643" spc="-50" dirty="0">
                <a:solidFill>
                  <a:srgbClr val="EF4444"/>
                </a:solidFill>
                <a:latin typeface="Arial"/>
                <a:cs typeface="Arial"/>
              </a:rPr>
              <a:t> impact </a:t>
            </a:r>
            <a:r>
              <a:rPr sz="1643" spc="-86" dirty="0">
                <a:solidFill>
                  <a:srgbClr val="EF4444"/>
                </a:solidFill>
                <a:latin typeface="Arial"/>
                <a:cs typeface="Arial"/>
              </a:rPr>
              <a:t>on</a:t>
            </a:r>
            <a:r>
              <a:rPr sz="1643" spc="-50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43" dirty="0">
                <a:solidFill>
                  <a:srgbClr val="EF4444"/>
                </a:solidFill>
                <a:latin typeface="Arial"/>
                <a:cs typeface="Arial"/>
              </a:rPr>
              <a:t>production</a:t>
            </a:r>
            <a:endParaRPr sz="1643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739583" y="1638851"/>
            <a:ext cx="7922817" cy="3379809"/>
            <a:chOff x="6156959" y="1231392"/>
            <a:chExt cx="5544820" cy="2365375"/>
          </a:xfrm>
        </p:grpSpPr>
        <p:sp>
          <p:nvSpPr>
            <p:cNvPr id="19" name="object 19"/>
            <p:cNvSpPr/>
            <p:nvPr/>
          </p:nvSpPr>
          <p:spPr>
            <a:xfrm>
              <a:off x="6156959" y="1231392"/>
              <a:ext cx="5544820" cy="2365375"/>
            </a:xfrm>
            <a:custGeom>
              <a:avLst/>
              <a:gdLst/>
              <a:ahLst/>
              <a:cxnLst/>
              <a:rect l="l" t="t" r="r" b="b"/>
              <a:pathLst>
                <a:path w="5544820" h="2365375">
                  <a:moveTo>
                    <a:pt x="5544311" y="2365247"/>
                  </a:moveTo>
                  <a:lnTo>
                    <a:pt x="0" y="2365247"/>
                  </a:lnTo>
                  <a:lnTo>
                    <a:pt x="0" y="0"/>
                  </a:lnTo>
                  <a:lnTo>
                    <a:pt x="5544311" y="0"/>
                  </a:lnTo>
                  <a:lnTo>
                    <a:pt x="5544311" y="54482"/>
                  </a:lnTo>
                  <a:lnTo>
                    <a:pt x="158130" y="54482"/>
                  </a:lnTo>
                  <a:lnTo>
                    <a:pt x="151546" y="54800"/>
                  </a:lnTo>
                  <a:lnTo>
                    <a:pt x="115841" y="69591"/>
                  </a:lnTo>
                  <a:lnTo>
                    <a:pt x="94281" y="101832"/>
                  </a:lnTo>
                  <a:lnTo>
                    <a:pt x="91439" y="121157"/>
                  </a:lnTo>
                  <a:lnTo>
                    <a:pt x="91439" y="2169048"/>
                  </a:lnTo>
                  <a:lnTo>
                    <a:pt x="102664" y="2206085"/>
                  </a:lnTo>
                  <a:lnTo>
                    <a:pt x="132587" y="2230617"/>
                  </a:lnTo>
                  <a:lnTo>
                    <a:pt x="158130" y="2235707"/>
                  </a:lnTo>
                  <a:lnTo>
                    <a:pt x="5544311" y="2235707"/>
                  </a:lnTo>
                  <a:lnTo>
                    <a:pt x="5544311" y="2365247"/>
                  </a:lnTo>
                  <a:close/>
                </a:path>
                <a:path w="5544820" h="2365375">
                  <a:moveTo>
                    <a:pt x="5544311" y="2235707"/>
                  </a:moveTo>
                  <a:lnTo>
                    <a:pt x="5387339" y="2235707"/>
                  </a:lnTo>
                  <a:lnTo>
                    <a:pt x="5393906" y="2235388"/>
                  </a:lnTo>
                  <a:lnTo>
                    <a:pt x="5400347" y="2234431"/>
                  </a:lnTo>
                  <a:lnTo>
                    <a:pt x="5434492" y="2216170"/>
                  </a:lnTo>
                  <a:lnTo>
                    <a:pt x="5452742" y="2182055"/>
                  </a:lnTo>
                  <a:lnTo>
                    <a:pt x="5454030" y="2169048"/>
                  </a:lnTo>
                  <a:lnTo>
                    <a:pt x="5454030" y="121157"/>
                  </a:lnTo>
                  <a:lnTo>
                    <a:pt x="5442790" y="84108"/>
                  </a:lnTo>
                  <a:lnTo>
                    <a:pt x="5412851" y="59557"/>
                  </a:lnTo>
                  <a:lnTo>
                    <a:pt x="5387339" y="54482"/>
                  </a:lnTo>
                  <a:lnTo>
                    <a:pt x="5544311" y="54482"/>
                  </a:lnTo>
                  <a:lnTo>
                    <a:pt x="5544311" y="223570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38875" y="1276349"/>
              <a:ext cx="5381625" cy="2200275"/>
            </a:xfrm>
            <a:custGeom>
              <a:avLst/>
              <a:gdLst/>
              <a:ahLst/>
              <a:cxnLst/>
              <a:rect l="l" t="t" r="r" b="b"/>
              <a:pathLst>
                <a:path w="5381625" h="2200275">
                  <a:moveTo>
                    <a:pt x="5310473" y="2200275"/>
                  </a:moveTo>
                  <a:lnTo>
                    <a:pt x="71199" y="2200275"/>
                  </a:lnTo>
                  <a:lnTo>
                    <a:pt x="66236" y="2199789"/>
                  </a:lnTo>
                  <a:lnTo>
                    <a:pt x="29708" y="2184654"/>
                  </a:lnTo>
                  <a:lnTo>
                    <a:pt x="3886" y="2148611"/>
                  </a:lnTo>
                  <a:lnTo>
                    <a:pt x="0" y="2129075"/>
                  </a:lnTo>
                  <a:lnTo>
                    <a:pt x="0" y="212407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5310473" y="0"/>
                  </a:lnTo>
                  <a:lnTo>
                    <a:pt x="5351907" y="15620"/>
                  </a:lnTo>
                  <a:lnTo>
                    <a:pt x="5377719" y="51663"/>
                  </a:lnTo>
                  <a:lnTo>
                    <a:pt x="5381625" y="71199"/>
                  </a:lnTo>
                  <a:lnTo>
                    <a:pt x="5381625" y="2129075"/>
                  </a:lnTo>
                  <a:lnTo>
                    <a:pt x="5366004" y="2170566"/>
                  </a:lnTo>
                  <a:lnTo>
                    <a:pt x="5329999" y="2196388"/>
                  </a:lnTo>
                  <a:lnTo>
                    <a:pt x="5315426" y="2199789"/>
                  </a:lnTo>
                  <a:lnTo>
                    <a:pt x="5310473" y="2200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77000" y="15144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200"/>
                  </a:moveTo>
                  <a:lnTo>
                    <a:pt x="221113" y="457200"/>
                  </a:lnTo>
                  <a:lnTo>
                    <a:pt x="213645" y="456828"/>
                  </a:lnTo>
                  <a:lnTo>
                    <a:pt x="169402" y="449532"/>
                  </a:lnTo>
                  <a:lnTo>
                    <a:pt x="127444" y="433739"/>
                  </a:lnTo>
                  <a:lnTo>
                    <a:pt x="89363" y="410060"/>
                  </a:lnTo>
                  <a:lnTo>
                    <a:pt x="56635" y="379409"/>
                  </a:lnTo>
                  <a:lnTo>
                    <a:pt x="30518" y="342966"/>
                  </a:lnTo>
                  <a:lnTo>
                    <a:pt x="12020" y="302123"/>
                  </a:lnTo>
                  <a:lnTo>
                    <a:pt x="1838" y="258460"/>
                  </a:lnTo>
                  <a:lnTo>
                    <a:pt x="0" y="236086"/>
                  </a:lnTo>
                  <a:lnTo>
                    <a:pt x="0" y="221113"/>
                  </a:lnTo>
                  <a:lnTo>
                    <a:pt x="5848" y="176660"/>
                  </a:lnTo>
                  <a:lnTo>
                    <a:pt x="20269" y="134197"/>
                  </a:lnTo>
                  <a:lnTo>
                    <a:pt x="42681" y="95373"/>
                  </a:lnTo>
                  <a:lnTo>
                    <a:pt x="72247" y="61664"/>
                  </a:lnTo>
                  <a:lnTo>
                    <a:pt x="107823" y="34366"/>
                  </a:lnTo>
                  <a:lnTo>
                    <a:pt x="148037" y="14535"/>
                  </a:lnTo>
                  <a:lnTo>
                    <a:pt x="191347" y="2933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39" y="5857"/>
                  </a:lnTo>
                  <a:lnTo>
                    <a:pt x="323002" y="20269"/>
                  </a:lnTo>
                  <a:lnTo>
                    <a:pt x="361826" y="42681"/>
                  </a:lnTo>
                  <a:lnTo>
                    <a:pt x="395535" y="72247"/>
                  </a:lnTo>
                  <a:lnTo>
                    <a:pt x="422833" y="107823"/>
                  </a:lnTo>
                  <a:lnTo>
                    <a:pt x="442664" y="148037"/>
                  </a:lnTo>
                  <a:lnTo>
                    <a:pt x="454266" y="191347"/>
                  </a:lnTo>
                  <a:lnTo>
                    <a:pt x="457200" y="221113"/>
                  </a:lnTo>
                  <a:lnTo>
                    <a:pt x="457200" y="228600"/>
                  </a:lnTo>
                  <a:lnTo>
                    <a:pt x="457200" y="236086"/>
                  </a:lnTo>
                  <a:lnTo>
                    <a:pt x="451342" y="280539"/>
                  </a:lnTo>
                  <a:lnTo>
                    <a:pt x="436930" y="323002"/>
                  </a:lnTo>
                  <a:lnTo>
                    <a:pt x="414508" y="361826"/>
                  </a:lnTo>
                  <a:lnTo>
                    <a:pt x="384952" y="395535"/>
                  </a:lnTo>
                  <a:lnTo>
                    <a:pt x="349377" y="422833"/>
                  </a:lnTo>
                  <a:lnTo>
                    <a:pt x="309162" y="442664"/>
                  </a:lnTo>
                  <a:lnTo>
                    <a:pt x="265852" y="454266"/>
                  </a:lnTo>
                  <a:lnTo>
                    <a:pt x="243554" y="456828"/>
                  </a:lnTo>
                  <a:lnTo>
                    <a:pt x="236086" y="457200"/>
                  </a:lnTo>
                  <a:close/>
                </a:path>
              </a:pathLst>
            </a:custGeom>
            <a:solidFill>
              <a:srgbClr val="E4E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91300" y="1628774"/>
              <a:ext cx="228600" cy="2286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4446882" y="2174682"/>
            <a:ext cx="1777462" cy="348094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143" spc="-114" dirty="0">
                <a:solidFill>
                  <a:srgbClr val="4A5462"/>
                </a:solidFill>
                <a:latin typeface="Arial"/>
                <a:cs typeface="Arial"/>
              </a:rPr>
              <a:t>Machine</a:t>
            </a:r>
            <a:r>
              <a:rPr sz="21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100" dirty="0">
                <a:solidFill>
                  <a:srgbClr val="4A5462"/>
                </a:solidFill>
                <a:latin typeface="Arial"/>
                <a:cs typeface="Arial"/>
              </a:rPr>
              <a:t>Failure</a:t>
            </a:r>
            <a:endParaRPr sz="2143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78738" y="2518873"/>
            <a:ext cx="1893600" cy="1533697"/>
          </a:xfrm>
          <a:prstGeom prst="rect">
            <a:avLst/>
          </a:prstGeom>
        </p:spPr>
        <p:txBody>
          <a:bodyPr vert="horz" wrap="square" lIns="0" tIns="295790" rIns="0" bIns="0" rtlCol="0">
            <a:spAutoFit/>
          </a:bodyPr>
          <a:lstStyle/>
          <a:p>
            <a:pPr marL="18151">
              <a:spcBef>
                <a:spcPts val="2329"/>
              </a:spcBef>
            </a:pPr>
            <a:r>
              <a:rPr sz="5501" b="1" spc="-36" dirty="0">
                <a:solidFill>
                  <a:srgbClr val="0078D4"/>
                </a:solidFill>
                <a:latin typeface="Gill Sans MT"/>
                <a:cs typeface="Gill Sans MT"/>
              </a:rPr>
              <a:t>254</a:t>
            </a:r>
            <a:endParaRPr sz="5501">
              <a:latin typeface="Gill Sans MT"/>
              <a:cs typeface="Gill Sans MT"/>
            </a:endParaRPr>
          </a:p>
          <a:p>
            <a:pPr marL="18151">
              <a:spcBef>
                <a:spcPts val="793"/>
              </a:spcBef>
            </a:pPr>
            <a:r>
              <a:rPr sz="1858" spc="-71" dirty="0">
                <a:solidFill>
                  <a:srgbClr val="6A7280"/>
                </a:solidFill>
                <a:latin typeface="Tahoma"/>
                <a:cs typeface="Tahoma"/>
              </a:rPr>
              <a:t>Recorded</a:t>
            </a:r>
            <a:r>
              <a:rPr sz="1858" spc="-93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858" spc="-29" dirty="0">
                <a:solidFill>
                  <a:srgbClr val="6A7280"/>
                </a:solidFill>
                <a:latin typeface="Tahoma"/>
                <a:cs typeface="Tahoma"/>
              </a:rPr>
              <a:t>incidents</a:t>
            </a:r>
            <a:endParaRPr sz="1858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96880" y="4279909"/>
            <a:ext cx="145173" cy="172393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9376083" y="4195053"/>
            <a:ext cx="2961528" cy="27389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1643" spc="-107" dirty="0">
                <a:solidFill>
                  <a:srgbClr val="EF4444"/>
                </a:solidFill>
                <a:latin typeface="Arial"/>
                <a:cs typeface="Arial"/>
              </a:rPr>
              <a:t>Second</a:t>
            </a:r>
            <a:r>
              <a:rPr sz="1643" spc="-43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EF4444"/>
                </a:solidFill>
                <a:latin typeface="Arial"/>
                <a:cs typeface="Arial"/>
              </a:rPr>
              <a:t>highest</a:t>
            </a:r>
            <a:r>
              <a:rPr sz="1643" spc="-43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50" dirty="0">
                <a:solidFill>
                  <a:srgbClr val="EF4444"/>
                </a:solidFill>
                <a:latin typeface="Arial"/>
                <a:cs typeface="Arial"/>
              </a:rPr>
              <a:t>contributing</a:t>
            </a:r>
            <a:r>
              <a:rPr sz="1643" spc="-43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14" dirty="0">
                <a:solidFill>
                  <a:srgbClr val="EF4444"/>
                </a:solidFill>
                <a:latin typeface="Arial"/>
                <a:cs typeface="Arial"/>
              </a:rPr>
              <a:t>factor</a:t>
            </a:r>
            <a:endParaRPr sz="1643" dirty="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43285" y="5192691"/>
            <a:ext cx="7922817" cy="3379809"/>
            <a:chOff x="490727" y="3718560"/>
            <a:chExt cx="5544820" cy="2365375"/>
          </a:xfrm>
        </p:grpSpPr>
        <p:sp>
          <p:nvSpPr>
            <p:cNvPr id="28" name="object 28"/>
            <p:cNvSpPr/>
            <p:nvPr/>
          </p:nvSpPr>
          <p:spPr>
            <a:xfrm>
              <a:off x="490727" y="3718560"/>
              <a:ext cx="5544820" cy="2365375"/>
            </a:xfrm>
            <a:custGeom>
              <a:avLst/>
              <a:gdLst/>
              <a:ahLst/>
              <a:cxnLst/>
              <a:rect l="l" t="t" r="r" b="b"/>
              <a:pathLst>
                <a:path w="5544820" h="2365375">
                  <a:moveTo>
                    <a:pt x="5544311" y="2365247"/>
                  </a:moveTo>
                  <a:lnTo>
                    <a:pt x="0" y="2365247"/>
                  </a:lnTo>
                  <a:lnTo>
                    <a:pt x="0" y="0"/>
                  </a:lnTo>
                  <a:lnTo>
                    <a:pt x="5544311" y="0"/>
                  </a:lnTo>
                  <a:lnTo>
                    <a:pt x="5544311" y="53339"/>
                  </a:lnTo>
                  <a:lnTo>
                    <a:pt x="156971" y="53339"/>
                  </a:lnTo>
                  <a:lnTo>
                    <a:pt x="150403" y="53659"/>
                  </a:lnTo>
                  <a:lnTo>
                    <a:pt x="114694" y="68459"/>
                  </a:lnTo>
                  <a:lnTo>
                    <a:pt x="93151" y="100677"/>
                  </a:lnTo>
                  <a:lnTo>
                    <a:pt x="90296" y="119999"/>
                  </a:lnTo>
                  <a:lnTo>
                    <a:pt x="90296" y="2167889"/>
                  </a:lnTo>
                  <a:lnTo>
                    <a:pt x="101523" y="2204942"/>
                  </a:lnTo>
                  <a:lnTo>
                    <a:pt x="131457" y="2229490"/>
                  </a:lnTo>
                  <a:lnTo>
                    <a:pt x="156971" y="2234549"/>
                  </a:lnTo>
                  <a:lnTo>
                    <a:pt x="5544311" y="2234549"/>
                  </a:lnTo>
                  <a:lnTo>
                    <a:pt x="5544311" y="2365247"/>
                  </a:lnTo>
                  <a:close/>
                </a:path>
                <a:path w="5544820" h="2365375">
                  <a:moveTo>
                    <a:pt x="5544311" y="2234549"/>
                  </a:moveTo>
                  <a:lnTo>
                    <a:pt x="5386212" y="2234549"/>
                  </a:lnTo>
                  <a:lnTo>
                    <a:pt x="5392778" y="2234234"/>
                  </a:lnTo>
                  <a:lnTo>
                    <a:pt x="5399219" y="2233288"/>
                  </a:lnTo>
                  <a:lnTo>
                    <a:pt x="5433334" y="2215042"/>
                  </a:lnTo>
                  <a:lnTo>
                    <a:pt x="5451595" y="2180897"/>
                  </a:lnTo>
                  <a:lnTo>
                    <a:pt x="5452871" y="2167889"/>
                  </a:lnTo>
                  <a:lnTo>
                    <a:pt x="5452871" y="119999"/>
                  </a:lnTo>
                  <a:lnTo>
                    <a:pt x="5441632" y="82962"/>
                  </a:lnTo>
                  <a:lnTo>
                    <a:pt x="5411723" y="58430"/>
                  </a:lnTo>
                  <a:lnTo>
                    <a:pt x="5386212" y="53339"/>
                  </a:lnTo>
                  <a:lnTo>
                    <a:pt x="5544311" y="53339"/>
                  </a:lnTo>
                  <a:lnTo>
                    <a:pt x="5544311" y="223454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1500" y="3762375"/>
              <a:ext cx="5381625" cy="2200275"/>
            </a:xfrm>
            <a:custGeom>
              <a:avLst/>
              <a:gdLst/>
              <a:ahLst/>
              <a:cxnLst/>
              <a:rect l="l" t="t" r="r" b="b"/>
              <a:pathLst>
                <a:path w="5381625" h="2200275">
                  <a:moveTo>
                    <a:pt x="5310425" y="2200275"/>
                  </a:moveTo>
                  <a:lnTo>
                    <a:pt x="71196" y="2200275"/>
                  </a:lnTo>
                  <a:lnTo>
                    <a:pt x="66241" y="2199789"/>
                  </a:lnTo>
                  <a:lnTo>
                    <a:pt x="29705" y="2184654"/>
                  </a:lnTo>
                  <a:lnTo>
                    <a:pt x="3885" y="2148611"/>
                  </a:lnTo>
                  <a:lnTo>
                    <a:pt x="0" y="2129075"/>
                  </a:lnTo>
                  <a:lnTo>
                    <a:pt x="0" y="212407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1" y="3886"/>
                  </a:lnTo>
                  <a:lnTo>
                    <a:pt x="71196" y="0"/>
                  </a:lnTo>
                  <a:lnTo>
                    <a:pt x="5310425" y="0"/>
                  </a:lnTo>
                  <a:lnTo>
                    <a:pt x="5351916" y="15621"/>
                  </a:lnTo>
                  <a:lnTo>
                    <a:pt x="5377738" y="51663"/>
                  </a:lnTo>
                  <a:lnTo>
                    <a:pt x="5381625" y="71199"/>
                  </a:lnTo>
                  <a:lnTo>
                    <a:pt x="5381625" y="2129075"/>
                  </a:lnTo>
                  <a:lnTo>
                    <a:pt x="5366004" y="2170566"/>
                  </a:lnTo>
                  <a:lnTo>
                    <a:pt x="5329961" y="2196388"/>
                  </a:lnTo>
                  <a:lnTo>
                    <a:pt x="5315388" y="2199789"/>
                  </a:lnTo>
                  <a:lnTo>
                    <a:pt x="5310425" y="2200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9625" y="4000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200"/>
                  </a:moveTo>
                  <a:lnTo>
                    <a:pt x="221113" y="457200"/>
                  </a:lnTo>
                  <a:lnTo>
                    <a:pt x="213645" y="456828"/>
                  </a:lnTo>
                  <a:lnTo>
                    <a:pt x="169402" y="449532"/>
                  </a:lnTo>
                  <a:lnTo>
                    <a:pt x="127441" y="433739"/>
                  </a:lnTo>
                  <a:lnTo>
                    <a:pt x="89365" y="410060"/>
                  </a:lnTo>
                  <a:lnTo>
                    <a:pt x="56639" y="379409"/>
                  </a:lnTo>
                  <a:lnTo>
                    <a:pt x="30521" y="342966"/>
                  </a:lnTo>
                  <a:lnTo>
                    <a:pt x="12016" y="302123"/>
                  </a:lnTo>
                  <a:lnTo>
                    <a:pt x="1834" y="258460"/>
                  </a:lnTo>
                  <a:lnTo>
                    <a:pt x="0" y="236086"/>
                  </a:lnTo>
                  <a:lnTo>
                    <a:pt x="0" y="221113"/>
                  </a:lnTo>
                  <a:lnTo>
                    <a:pt x="5853" y="176660"/>
                  </a:lnTo>
                  <a:lnTo>
                    <a:pt x="20266" y="134197"/>
                  </a:lnTo>
                  <a:lnTo>
                    <a:pt x="42685" y="95373"/>
                  </a:lnTo>
                  <a:lnTo>
                    <a:pt x="72249" y="61664"/>
                  </a:lnTo>
                  <a:lnTo>
                    <a:pt x="107822" y="34366"/>
                  </a:lnTo>
                  <a:lnTo>
                    <a:pt x="148037" y="14535"/>
                  </a:lnTo>
                  <a:lnTo>
                    <a:pt x="191347" y="2933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39" y="5857"/>
                  </a:lnTo>
                  <a:lnTo>
                    <a:pt x="323002" y="20269"/>
                  </a:lnTo>
                  <a:lnTo>
                    <a:pt x="361826" y="42681"/>
                  </a:lnTo>
                  <a:lnTo>
                    <a:pt x="395535" y="72247"/>
                  </a:lnTo>
                  <a:lnTo>
                    <a:pt x="422833" y="107823"/>
                  </a:lnTo>
                  <a:lnTo>
                    <a:pt x="442664" y="148037"/>
                  </a:lnTo>
                  <a:lnTo>
                    <a:pt x="454266" y="191347"/>
                  </a:lnTo>
                  <a:lnTo>
                    <a:pt x="457200" y="221113"/>
                  </a:lnTo>
                  <a:lnTo>
                    <a:pt x="457200" y="228600"/>
                  </a:lnTo>
                  <a:lnTo>
                    <a:pt x="457200" y="236086"/>
                  </a:lnTo>
                  <a:lnTo>
                    <a:pt x="451342" y="280539"/>
                  </a:lnTo>
                  <a:lnTo>
                    <a:pt x="436930" y="323002"/>
                  </a:lnTo>
                  <a:lnTo>
                    <a:pt x="414518" y="361826"/>
                  </a:lnTo>
                  <a:lnTo>
                    <a:pt x="384952" y="395535"/>
                  </a:lnTo>
                  <a:lnTo>
                    <a:pt x="349377" y="422833"/>
                  </a:lnTo>
                  <a:lnTo>
                    <a:pt x="309162" y="442664"/>
                  </a:lnTo>
                  <a:lnTo>
                    <a:pt x="265852" y="454266"/>
                  </a:lnTo>
                  <a:lnTo>
                    <a:pt x="243554" y="456828"/>
                  </a:lnTo>
                  <a:lnTo>
                    <a:pt x="236086" y="457200"/>
                  </a:lnTo>
                  <a:close/>
                </a:path>
              </a:pathLst>
            </a:custGeom>
            <a:solidFill>
              <a:srgbClr val="E4E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9637" y="4114800"/>
              <a:ext cx="257175" cy="2286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009314" y="5726881"/>
            <a:ext cx="2116804" cy="348094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143" spc="-100" dirty="0">
                <a:solidFill>
                  <a:srgbClr val="4A5462"/>
                </a:solidFill>
                <a:latin typeface="Arial"/>
                <a:cs typeface="Arial"/>
              </a:rPr>
              <a:t>Inventory</a:t>
            </a:r>
            <a:r>
              <a:rPr sz="21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100" dirty="0">
                <a:solidFill>
                  <a:srgbClr val="4A5462"/>
                </a:solidFill>
                <a:latin typeface="Arial"/>
                <a:cs typeface="Arial"/>
              </a:rPr>
              <a:t>Shortage</a:t>
            </a:r>
            <a:endParaRPr sz="2143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80802" y="6071075"/>
            <a:ext cx="2331841" cy="1533697"/>
          </a:xfrm>
          <a:prstGeom prst="rect">
            <a:avLst/>
          </a:prstGeom>
        </p:spPr>
        <p:txBody>
          <a:bodyPr vert="horz" wrap="square" lIns="0" tIns="295790" rIns="0" bIns="0" rtlCol="0">
            <a:spAutoFit/>
          </a:bodyPr>
          <a:lstStyle/>
          <a:p>
            <a:pPr marL="18151">
              <a:spcBef>
                <a:spcPts val="2329"/>
              </a:spcBef>
            </a:pPr>
            <a:r>
              <a:rPr sz="5501" b="1" spc="-36" dirty="0">
                <a:solidFill>
                  <a:srgbClr val="0078D4"/>
                </a:solidFill>
                <a:latin typeface="Gill Sans MT"/>
                <a:cs typeface="Gill Sans MT"/>
              </a:rPr>
              <a:t>225</a:t>
            </a:r>
            <a:endParaRPr sz="5501">
              <a:latin typeface="Gill Sans MT"/>
              <a:cs typeface="Gill Sans MT"/>
            </a:endParaRPr>
          </a:p>
          <a:p>
            <a:pPr marL="18151">
              <a:spcBef>
                <a:spcPts val="793"/>
              </a:spcBef>
            </a:pPr>
            <a:r>
              <a:rPr sz="1858" spc="-50" dirty="0">
                <a:solidFill>
                  <a:srgbClr val="6A7280"/>
                </a:solidFill>
                <a:latin typeface="Tahoma"/>
                <a:cs typeface="Tahoma"/>
              </a:rPr>
              <a:t>Material</a:t>
            </a:r>
            <a:r>
              <a:rPr sz="1858" spc="-71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858" spc="-79" dirty="0">
                <a:solidFill>
                  <a:srgbClr val="6A7280"/>
                </a:solidFill>
                <a:latin typeface="Tahoma"/>
                <a:cs typeface="Tahoma"/>
              </a:rPr>
              <a:t>delay</a:t>
            </a:r>
            <a:r>
              <a:rPr sz="1858" spc="-64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858" spc="-36" dirty="0">
                <a:solidFill>
                  <a:srgbClr val="6A7280"/>
                </a:solidFill>
                <a:latin typeface="Tahoma"/>
                <a:cs typeface="Tahoma"/>
              </a:rPr>
              <a:t>incidents</a:t>
            </a:r>
            <a:endParaRPr sz="1858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8952" y="7845721"/>
            <a:ext cx="167856" cy="145173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301967" y="7747255"/>
            <a:ext cx="2124062" cy="27389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1643" spc="-79" dirty="0">
                <a:solidFill>
                  <a:srgbClr val="F59D0A"/>
                </a:solidFill>
                <a:latin typeface="Arial"/>
                <a:cs typeface="Arial"/>
              </a:rPr>
              <a:t>Third</a:t>
            </a:r>
            <a:r>
              <a:rPr sz="1643" spc="-57" dirty="0">
                <a:solidFill>
                  <a:srgbClr val="F59D0A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F59D0A"/>
                </a:solidFill>
                <a:latin typeface="Arial"/>
                <a:cs typeface="Arial"/>
              </a:rPr>
              <a:t>highest</a:t>
            </a:r>
            <a:r>
              <a:rPr sz="1643" spc="-57" dirty="0">
                <a:solidFill>
                  <a:srgbClr val="F59D0A"/>
                </a:solidFill>
                <a:latin typeface="Arial"/>
                <a:cs typeface="Arial"/>
              </a:rPr>
              <a:t> </a:t>
            </a:r>
            <a:r>
              <a:rPr sz="1643" spc="-36" dirty="0">
                <a:solidFill>
                  <a:srgbClr val="F59D0A"/>
                </a:solidFill>
                <a:latin typeface="Arial"/>
                <a:cs typeface="Arial"/>
              </a:rPr>
              <a:t>contributor</a:t>
            </a:r>
            <a:endParaRPr sz="1643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739583" y="5192691"/>
            <a:ext cx="7922817" cy="3379809"/>
            <a:chOff x="6156959" y="3718560"/>
            <a:chExt cx="5544820" cy="2365375"/>
          </a:xfrm>
        </p:grpSpPr>
        <p:sp>
          <p:nvSpPr>
            <p:cNvPr id="37" name="object 37"/>
            <p:cNvSpPr/>
            <p:nvPr/>
          </p:nvSpPr>
          <p:spPr>
            <a:xfrm>
              <a:off x="6156959" y="3718560"/>
              <a:ext cx="5544820" cy="2365375"/>
            </a:xfrm>
            <a:custGeom>
              <a:avLst/>
              <a:gdLst/>
              <a:ahLst/>
              <a:cxnLst/>
              <a:rect l="l" t="t" r="r" b="b"/>
              <a:pathLst>
                <a:path w="5544820" h="2365375">
                  <a:moveTo>
                    <a:pt x="5544311" y="2365247"/>
                  </a:moveTo>
                  <a:lnTo>
                    <a:pt x="0" y="2365247"/>
                  </a:lnTo>
                  <a:lnTo>
                    <a:pt x="0" y="0"/>
                  </a:lnTo>
                  <a:lnTo>
                    <a:pt x="5544311" y="0"/>
                  </a:lnTo>
                  <a:lnTo>
                    <a:pt x="5544311" y="53339"/>
                  </a:lnTo>
                  <a:lnTo>
                    <a:pt x="158130" y="53339"/>
                  </a:lnTo>
                  <a:lnTo>
                    <a:pt x="151546" y="53659"/>
                  </a:lnTo>
                  <a:lnTo>
                    <a:pt x="115841" y="68459"/>
                  </a:lnTo>
                  <a:lnTo>
                    <a:pt x="94281" y="100677"/>
                  </a:lnTo>
                  <a:lnTo>
                    <a:pt x="91439" y="119999"/>
                  </a:lnTo>
                  <a:lnTo>
                    <a:pt x="91439" y="2167889"/>
                  </a:lnTo>
                  <a:lnTo>
                    <a:pt x="102664" y="2204942"/>
                  </a:lnTo>
                  <a:lnTo>
                    <a:pt x="132587" y="2229490"/>
                  </a:lnTo>
                  <a:lnTo>
                    <a:pt x="158130" y="2234549"/>
                  </a:lnTo>
                  <a:lnTo>
                    <a:pt x="5544311" y="2234549"/>
                  </a:lnTo>
                  <a:lnTo>
                    <a:pt x="5544311" y="2365247"/>
                  </a:lnTo>
                  <a:close/>
                </a:path>
                <a:path w="5544820" h="2365375">
                  <a:moveTo>
                    <a:pt x="5544311" y="2234549"/>
                  </a:moveTo>
                  <a:lnTo>
                    <a:pt x="5387339" y="2234549"/>
                  </a:lnTo>
                  <a:lnTo>
                    <a:pt x="5393906" y="2234234"/>
                  </a:lnTo>
                  <a:lnTo>
                    <a:pt x="5400347" y="2233288"/>
                  </a:lnTo>
                  <a:lnTo>
                    <a:pt x="5434492" y="2215042"/>
                  </a:lnTo>
                  <a:lnTo>
                    <a:pt x="5452742" y="2180897"/>
                  </a:lnTo>
                  <a:lnTo>
                    <a:pt x="5454030" y="2167889"/>
                  </a:lnTo>
                  <a:lnTo>
                    <a:pt x="5454030" y="119999"/>
                  </a:lnTo>
                  <a:lnTo>
                    <a:pt x="5442790" y="82962"/>
                  </a:lnTo>
                  <a:lnTo>
                    <a:pt x="5412851" y="58430"/>
                  </a:lnTo>
                  <a:lnTo>
                    <a:pt x="5387339" y="53339"/>
                  </a:lnTo>
                  <a:lnTo>
                    <a:pt x="5544311" y="53339"/>
                  </a:lnTo>
                  <a:lnTo>
                    <a:pt x="5544311" y="223454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38875" y="3762375"/>
              <a:ext cx="5381625" cy="2200275"/>
            </a:xfrm>
            <a:custGeom>
              <a:avLst/>
              <a:gdLst/>
              <a:ahLst/>
              <a:cxnLst/>
              <a:rect l="l" t="t" r="r" b="b"/>
              <a:pathLst>
                <a:path w="5381625" h="2200275">
                  <a:moveTo>
                    <a:pt x="5310473" y="2200275"/>
                  </a:moveTo>
                  <a:lnTo>
                    <a:pt x="71199" y="2200275"/>
                  </a:lnTo>
                  <a:lnTo>
                    <a:pt x="66236" y="2199789"/>
                  </a:lnTo>
                  <a:lnTo>
                    <a:pt x="29708" y="2184654"/>
                  </a:lnTo>
                  <a:lnTo>
                    <a:pt x="3886" y="2148611"/>
                  </a:lnTo>
                  <a:lnTo>
                    <a:pt x="0" y="2129075"/>
                  </a:lnTo>
                  <a:lnTo>
                    <a:pt x="0" y="212407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5310473" y="0"/>
                  </a:lnTo>
                  <a:lnTo>
                    <a:pt x="5351907" y="15621"/>
                  </a:lnTo>
                  <a:lnTo>
                    <a:pt x="5377719" y="51663"/>
                  </a:lnTo>
                  <a:lnTo>
                    <a:pt x="5381625" y="71199"/>
                  </a:lnTo>
                  <a:lnTo>
                    <a:pt x="5381625" y="2129075"/>
                  </a:lnTo>
                  <a:lnTo>
                    <a:pt x="5366004" y="2170566"/>
                  </a:lnTo>
                  <a:lnTo>
                    <a:pt x="5329999" y="2196388"/>
                  </a:lnTo>
                  <a:lnTo>
                    <a:pt x="5315426" y="2199789"/>
                  </a:lnTo>
                  <a:lnTo>
                    <a:pt x="5310473" y="2200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477000" y="4000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200"/>
                  </a:moveTo>
                  <a:lnTo>
                    <a:pt x="221113" y="457200"/>
                  </a:lnTo>
                  <a:lnTo>
                    <a:pt x="213645" y="456828"/>
                  </a:lnTo>
                  <a:lnTo>
                    <a:pt x="169402" y="449532"/>
                  </a:lnTo>
                  <a:lnTo>
                    <a:pt x="127444" y="433739"/>
                  </a:lnTo>
                  <a:lnTo>
                    <a:pt x="89363" y="410060"/>
                  </a:lnTo>
                  <a:lnTo>
                    <a:pt x="56635" y="379409"/>
                  </a:lnTo>
                  <a:lnTo>
                    <a:pt x="30518" y="342966"/>
                  </a:lnTo>
                  <a:lnTo>
                    <a:pt x="12020" y="302123"/>
                  </a:lnTo>
                  <a:lnTo>
                    <a:pt x="1838" y="258460"/>
                  </a:lnTo>
                  <a:lnTo>
                    <a:pt x="0" y="236086"/>
                  </a:lnTo>
                  <a:lnTo>
                    <a:pt x="0" y="221113"/>
                  </a:lnTo>
                  <a:lnTo>
                    <a:pt x="5848" y="176660"/>
                  </a:lnTo>
                  <a:lnTo>
                    <a:pt x="20269" y="134197"/>
                  </a:lnTo>
                  <a:lnTo>
                    <a:pt x="42681" y="95373"/>
                  </a:lnTo>
                  <a:lnTo>
                    <a:pt x="72247" y="61664"/>
                  </a:lnTo>
                  <a:lnTo>
                    <a:pt x="107823" y="34366"/>
                  </a:lnTo>
                  <a:lnTo>
                    <a:pt x="148037" y="14535"/>
                  </a:lnTo>
                  <a:lnTo>
                    <a:pt x="191347" y="2933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39" y="5857"/>
                  </a:lnTo>
                  <a:lnTo>
                    <a:pt x="323002" y="20269"/>
                  </a:lnTo>
                  <a:lnTo>
                    <a:pt x="361826" y="42681"/>
                  </a:lnTo>
                  <a:lnTo>
                    <a:pt x="395535" y="72247"/>
                  </a:lnTo>
                  <a:lnTo>
                    <a:pt x="422833" y="107823"/>
                  </a:lnTo>
                  <a:lnTo>
                    <a:pt x="442664" y="148037"/>
                  </a:lnTo>
                  <a:lnTo>
                    <a:pt x="454266" y="191347"/>
                  </a:lnTo>
                  <a:lnTo>
                    <a:pt x="457200" y="221113"/>
                  </a:lnTo>
                  <a:lnTo>
                    <a:pt x="457200" y="228600"/>
                  </a:lnTo>
                  <a:lnTo>
                    <a:pt x="457200" y="236086"/>
                  </a:lnTo>
                  <a:lnTo>
                    <a:pt x="451342" y="280539"/>
                  </a:lnTo>
                  <a:lnTo>
                    <a:pt x="436930" y="323002"/>
                  </a:lnTo>
                  <a:lnTo>
                    <a:pt x="414508" y="361826"/>
                  </a:lnTo>
                  <a:lnTo>
                    <a:pt x="384952" y="395535"/>
                  </a:lnTo>
                  <a:lnTo>
                    <a:pt x="349377" y="422833"/>
                  </a:lnTo>
                  <a:lnTo>
                    <a:pt x="309162" y="442664"/>
                  </a:lnTo>
                  <a:lnTo>
                    <a:pt x="265852" y="454266"/>
                  </a:lnTo>
                  <a:lnTo>
                    <a:pt x="243554" y="456828"/>
                  </a:lnTo>
                  <a:lnTo>
                    <a:pt x="236086" y="457200"/>
                  </a:lnTo>
                  <a:close/>
                </a:path>
              </a:pathLst>
            </a:custGeom>
            <a:solidFill>
              <a:srgbClr val="E4E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62725" y="4114800"/>
              <a:ext cx="282575" cy="22860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4510174" y="5726881"/>
            <a:ext cx="1713949" cy="348094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143" spc="-129" dirty="0">
                <a:solidFill>
                  <a:srgbClr val="4A5462"/>
                </a:solidFill>
                <a:latin typeface="Arial"/>
                <a:cs typeface="Arial"/>
              </a:rPr>
              <a:t>Operator</a:t>
            </a:r>
            <a:r>
              <a:rPr sz="2143" spc="-93" dirty="0">
                <a:solidFill>
                  <a:srgbClr val="4A5462"/>
                </a:solidFill>
                <a:latin typeface="Arial"/>
                <a:cs typeface="Arial"/>
              </a:rPr>
              <a:t> Errors</a:t>
            </a:r>
            <a:endParaRPr sz="2143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178733" y="6071075"/>
            <a:ext cx="2208444" cy="1533697"/>
          </a:xfrm>
          <a:prstGeom prst="rect">
            <a:avLst/>
          </a:prstGeom>
        </p:spPr>
        <p:txBody>
          <a:bodyPr vert="horz" wrap="square" lIns="0" tIns="295790" rIns="0" bIns="0" rtlCol="0">
            <a:spAutoFit/>
          </a:bodyPr>
          <a:lstStyle/>
          <a:p>
            <a:pPr marL="18151">
              <a:spcBef>
                <a:spcPts val="2329"/>
              </a:spcBef>
            </a:pPr>
            <a:r>
              <a:rPr sz="5501" b="1" spc="-79" dirty="0">
                <a:solidFill>
                  <a:srgbClr val="0078D4"/>
                </a:solidFill>
                <a:latin typeface="Gill Sans MT"/>
                <a:cs typeface="Gill Sans MT"/>
              </a:rPr>
              <a:t>44.09%</a:t>
            </a:r>
            <a:endParaRPr sz="5501">
              <a:latin typeface="Gill Sans MT"/>
              <a:cs typeface="Gill Sans MT"/>
            </a:endParaRPr>
          </a:p>
          <a:p>
            <a:pPr marL="18151">
              <a:spcBef>
                <a:spcPts val="793"/>
              </a:spcBef>
            </a:pPr>
            <a:r>
              <a:rPr sz="1858" spc="-86" dirty="0">
                <a:solidFill>
                  <a:srgbClr val="6A7280"/>
                </a:solidFill>
                <a:latin typeface="Tahoma"/>
                <a:cs typeface="Tahoma"/>
              </a:rPr>
              <a:t>Of</a:t>
            </a:r>
            <a:r>
              <a:rPr sz="1858" spc="-121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858" spc="-57" dirty="0">
                <a:solidFill>
                  <a:srgbClr val="6A7280"/>
                </a:solidFill>
                <a:latin typeface="Tahoma"/>
                <a:cs typeface="Tahoma"/>
              </a:rPr>
              <a:t>total</a:t>
            </a:r>
            <a:r>
              <a:rPr sz="1858" spc="-121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858" spc="-14" dirty="0">
                <a:solidFill>
                  <a:srgbClr val="6A7280"/>
                </a:solidFill>
                <a:latin typeface="Tahoma"/>
                <a:cs typeface="Tahoma"/>
              </a:rPr>
              <a:t>downtime</a:t>
            </a:r>
            <a:endParaRPr sz="1858">
              <a:latin typeface="Tahoma"/>
              <a:cs typeface="Tahom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96880" y="7832111"/>
            <a:ext cx="145173" cy="172393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9376085" y="7747255"/>
            <a:ext cx="2634889" cy="27389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1643" spc="-64" dirty="0">
                <a:solidFill>
                  <a:srgbClr val="EF4444"/>
                </a:solidFill>
                <a:latin typeface="Arial"/>
                <a:cs typeface="Arial"/>
              </a:rPr>
              <a:t>Significant</a:t>
            </a:r>
            <a:r>
              <a:rPr sz="1643" spc="-14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57" dirty="0">
                <a:solidFill>
                  <a:srgbClr val="EF4444"/>
                </a:solidFill>
                <a:latin typeface="Arial"/>
                <a:cs typeface="Arial"/>
              </a:rPr>
              <a:t>training</a:t>
            </a:r>
            <a:r>
              <a:rPr sz="1643" spc="-7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36" dirty="0">
                <a:solidFill>
                  <a:srgbClr val="EF4444"/>
                </a:solidFill>
                <a:latin typeface="Arial"/>
                <a:cs typeface="Arial"/>
              </a:rPr>
              <a:t>opportunity</a:t>
            </a:r>
            <a:endParaRPr sz="1643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2744157" y="9517280"/>
            <a:ext cx="391150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1615"/>
              </a:lnSpc>
            </a:pPr>
            <a:r>
              <a:rPr sz="1643" spc="-64" dirty="0">
                <a:solidFill>
                  <a:srgbClr val="6A7280"/>
                </a:solidFill>
                <a:latin typeface="Tahoma"/>
                <a:cs typeface="Tahoma"/>
              </a:rPr>
              <a:t>Manufacturing</a:t>
            </a:r>
            <a:r>
              <a:rPr sz="1643" spc="-21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643" spc="-86" dirty="0">
                <a:solidFill>
                  <a:srgbClr val="6A7280"/>
                </a:solidFill>
                <a:latin typeface="Tahoma"/>
                <a:cs typeface="Tahoma"/>
              </a:rPr>
              <a:t>Downtime</a:t>
            </a:r>
            <a:r>
              <a:rPr sz="1643" spc="-21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643" spc="-36" dirty="0">
                <a:solidFill>
                  <a:srgbClr val="6A7280"/>
                </a:solidFill>
                <a:latin typeface="Tahoma"/>
                <a:cs typeface="Tahoma"/>
              </a:rPr>
              <a:t>Analysis</a:t>
            </a:r>
            <a:r>
              <a:rPr sz="1643" spc="-21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643" spc="-43" dirty="0">
                <a:solidFill>
                  <a:srgbClr val="6A7280"/>
                </a:solidFill>
                <a:latin typeface="Tahoma"/>
                <a:cs typeface="Tahoma"/>
              </a:rPr>
              <a:t>Dashboard</a:t>
            </a:r>
            <a:endParaRPr sz="1643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37" y="0"/>
            <a:ext cx="17497209" cy="9829799"/>
            <a:chOff x="0" y="0"/>
            <a:chExt cx="12131059" cy="7105648"/>
          </a:xfrm>
        </p:grpSpPr>
        <p:sp>
          <p:nvSpPr>
            <p:cNvPr id="3" name="object 3"/>
            <p:cNvSpPr/>
            <p:nvPr/>
          </p:nvSpPr>
          <p:spPr>
            <a:xfrm>
              <a:off x="15259" y="895348"/>
              <a:ext cx="12115800" cy="6210300"/>
            </a:xfrm>
            <a:custGeom>
              <a:avLst/>
              <a:gdLst/>
              <a:ahLst/>
              <a:cxnLst/>
              <a:rect l="l" t="t" r="r" b="b"/>
              <a:pathLst>
                <a:path w="12115800" h="6210300">
                  <a:moveTo>
                    <a:pt x="0" y="6210300"/>
                  </a:moveTo>
                  <a:lnTo>
                    <a:pt x="12115800" y="6210300"/>
                  </a:lnTo>
                  <a:lnTo>
                    <a:pt x="12115800" y="0"/>
                  </a:lnTo>
                  <a:lnTo>
                    <a:pt x="0" y="0"/>
                  </a:lnTo>
                  <a:lnTo>
                    <a:pt x="0" y="621030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15800" cy="895350"/>
            </a:xfrm>
            <a:custGeom>
              <a:avLst/>
              <a:gdLst/>
              <a:ahLst/>
              <a:cxnLst/>
              <a:rect l="l" t="t" r="r" b="b"/>
              <a:pathLst>
                <a:path w="12115800" h="895350">
                  <a:moveTo>
                    <a:pt x="12115800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15800" y="0"/>
                  </a:lnTo>
                  <a:lnTo>
                    <a:pt x="12115800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5200" y="274702"/>
            <a:ext cx="14394560" cy="692641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pc="-207" dirty="0"/>
              <a:t>Product</a:t>
            </a:r>
            <a:r>
              <a:rPr spc="-307" dirty="0"/>
              <a:t> </a:t>
            </a:r>
            <a:r>
              <a:rPr spc="-557" dirty="0"/>
              <a:t>&amp;</a:t>
            </a:r>
            <a:r>
              <a:rPr spc="-291" dirty="0"/>
              <a:t> </a:t>
            </a:r>
            <a:r>
              <a:rPr spc="-363" dirty="0"/>
              <a:t>Temporal</a:t>
            </a:r>
            <a:r>
              <a:rPr spc="-307" dirty="0"/>
              <a:t> </a:t>
            </a:r>
            <a:r>
              <a:rPr spc="-250" dirty="0"/>
              <a:t>Insights</a:t>
            </a:r>
          </a:p>
        </p:txBody>
      </p:sp>
      <p:sp>
        <p:nvSpPr>
          <p:cNvPr id="9" name="object 9"/>
          <p:cNvSpPr/>
          <p:nvPr/>
        </p:nvSpPr>
        <p:spPr>
          <a:xfrm>
            <a:off x="640924" y="8934779"/>
            <a:ext cx="15787564" cy="13610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9000" y="9525"/>
                </a:moveTo>
                <a:lnTo>
                  <a:pt x="0" y="9525"/>
                </a:lnTo>
                <a:lnTo>
                  <a:pt x="0" y="0"/>
                </a:lnTo>
                <a:lnTo>
                  <a:pt x="11049000" y="0"/>
                </a:lnTo>
                <a:lnTo>
                  <a:pt x="11049000" y="95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5510" y="3844788"/>
            <a:ext cx="5226228" cy="2822708"/>
          </a:xfrm>
          <a:custGeom>
            <a:avLst/>
            <a:gdLst/>
            <a:ahLst/>
            <a:cxnLst/>
            <a:rect l="l" t="t" r="r" b="b"/>
            <a:pathLst>
              <a:path w="3657600" h="1975485">
                <a:moveTo>
                  <a:pt x="3657599" y="1975103"/>
                </a:moveTo>
                <a:lnTo>
                  <a:pt x="0" y="1975103"/>
                </a:lnTo>
                <a:lnTo>
                  <a:pt x="0" y="0"/>
                </a:lnTo>
                <a:lnTo>
                  <a:pt x="3657599" y="0"/>
                </a:lnTo>
                <a:lnTo>
                  <a:pt x="3657599" y="54482"/>
                </a:lnTo>
                <a:lnTo>
                  <a:pt x="156971" y="54482"/>
                </a:lnTo>
                <a:lnTo>
                  <a:pt x="150403" y="54800"/>
                </a:lnTo>
                <a:lnTo>
                  <a:pt x="114694" y="69591"/>
                </a:lnTo>
                <a:lnTo>
                  <a:pt x="93151" y="101832"/>
                </a:lnTo>
                <a:lnTo>
                  <a:pt x="90296" y="121157"/>
                </a:lnTo>
                <a:lnTo>
                  <a:pt x="90296" y="1778507"/>
                </a:lnTo>
                <a:lnTo>
                  <a:pt x="101523" y="1815561"/>
                </a:lnTo>
                <a:lnTo>
                  <a:pt x="131457" y="1840108"/>
                </a:lnTo>
                <a:lnTo>
                  <a:pt x="156971" y="1845167"/>
                </a:lnTo>
                <a:lnTo>
                  <a:pt x="3657599" y="1845167"/>
                </a:lnTo>
                <a:lnTo>
                  <a:pt x="3657599" y="1975103"/>
                </a:lnTo>
                <a:close/>
              </a:path>
              <a:path w="3657600" h="1975485">
                <a:moveTo>
                  <a:pt x="3657599" y="1845167"/>
                </a:moveTo>
                <a:lnTo>
                  <a:pt x="3500231" y="1845167"/>
                </a:lnTo>
                <a:lnTo>
                  <a:pt x="3506815" y="1844852"/>
                </a:lnTo>
                <a:lnTo>
                  <a:pt x="3513265" y="1843906"/>
                </a:lnTo>
                <a:lnTo>
                  <a:pt x="3547384" y="1825660"/>
                </a:lnTo>
                <a:lnTo>
                  <a:pt x="3565645" y="1791517"/>
                </a:lnTo>
                <a:lnTo>
                  <a:pt x="3566921" y="1778507"/>
                </a:lnTo>
                <a:lnTo>
                  <a:pt x="3566921" y="121157"/>
                </a:lnTo>
                <a:lnTo>
                  <a:pt x="3555682" y="84108"/>
                </a:lnTo>
                <a:lnTo>
                  <a:pt x="3525773" y="59557"/>
                </a:lnTo>
                <a:lnTo>
                  <a:pt x="3500231" y="54482"/>
                </a:lnTo>
                <a:lnTo>
                  <a:pt x="3657599" y="54482"/>
                </a:lnTo>
                <a:lnTo>
                  <a:pt x="3657599" y="1845167"/>
                </a:lnTo>
                <a:close/>
              </a:path>
            </a:pathLst>
          </a:custGeom>
          <a:solidFill>
            <a:srgbClr val="000000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0924" y="3909027"/>
            <a:ext cx="4994858" cy="2585894"/>
          </a:xfrm>
          <a:custGeom>
            <a:avLst/>
            <a:gdLst/>
            <a:ahLst/>
            <a:cxnLst/>
            <a:rect l="l" t="t" r="r" b="b"/>
            <a:pathLst>
              <a:path w="3495675" h="1809750">
                <a:moveTo>
                  <a:pt x="3424475" y="1809750"/>
                </a:moveTo>
                <a:lnTo>
                  <a:pt x="71196" y="1809750"/>
                </a:lnTo>
                <a:lnTo>
                  <a:pt x="66241" y="1809264"/>
                </a:lnTo>
                <a:lnTo>
                  <a:pt x="29705" y="1794129"/>
                </a:lnTo>
                <a:lnTo>
                  <a:pt x="3885" y="1758086"/>
                </a:lnTo>
                <a:lnTo>
                  <a:pt x="0" y="1738550"/>
                </a:lnTo>
                <a:lnTo>
                  <a:pt x="0" y="1733550"/>
                </a:lnTo>
                <a:lnTo>
                  <a:pt x="0" y="71199"/>
                </a:lnTo>
                <a:lnTo>
                  <a:pt x="15621" y="29708"/>
                </a:lnTo>
                <a:lnTo>
                  <a:pt x="51661" y="3886"/>
                </a:lnTo>
                <a:lnTo>
                  <a:pt x="71196" y="0"/>
                </a:lnTo>
                <a:lnTo>
                  <a:pt x="3424475" y="0"/>
                </a:lnTo>
                <a:lnTo>
                  <a:pt x="3465966" y="15620"/>
                </a:lnTo>
                <a:lnTo>
                  <a:pt x="3491788" y="51663"/>
                </a:lnTo>
                <a:lnTo>
                  <a:pt x="3495675" y="71199"/>
                </a:lnTo>
                <a:lnTo>
                  <a:pt x="3495675" y="1738550"/>
                </a:lnTo>
                <a:lnTo>
                  <a:pt x="3480054" y="1780041"/>
                </a:lnTo>
                <a:lnTo>
                  <a:pt x="3444011" y="1805863"/>
                </a:lnTo>
                <a:lnTo>
                  <a:pt x="3429428" y="1809264"/>
                </a:lnTo>
                <a:lnTo>
                  <a:pt x="3424475" y="1809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81173" y="4249276"/>
            <a:ext cx="653278" cy="653279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200"/>
                </a:moveTo>
                <a:lnTo>
                  <a:pt x="221113" y="457200"/>
                </a:lnTo>
                <a:lnTo>
                  <a:pt x="213645" y="456828"/>
                </a:lnTo>
                <a:lnTo>
                  <a:pt x="169402" y="449532"/>
                </a:lnTo>
                <a:lnTo>
                  <a:pt x="127441" y="433739"/>
                </a:lnTo>
                <a:lnTo>
                  <a:pt x="89365" y="410060"/>
                </a:lnTo>
                <a:lnTo>
                  <a:pt x="56639" y="379409"/>
                </a:lnTo>
                <a:lnTo>
                  <a:pt x="30521" y="342966"/>
                </a:lnTo>
                <a:lnTo>
                  <a:pt x="12016" y="302123"/>
                </a:lnTo>
                <a:lnTo>
                  <a:pt x="1834" y="258460"/>
                </a:lnTo>
                <a:lnTo>
                  <a:pt x="0" y="236086"/>
                </a:lnTo>
                <a:lnTo>
                  <a:pt x="0" y="221113"/>
                </a:lnTo>
                <a:lnTo>
                  <a:pt x="5853" y="176660"/>
                </a:lnTo>
                <a:lnTo>
                  <a:pt x="20266" y="134197"/>
                </a:lnTo>
                <a:lnTo>
                  <a:pt x="42685" y="95373"/>
                </a:lnTo>
                <a:lnTo>
                  <a:pt x="72249" y="61664"/>
                </a:lnTo>
                <a:lnTo>
                  <a:pt x="107822" y="34366"/>
                </a:lnTo>
                <a:lnTo>
                  <a:pt x="148037" y="14535"/>
                </a:lnTo>
                <a:lnTo>
                  <a:pt x="191347" y="2933"/>
                </a:lnTo>
                <a:lnTo>
                  <a:pt x="221113" y="0"/>
                </a:lnTo>
                <a:lnTo>
                  <a:pt x="236086" y="0"/>
                </a:lnTo>
                <a:lnTo>
                  <a:pt x="280539" y="5857"/>
                </a:lnTo>
                <a:lnTo>
                  <a:pt x="323002" y="20269"/>
                </a:lnTo>
                <a:lnTo>
                  <a:pt x="361826" y="42681"/>
                </a:lnTo>
                <a:lnTo>
                  <a:pt x="395535" y="72247"/>
                </a:lnTo>
                <a:lnTo>
                  <a:pt x="422833" y="107823"/>
                </a:lnTo>
                <a:lnTo>
                  <a:pt x="442664" y="148037"/>
                </a:lnTo>
                <a:lnTo>
                  <a:pt x="454266" y="191347"/>
                </a:lnTo>
                <a:lnTo>
                  <a:pt x="457200" y="221113"/>
                </a:lnTo>
                <a:lnTo>
                  <a:pt x="457200" y="228600"/>
                </a:lnTo>
                <a:lnTo>
                  <a:pt x="457200" y="236086"/>
                </a:lnTo>
                <a:lnTo>
                  <a:pt x="451342" y="280539"/>
                </a:lnTo>
                <a:lnTo>
                  <a:pt x="436930" y="323002"/>
                </a:lnTo>
                <a:lnTo>
                  <a:pt x="414518" y="361826"/>
                </a:lnTo>
                <a:lnTo>
                  <a:pt x="384952" y="395535"/>
                </a:lnTo>
                <a:lnTo>
                  <a:pt x="349377" y="422833"/>
                </a:lnTo>
                <a:lnTo>
                  <a:pt x="309162" y="442664"/>
                </a:lnTo>
                <a:lnTo>
                  <a:pt x="265852" y="454266"/>
                </a:lnTo>
                <a:lnTo>
                  <a:pt x="243554" y="456828"/>
                </a:lnTo>
                <a:lnTo>
                  <a:pt x="236086" y="457200"/>
                </a:lnTo>
                <a:close/>
              </a:path>
            </a:pathLst>
          </a:custGeom>
          <a:solidFill>
            <a:srgbClr val="E4EF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907" y="4430743"/>
            <a:ext cx="285809" cy="29034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243340" y="4380570"/>
            <a:ext cx="2065993" cy="348094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143" spc="-100" dirty="0">
                <a:solidFill>
                  <a:srgbClr val="4A5462"/>
                </a:solidFill>
                <a:latin typeface="Arial"/>
                <a:cs typeface="Arial"/>
              </a:rPr>
              <a:t>Product</a:t>
            </a:r>
            <a:r>
              <a:rPr sz="2143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100" dirty="0">
                <a:solidFill>
                  <a:srgbClr val="4A5462"/>
                </a:solidFill>
                <a:latin typeface="Arial"/>
                <a:cs typeface="Arial"/>
              </a:rPr>
              <a:t>Downtime</a:t>
            </a:r>
            <a:endParaRPr sz="2143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3024" y="4798621"/>
            <a:ext cx="3941447" cy="1323004"/>
          </a:xfrm>
          <a:prstGeom prst="rect">
            <a:avLst/>
          </a:prstGeom>
        </p:spPr>
        <p:txBody>
          <a:bodyPr vert="horz" wrap="square" lIns="0" tIns="239535" rIns="0" bIns="0" rtlCol="0">
            <a:spAutoFit/>
          </a:bodyPr>
          <a:lstStyle/>
          <a:p>
            <a:pPr marL="18151">
              <a:spcBef>
                <a:spcPts val="1886"/>
              </a:spcBef>
            </a:pPr>
            <a:r>
              <a:rPr sz="4501" b="1" spc="-257" dirty="0">
                <a:solidFill>
                  <a:srgbClr val="0078D4"/>
                </a:solidFill>
                <a:latin typeface="Trebuchet MS"/>
                <a:cs typeface="Trebuchet MS"/>
              </a:rPr>
              <a:t>~450</a:t>
            </a:r>
            <a:r>
              <a:rPr sz="4501" b="1" spc="-291" dirty="0">
                <a:solidFill>
                  <a:srgbClr val="0078D4"/>
                </a:solidFill>
                <a:latin typeface="Trebuchet MS"/>
                <a:cs typeface="Trebuchet MS"/>
              </a:rPr>
              <a:t> </a:t>
            </a:r>
            <a:r>
              <a:rPr sz="4501" b="1" spc="-36" dirty="0">
                <a:solidFill>
                  <a:srgbClr val="0078D4"/>
                </a:solidFill>
                <a:latin typeface="Trebuchet MS"/>
                <a:cs typeface="Trebuchet MS"/>
              </a:rPr>
              <a:t>min</a:t>
            </a:r>
            <a:endParaRPr sz="4501">
              <a:latin typeface="Trebuchet MS"/>
              <a:cs typeface="Trebuchet MS"/>
            </a:endParaRPr>
          </a:p>
          <a:p>
            <a:pPr marL="18151">
              <a:spcBef>
                <a:spcPts val="779"/>
              </a:spcBef>
            </a:pPr>
            <a:r>
              <a:rPr sz="1858" spc="-229" dirty="0">
                <a:solidFill>
                  <a:srgbClr val="6A7280"/>
                </a:solidFill>
                <a:latin typeface="Arial"/>
                <a:cs typeface="Arial"/>
              </a:rPr>
              <a:t>CO-</a:t>
            </a:r>
            <a:r>
              <a:rPr sz="1858" spc="-86" dirty="0">
                <a:solidFill>
                  <a:srgbClr val="6A7280"/>
                </a:solidFill>
                <a:latin typeface="Arial"/>
                <a:cs typeface="Arial"/>
              </a:rPr>
              <a:t>600</a:t>
            </a:r>
            <a:r>
              <a:rPr sz="1858" spc="-50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79" dirty="0">
                <a:solidFill>
                  <a:srgbClr val="6A7280"/>
                </a:solidFill>
                <a:latin typeface="Arial"/>
                <a:cs typeface="Arial"/>
              </a:rPr>
              <a:t>recorded</a:t>
            </a:r>
            <a:r>
              <a:rPr sz="1858" spc="-43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57" dirty="0">
                <a:solidFill>
                  <a:srgbClr val="6A7280"/>
                </a:solidFill>
                <a:latin typeface="Arial"/>
                <a:cs typeface="Arial"/>
              </a:rPr>
              <a:t>highest</a:t>
            </a:r>
            <a:r>
              <a:rPr sz="1858" spc="-43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29" dirty="0">
                <a:solidFill>
                  <a:srgbClr val="6A7280"/>
                </a:solidFill>
                <a:latin typeface="Arial"/>
                <a:cs typeface="Arial"/>
              </a:rPr>
              <a:t>total</a:t>
            </a:r>
            <a:r>
              <a:rPr sz="1858" spc="-50" dirty="0">
                <a:solidFill>
                  <a:srgbClr val="6A7280"/>
                </a:solidFill>
                <a:latin typeface="Arial"/>
                <a:cs typeface="Arial"/>
              </a:rPr>
              <a:t> downtime</a:t>
            </a:r>
            <a:endParaRPr sz="1858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25945" y="3844792"/>
            <a:ext cx="5218062" cy="2822708"/>
          </a:xfrm>
          <a:custGeom>
            <a:avLst/>
            <a:gdLst/>
            <a:ahLst/>
            <a:cxnLst/>
            <a:rect l="l" t="t" r="r" b="b"/>
            <a:pathLst>
              <a:path w="3651884" h="1975485">
                <a:moveTo>
                  <a:pt x="3651503" y="1975103"/>
                </a:moveTo>
                <a:lnTo>
                  <a:pt x="0" y="1975103"/>
                </a:lnTo>
                <a:lnTo>
                  <a:pt x="0" y="0"/>
                </a:lnTo>
                <a:lnTo>
                  <a:pt x="3651503" y="0"/>
                </a:lnTo>
                <a:lnTo>
                  <a:pt x="3651503" y="54482"/>
                </a:lnTo>
                <a:lnTo>
                  <a:pt x="158861" y="54482"/>
                </a:lnTo>
                <a:lnTo>
                  <a:pt x="152295" y="54800"/>
                </a:lnTo>
                <a:lnTo>
                  <a:pt x="116603" y="69591"/>
                </a:lnTo>
                <a:lnTo>
                  <a:pt x="95069" y="101832"/>
                </a:lnTo>
                <a:lnTo>
                  <a:pt x="92201" y="121157"/>
                </a:lnTo>
                <a:lnTo>
                  <a:pt x="92201" y="1778507"/>
                </a:lnTo>
                <a:lnTo>
                  <a:pt x="103441" y="1815561"/>
                </a:lnTo>
                <a:lnTo>
                  <a:pt x="133349" y="1840108"/>
                </a:lnTo>
                <a:lnTo>
                  <a:pt x="158861" y="1845167"/>
                </a:lnTo>
                <a:lnTo>
                  <a:pt x="3651503" y="1845167"/>
                </a:lnTo>
                <a:lnTo>
                  <a:pt x="3651503" y="1975103"/>
                </a:lnTo>
                <a:close/>
              </a:path>
              <a:path w="3651884" h="1975485">
                <a:moveTo>
                  <a:pt x="3651503" y="1845167"/>
                </a:moveTo>
                <a:lnTo>
                  <a:pt x="3492642" y="1845167"/>
                </a:lnTo>
                <a:lnTo>
                  <a:pt x="3499208" y="1844852"/>
                </a:lnTo>
                <a:lnTo>
                  <a:pt x="3505649" y="1843906"/>
                </a:lnTo>
                <a:lnTo>
                  <a:pt x="3539764" y="1825660"/>
                </a:lnTo>
                <a:lnTo>
                  <a:pt x="3558025" y="1791517"/>
                </a:lnTo>
                <a:lnTo>
                  <a:pt x="3559301" y="1778507"/>
                </a:lnTo>
                <a:lnTo>
                  <a:pt x="3559301" y="121157"/>
                </a:lnTo>
                <a:lnTo>
                  <a:pt x="3548062" y="84108"/>
                </a:lnTo>
                <a:lnTo>
                  <a:pt x="3518153" y="59557"/>
                </a:lnTo>
                <a:lnTo>
                  <a:pt x="3492642" y="54482"/>
                </a:lnTo>
                <a:lnTo>
                  <a:pt x="3651503" y="54482"/>
                </a:lnTo>
                <a:lnTo>
                  <a:pt x="3651503" y="1845167"/>
                </a:lnTo>
                <a:close/>
              </a:path>
            </a:pathLst>
          </a:custGeom>
          <a:solidFill>
            <a:srgbClr val="000000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44081" y="3909031"/>
            <a:ext cx="4981249" cy="2585895"/>
          </a:xfrm>
          <a:custGeom>
            <a:avLst/>
            <a:gdLst/>
            <a:ahLst/>
            <a:cxnLst/>
            <a:rect l="l" t="t" r="r" b="b"/>
            <a:pathLst>
              <a:path w="3486150" h="1809750">
                <a:moveTo>
                  <a:pt x="3414950" y="1809750"/>
                </a:moveTo>
                <a:lnTo>
                  <a:pt x="71199" y="1809750"/>
                </a:lnTo>
                <a:lnTo>
                  <a:pt x="66236" y="1809264"/>
                </a:lnTo>
                <a:lnTo>
                  <a:pt x="29708" y="1794129"/>
                </a:lnTo>
                <a:lnTo>
                  <a:pt x="3886" y="1758086"/>
                </a:lnTo>
                <a:lnTo>
                  <a:pt x="0" y="1738550"/>
                </a:lnTo>
                <a:lnTo>
                  <a:pt x="0" y="1733550"/>
                </a:lnTo>
                <a:lnTo>
                  <a:pt x="0" y="71199"/>
                </a:lnTo>
                <a:lnTo>
                  <a:pt x="15621" y="29708"/>
                </a:lnTo>
                <a:lnTo>
                  <a:pt x="51663" y="3886"/>
                </a:lnTo>
                <a:lnTo>
                  <a:pt x="71199" y="0"/>
                </a:lnTo>
                <a:lnTo>
                  <a:pt x="3414950" y="0"/>
                </a:lnTo>
                <a:lnTo>
                  <a:pt x="3456441" y="15620"/>
                </a:lnTo>
                <a:lnTo>
                  <a:pt x="3482263" y="51663"/>
                </a:lnTo>
                <a:lnTo>
                  <a:pt x="3486150" y="71199"/>
                </a:lnTo>
                <a:lnTo>
                  <a:pt x="3486150" y="1738550"/>
                </a:lnTo>
                <a:lnTo>
                  <a:pt x="3470529" y="1780041"/>
                </a:lnTo>
                <a:lnTo>
                  <a:pt x="3434486" y="1805863"/>
                </a:lnTo>
                <a:lnTo>
                  <a:pt x="3419903" y="1809264"/>
                </a:lnTo>
                <a:lnTo>
                  <a:pt x="3414950" y="1809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84330" y="4249280"/>
            <a:ext cx="653278" cy="653279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200"/>
                </a:moveTo>
                <a:lnTo>
                  <a:pt x="221113" y="457200"/>
                </a:lnTo>
                <a:lnTo>
                  <a:pt x="213645" y="456828"/>
                </a:lnTo>
                <a:lnTo>
                  <a:pt x="169402" y="449532"/>
                </a:lnTo>
                <a:lnTo>
                  <a:pt x="127444" y="433739"/>
                </a:lnTo>
                <a:lnTo>
                  <a:pt x="89363" y="410060"/>
                </a:lnTo>
                <a:lnTo>
                  <a:pt x="56635" y="379409"/>
                </a:lnTo>
                <a:lnTo>
                  <a:pt x="30518" y="342966"/>
                </a:lnTo>
                <a:lnTo>
                  <a:pt x="12020" y="302123"/>
                </a:lnTo>
                <a:lnTo>
                  <a:pt x="1838" y="258460"/>
                </a:lnTo>
                <a:lnTo>
                  <a:pt x="0" y="236086"/>
                </a:lnTo>
                <a:lnTo>
                  <a:pt x="0" y="221113"/>
                </a:lnTo>
                <a:lnTo>
                  <a:pt x="5857" y="176660"/>
                </a:lnTo>
                <a:lnTo>
                  <a:pt x="20269" y="134197"/>
                </a:lnTo>
                <a:lnTo>
                  <a:pt x="42681" y="95373"/>
                </a:lnTo>
                <a:lnTo>
                  <a:pt x="72247" y="61664"/>
                </a:lnTo>
                <a:lnTo>
                  <a:pt x="107823" y="34366"/>
                </a:lnTo>
                <a:lnTo>
                  <a:pt x="148037" y="14535"/>
                </a:lnTo>
                <a:lnTo>
                  <a:pt x="191347" y="2933"/>
                </a:lnTo>
                <a:lnTo>
                  <a:pt x="221113" y="0"/>
                </a:lnTo>
                <a:lnTo>
                  <a:pt x="236086" y="0"/>
                </a:lnTo>
                <a:lnTo>
                  <a:pt x="280539" y="5857"/>
                </a:lnTo>
                <a:lnTo>
                  <a:pt x="323002" y="20269"/>
                </a:lnTo>
                <a:lnTo>
                  <a:pt x="361826" y="42681"/>
                </a:lnTo>
                <a:lnTo>
                  <a:pt x="395535" y="72247"/>
                </a:lnTo>
                <a:lnTo>
                  <a:pt x="422833" y="107823"/>
                </a:lnTo>
                <a:lnTo>
                  <a:pt x="442664" y="148037"/>
                </a:lnTo>
                <a:lnTo>
                  <a:pt x="454266" y="191347"/>
                </a:lnTo>
                <a:lnTo>
                  <a:pt x="457200" y="221113"/>
                </a:lnTo>
                <a:lnTo>
                  <a:pt x="457200" y="228600"/>
                </a:lnTo>
                <a:lnTo>
                  <a:pt x="457200" y="236086"/>
                </a:lnTo>
                <a:lnTo>
                  <a:pt x="451342" y="280539"/>
                </a:lnTo>
                <a:lnTo>
                  <a:pt x="436930" y="323002"/>
                </a:lnTo>
                <a:lnTo>
                  <a:pt x="414508" y="361826"/>
                </a:lnTo>
                <a:lnTo>
                  <a:pt x="384952" y="395535"/>
                </a:lnTo>
                <a:lnTo>
                  <a:pt x="349377" y="422833"/>
                </a:lnTo>
                <a:lnTo>
                  <a:pt x="309162" y="442664"/>
                </a:lnTo>
                <a:lnTo>
                  <a:pt x="265852" y="454266"/>
                </a:lnTo>
                <a:lnTo>
                  <a:pt x="243554" y="456828"/>
                </a:lnTo>
                <a:lnTo>
                  <a:pt x="236086" y="457200"/>
                </a:lnTo>
                <a:close/>
              </a:path>
            </a:pathLst>
          </a:custGeom>
          <a:solidFill>
            <a:srgbClr val="E4EF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3382" y="4412600"/>
            <a:ext cx="285809" cy="32663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446390" y="4380570"/>
            <a:ext cx="2261977" cy="348094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143" spc="-200" dirty="0">
                <a:solidFill>
                  <a:srgbClr val="4A5462"/>
                </a:solidFill>
                <a:latin typeface="Arial"/>
                <a:cs typeface="Arial"/>
              </a:rPr>
              <a:t>Day</a:t>
            </a:r>
            <a:r>
              <a:rPr sz="2143" spc="-121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dirty="0">
                <a:solidFill>
                  <a:srgbClr val="4A5462"/>
                </a:solidFill>
                <a:latin typeface="Arial"/>
                <a:cs typeface="Arial"/>
              </a:rPr>
              <a:t>of</a:t>
            </a:r>
            <a:r>
              <a:rPr sz="2143" spc="-129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200" dirty="0">
                <a:solidFill>
                  <a:srgbClr val="4A5462"/>
                </a:solidFill>
                <a:latin typeface="Arial"/>
                <a:cs typeface="Arial"/>
              </a:rPr>
              <a:t>Week</a:t>
            </a:r>
            <a:r>
              <a:rPr sz="2143" spc="-121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71" dirty="0">
                <a:solidFill>
                  <a:srgbClr val="4A5462"/>
                </a:solidFill>
                <a:latin typeface="Arial"/>
                <a:cs typeface="Arial"/>
              </a:rPr>
              <a:t>Pattern</a:t>
            </a:r>
            <a:endParaRPr sz="2143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61506" y="4798621"/>
            <a:ext cx="3555831" cy="1323004"/>
          </a:xfrm>
          <a:prstGeom prst="rect">
            <a:avLst/>
          </a:prstGeom>
        </p:spPr>
        <p:txBody>
          <a:bodyPr vert="horz" wrap="square" lIns="0" tIns="239535" rIns="0" bIns="0" rtlCol="0">
            <a:spAutoFit/>
          </a:bodyPr>
          <a:lstStyle/>
          <a:p>
            <a:pPr marL="18151">
              <a:spcBef>
                <a:spcPts val="1886"/>
              </a:spcBef>
            </a:pPr>
            <a:r>
              <a:rPr lang="en-US" sz="4501" b="1" spc="-163" dirty="0">
                <a:solidFill>
                  <a:srgbClr val="0078D4"/>
                </a:solidFill>
                <a:latin typeface="Trebuchet MS"/>
                <a:cs typeface="Trebuchet MS"/>
              </a:rPr>
              <a:t>Monday</a:t>
            </a:r>
            <a:endParaRPr sz="4501" dirty="0">
              <a:latin typeface="Trebuchet MS"/>
              <a:cs typeface="Trebuchet MS"/>
            </a:endParaRPr>
          </a:p>
          <a:p>
            <a:pPr marL="18151">
              <a:spcBef>
                <a:spcPts val="779"/>
              </a:spcBef>
            </a:pPr>
            <a:r>
              <a:rPr sz="1858" spc="-121" dirty="0">
                <a:solidFill>
                  <a:srgbClr val="6A7280"/>
                </a:solidFill>
                <a:latin typeface="Arial"/>
                <a:cs typeface="Arial"/>
              </a:rPr>
              <a:t>Peak</a:t>
            </a:r>
            <a:r>
              <a:rPr sz="1858" spc="-71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50" dirty="0">
                <a:solidFill>
                  <a:srgbClr val="6A7280"/>
                </a:solidFill>
                <a:latin typeface="Arial"/>
                <a:cs typeface="Arial"/>
              </a:rPr>
              <a:t>downtime</a:t>
            </a:r>
            <a:r>
              <a:rPr sz="1858" spc="-71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114" dirty="0">
                <a:solidFill>
                  <a:srgbClr val="6A7280"/>
                </a:solidFill>
                <a:latin typeface="Arial"/>
                <a:cs typeface="Arial"/>
              </a:rPr>
              <a:t>day</a:t>
            </a:r>
            <a:r>
              <a:rPr sz="1858" spc="-64" dirty="0">
                <a:solidFill>
                  <a:srgbClr val="6A7280"/>
                </a:solidFill>
                <a:latin typeface="Arial"/>
                <a:cs typeface="Arial"/>
              </a:rPr>
              <a:t> across</a:t>
            </a:r>
            <a:r>
              <a:rPr sz="1858" spc="-71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57" dirty="0">
                <a:solidFill>
                  <a:srgbClr val="6A7280"/>
                </a:solidFill>
                <a:latin typeface="Arial"/>
                <a:cs typeface="Arial"/>
              </a:rPr>
              <a:t>the</a:t>
            </a:r>
            <a:r>
              <a:rPr sz="1858" spc="-71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86" dirty="0">
                <a:solidFill>
                  <a:srgbClr val="6A7280"/>
                </a:solidFill>
                <a:latin typeface="Arial"/>
                <a:cs typeface="Arial"/>
              </a:rPr>
              <a:t>week</a:t>
            </a:r>
            <a:endParaRPr sz="1858" dirty="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317667" y="3844792"/>
            <a:ext cx="5226228" cy="2822708"/>
          </a:xfrm>
          <a:custGeom>
            <a:avLst/>
            <a:gdLst/>
            <a:ahLst/>
            <a:cxnLst/>
            <a:rect l="l" t="t" r="r" b="b"/>
            <a:pathLst>
              <a:path w="3657600" h="1975485">
                <a:moveTo>
                  <a:pt x="3657599" y="1975103"/>
                </a:moveTo>
                <a:lnTo>
                  <a:pt x="0" y="1975103"/>
                </a:lnTo>
                <a:lnTo>
                  <a:pt x="0" y="0"/>
                </a:lnTo>
                <a:lnTo>
                  <a:pt x="3657599" y="0"/>
                </a:lnTo>
                <a:lnTo>
                  <a:pt x="3657599" y="54482"/>
                </a:lnTo>
                <a:lnTo>
                  <a:pt x="157337" y="54482"/>
                </a:lnTo>
                <a:lnTo>
                  <a:pt x="150771" y="54800"/>
                </a:lnTo>
                <a:lnTo>
                  <a:pt x="115079" y="69591"/>
                </a:lnTo>
                <a:lnTo>
                  <a:pt x="93532" y="101832"/>
                </a:lnTo>
                <a:lnTo>
                  <a:pt x="90677" y="121157"/>
                </a:lnTo>
                <a:lnTo>
                  <a:pt x="90677" y="1778507"/>
                </a:lnTo>
                <a:lnTo>
                  <a:pt x="101917" y="1815561"/>
                </a:lnTo>
                <a:lnTo>
                  <a:pt x="131825" y="1840108"/>
                </a:lnTo>
                <a:lnTo>
                  <a:pt x="157337" y="1845167"/>
                </a:lnTo>
                <a:lnTo>
                  <a:pt x="3657599" y="1845167"/>
                </a:lnTo>
                <a:lnTo>
                  <a:pt x="3657599" y="1975103"/>
                </a:lnTo>
                <a:close/>
              </a:path>
              <a:path w="3657600" h="1975485">
                <a:moveTo>
                  <a:pt x="3657599" y="1845167"/>
                </a:moveTo>
                <a:lnTo>
                  <a:pt x="3500627" y="1845167"/>
                </a:lnTo>
                <a:lnTo>
                  <a:pt x="3507194" y="1844852"/>
                </a:lnTo>
                <a:lnTo>
                  <a:pt x="3513635" y="1843906"/>
                </a:lnTo>
                <a:lnTo>
                  <a:pt x="3547780" y="1825660"/>
                </a:lnTo>
                <a:lnTo>
                  <a:pt x="3566030" y="1791517"/>
                </a:lnTo>
                <a:lnTo>
                  <a:pt x="3567318" y="1778507"/>
                </a:lnTo>
                <a:lnTo>
                  <a:pt x="3567318" y="121157"/>
                </a:lnTo>
                <a:lnTo>
                  <a:pt x="3556078" y="84108"/>
                </a:lnTo>
                <a:lnTo>
                  <a:pt x="3526139" y="59557"/>
                </a:lnTo>
                <a:lnTo>
                  <a:pt x="3500627" y="54482"/>
                </a:lnTo>
                <a:lnTo>
                  <a:pt x="3657599" y="54482"/>
                </a:lnTo>
                <a:lnTo>
                  <a:pt x="3657599" y="1845167"/>
                </a:lnTo>
                <a:close/>
              </a:path>
            </a:pathLst>
          </a:custGeom>
          <a:solidFill>
            <a:srgbClr val="000000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433625" y="3909031"/>
            <a:ext cx="4994859" cy="2585895"/>
          </a:xfrm>
          <a:custGeom>
            <a:avLst/>
            <a:gdLst/>
            <a:ahLst/>
            <a:cxnLst/>
            <a:rect l="l" t="t" r="r" b="b"/>
            <a:pathLst>
              <a:path w="3495675" h="1809750">
                <a:moveTo>
                  <a:pt x="3424523" y="1809750"/>
                </a:moveTo>
                <a:lnTo>
                  <a:pt x="71199" y="1809750"/>
                </a:lnTo>
                <a:lnTo>
                  <a:pt x="66236" y="1809264"/>
                </a:lnTo>
                <a:lnTo>
                  <a:pt x="29708" y="1794129"/>
                </a:lnTo>
                <a:lnTo>
                  <a:pt x="3886" y="1758086"/>
                </a:lnTo>
                <a:lnTo>
                  <a:pt x="0" y="1738550"/>
                </a:lnTo>
                <a:lnTo>
                  <a:pt x="0" y="1733550"/>
                </a:lnTo>
                <a:lnTo>
                  <a:pt x="0" y="71199"/>
                </a:lnTo>
                <a:lnTo>
                  <a:pt x="15621" y="29708"/>
                </a:lnTo>
                <a:lnTo>
                  <a:pt x="51663" y="3886"/>
                </a:lnTo>
                <a:lnTo>
                  <a:pt x="71199" y="0"/>
                </a:lnTo>
                <a:lnTo>
                  <a:pt x="3424523" y="0"/>
                </a:lnTo>
                <a:lnTo>
                  <a:pt x="3465957" y="15620"/>
                </a:lnTo>
                <a:lnTo>
                  <a:pt x="3491769" y="51663"/>
                </a:lnTo>
                <a:lnTo>
                  <a:pt x="3495675" y="71199"/>
                </a:lnTo>
                <a:lnTo>
                  <a:pt x="3495675" y="1738550"/>
                </a:lnTo>
                <a:lnTo>
                  <a:pt x="3480054" y="1780041"/>
                </a:lnTo>
                <a:lnTo>
                  <a:pt x="3444049" y="1805863"/>
                </a:lnTo>
                <a:lnTo>
                  <a:pt x="3429476" y="1809264"/>
                </a:lnTo>
                <a:lnTo>
                  <a:pt x="3424523" y="1809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773875" y="4249280"/>
            <a:ext cx="653279" cy="653279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200"/>
                </a:moveTo>
                <a:lnTo>
                  <a:pt x="221113" y="457200"/>
                </a:lnTo>
                <a:lnTo>
                  <a:pt x="213645" y="456828"/>
                </a:lnTo>
                <a:lnTo>
                  <a:pt x="169402" y="449532"/>
                </a:lnTo>
                <a:lnTo>
                  <a:pt x="127444" y="433739"/>
                </a:lnTo>
                <a:lnTo>
                  <a:pt x="89363" y="410060"/>
                </a:lnTo>
                <a:lnTo>
                  <a:pt x="56635" y="379409"/>
                </a:lnTo>
                <a:lnTo>
                  <a:pt x="30518" y="342966"/>
                </a:lnTo>
                <a:lnTo>
                  <a:pt x="12020" y="302123"/>
                </a:lnTo>
                <a:lnTo>
                  <a:pt x="1838" y="258460"/>
                </a:lnTo>
                <a:lnTo>
                  <a:pt x="0" y="236086"/>
                </a:lnTo>
                <a:lnTo>
                  <a:pt x="0" y="221113"/>
                </a:lnTo>
                <a:lnTo>
                  <a:pt x="5848" y="176660"/>
                </a:lnTo>
                <a:lnTo>
                  <a:pt x="20269" y="134197"/>
                </a:lnTo>
                <a:lnTo>
                  <a:pt x="42681" y="95373"/>
                </a:lnTo>
                <a:lnTo>
                  <a:pt x="72247" y="61664"/>
                </a:lnTo>
                <a:lnTo>
                  <a:pt x="107823" y="34366"/>
                </a:lnTo>
                <a:lnTo>
                  <a:pt x="148037" y="14535"/>
                </a:lnTo>
                <a:lnTo>
                  <a:pt x="191347" y="2933"/>
                </a:lnTo>
                <a:lnTo>
                  <a:pt x="221113" y="0"/>
                </a:lnTo>
                <a:lnTo>
                  <a:pt x="236086" y="0"/>
                </a:lnTo>
                <a:lnTo>
                  <a:pt x="280539" y="5857"/>
                </a:lnTo>
                <a:lnTo>
                  <a:pt x="323002" y="20269"/>
                </a:lnTo>
                <a:lnTo>
                  <a:pt x="361826" y="42681"/>
                </a:lnTo>
                <a:lnTo>
                  <a:pt x="395535" y="72247"/>
                </a:lnTo>
                <a:lnTo>
                  <a:pt x="422833" y="107823"/>
                </a:lnTo>
                <a:lnTo>
                  <a:pt x="442664" y="148037"/>
                </a:lnTo>
                <a:lnTo>
                  <a:pt x="454266" y="191347"/>
                </a:lnTo>
                <a:lnTo>
                  <a:pt x="457200" y="221113"/>
                </a:lnTo>
                <a:lnTo>
                  <a:pt x="457200" y="228600"/>
                </a:lnTo>
                <a:lnTo>
                  <a:pt x="457200" y="236086"/>
                </a:lnTo>
                <a:lnTo>
                  <a:pt x="451342" y="280539"/>
                </a:lnTo>
                <a:lnTo>
                  <a:pt x="436930" y="323002"/>
                </a:lnTo>
                <a:lnTo>
                  <a:pt x="414508" y="361826"/>
                </a:lnTo>
                <a:lnTo>
                  <a:pt x="384952" y="395535"/>
                </a:lnTo>
                <a:lnTo>
                  <a:pt x="349377" y="422833"/>
                </a:lnTo>
                <a:lnTo>
                  <a:pt x="309162" y="442664"/>
                </a:lnTo>
                <a:lnTo>
                  <a:pt x="265852" y="454266"/>
                </a:lnTo>
                <a:lnTo>
                  <a:pt x="243554" y="456828"/>
                </a:lnTo>
                <a:lnTo>
                  <a:pt x="236086" y="457200"/>
                </a:lnTo>
                <a:close/>
              </a:path>
            </a:pathLst>
          </a:custGeom>
          <a:solidFill>
            <a:srgbClr val="E4EF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41658" y="4412600"/>
            <a:ext cx="326639" cy="32663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4571774" y="4380570"/>
            <a:ext cx="1534297" cy="348094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143" spc="-64" dirty="0">
                <a:solidFill>
                  <a:srgbClr val="4A5462"/>
                </a:solidFill>
                <a:latin typeface="Arial"/>
                <a:cs typeface="Arial"/>
              </a:rPr>
              <a:t>Critical</a:t>
            </a:r>
            <a:r>
              <a:rPr sz="2143" spc="-86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100" dirty="0">
                <a:solidFill>
                  <a:srgbClr val="4A5462"/>
                </a:solidFill>
                <a:latin typeface="Arial"/>
                <a:cs typeface="Arial"/>
              </a:rPr>
              <a:t>Hours</a:t>
            </a:r>
            <a:endParaRPr sz="2143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760190" y="4798621"/>
            <a:ext cx="4244496" cy="1323004"/>
          </a:xfrm>
          <a:prstGeom prst="rect">
            <a:avLst/>
          </a:prstGeom>
        </p:spPr>
        <p:txBody>
          <a:bodyPr vert="horz" wrap="square" lIns="0" tIns="239535" rIns="0" bIns="0" rtlCol="0">
            <a:spAutoFit/>
          </a:bodyPr>
          <a:lstStyle/>
          <a:p>
            <a:pPr marL="18151">
              <a:spcBef>
                <a:spcPts val="1886"/>
              </a:spcBef>
            </a:pPr>
            <a:r>
              <a:rPr sz="4501" b="1" spc="-14" dirty="0">
                <a:solidFill>
                  <a:srgbClr val="0078D4"/>
                </a:solidFill>
                <a:latin typeface="Trebuchet MS"/>
                <a:cs typeface="Trebuchet MS"/>
              </a:rPr>
              <a:t>10–15</a:t>
            </a:r>
            <a:endParaRPr sz="4501" dirty="0">
              <a:latin typeface="Trebuchet MS"/>
              <a:cs typeface="Trebuchet MS"/>
            </a:endParaRPr>
          </a:p>
          <a:p>
            <a:pPr marL="18151">
              <a:spcBef>
                <a:spcPts val="779"/>
              </a:spcBef>
            </a:pPr>
            <a:r>
              <a:rPr sz="1858" spc="-71" dirty="0">
                <a:solidFill>
                  <a:srgbClr val="6A7280"/>
                </a:solidFill>
                <a:latin typeface="Arial"/>
                <a:cs typeface="Arial"/>
              </a:rPr>
              <a:t>Hours</a:t>
            </a:r>
            <a:r>
              <a:rPr sz="1858" spc="-57" dirty="0">
                <a:solidFill>
                  <a:srgbClr val="6A7280"/>
                </a:solidFill>
                <a:latin typeface="Arial"/>
                <a:cs typeface="Arial"/>
              </a:rPr>
              <a:t> showing</a:t>
            </a:r>
            <a:r>
              <a:rPr sz="1858" spc="-50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43" dirty="0">
                <a:solidFill>
                  <a:srgbClr val="6A7280"/>
                </a:solidFill>
                <a:latin typeface="Arial"/>
                <a:cs typeface="Arial"/>
              </a:rPr>
              <a:t>significant</a:t>
            </a:r>
            <a:r>
              <a:rPr sz="1858" spc="-50" dirty="0">
                <a:solidFill>
                  <a:srgbClr val="6A7280"/>
                </a:solidFill>
                <a:latin typeface="Arial"/>
                <a:cs typeface="Arial"/>
              </a:rPr>
              <a:t> downtime </a:t>
            </a:r>
            <a:r>
              <a:rPr sz="1858" spc="-64" dirty="0">
                <a:solidFill>
                  <a:srgbClr val="6A7280"/>
                </a:solidFill>
                <a:latin typeface="Arial"/>
                <a:cs typeface="Arial"/>
              </a:rPr>
              <a:t>spikes</a:t>
            </a:r>
            <a:endParaRPr sz="185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832731"/>
            <a:chOff x="0" y="0"/>
            <a:chExt cx="12192000" cy="7134225"/>
          </a:xfrm>
        </p:grpSpPr>
        <p:sp>
          <p:nvSpPr>
            <p:cNvPr id="3" name="object 3"/>
            <p:cNvSpPr/>
            <p:nvPr/>
          </p:nvSpPr>
          <p:spPr>
            <a:xfrm>
              <a:off x="0" y="895349"/>
              <a:ext cx="12192000" cy="6238875"/>
            </a:xfrm>
            <a:custGeom>
              <a:avLst/>
              <a:gdLst/>
              <a:ahLst/>
              <a:cxnLst/>
              <a:rect l="l" t="t" r="r" b="b"/>
              <a:pathLst>
                <a:path w="12192000" h="6238875">
                  <a:moveTo>
                    <a:pt x="0" y="6238875"/>
                  </a:moveTo>
                  <a:lnTo>
                    <a:pt x="12192000" y="623887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238875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895350"/>
            </a:xfrm>
            <a:custGeom>
              <a:avLst/>
              <a:gdLst/>
              <a:ahLst/>
              <a:cxnLst/>
              <a:rect l="l" t="t" r="r" b="b"/>
              <a:pathLst>
                <a:path w="12192000" h="895350">
                  <a:moveTo>
                    <a:pt x="12192000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92000" y="0"/>
                  </a:lnTo>
                  <a:lnTo>
                    <a:pt x="12192000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8455" y="302032"/>
            <a:ext cx="7119828" cy="650468"/>
          </a:xfrm>
          <a:prstGeom prst="rect">
            <a:avLst/>
          </a:prstGeom>
        </p:spPr>
        <p:txBody>
          <a:bodyPr vert="horz" wrap="square" lIns="0" tIns="23591" rIns="0" bIns="0" rtlCol="0">
            <a:spAutoFit/>
          </a:bodyPr>
          <a:lstStyle/>
          <a:p>
            <a:pPr marL="18151">
              <a:spcBef>
                <a:spcPts val="186"/>
              </a:spcBef>
            </a:pPr>
            <a:r>
              <a:rPr sz="4072" spc="-157" dirty="0"/>
              <a:t>Operator</a:t>
            </a:r>
            <a:r>
              <a:rPr sz="4072" spc="-171" dirty="0"/>
              <a:t> </a:t>
            </a:r>
            <a:r>
              <a:rPr sz="4072" spc="-64" dirty="0"/>
              <a:t>Performance</a:t>
            </a:r>
            <a:r>
              <a:rPr sz="4072" spc="-171" dirty="0"/>
              <a:t> </a:t>
            </a:r>
            <a:r>
              <a:rPr sz="4072" spc="-57" dirty="0"/>
              <a:t>Gaps</a:t>
            </a:r>
            <a:endParaRPr sz="4072" dirty="0"/>
          </a:p>
        </p:txBody>
      </p:sp>
      <p:grpSp>
        <p:nvGrpSpPr>
          <p:cNvPr id="14" name="object 14"/>
          <p:cNvGrpSpPr/>
          <p:nvPr/>
        </p:nvGrpSpPr>
        <p:grpSpPr>
          <a:xfrm>
            <a:off x="0" y="1398360"/>
            <a:ext cx="17420760" cy="7740443"/>
            <a:chOff x="0" y="1231391"/>
            <a:chExt cx="12192000" cy="5417185"/>
          </a:xfrm>
        </p:grpSpPr>
        <p:sp>
          <p:nvSpPr>
            <p:cNvPr id="15" name="object 15"/>
            <p:cNvSpPr/>
            <p:nvPr/>
          </p:nvSpPr>
          <p:spPr>
            <a:xfrm>
              <a:off x="0" y="6638924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20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12192000" y="0"/>
                  </a:lnTo>
                  <a:lnTo>
                    <a:pt x="12192000" y="9525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0727" y="1231391"/>
              <a:ext cx="5544820" cy="2365375"/>
            </a:xfrm>
            <a:custGeom>
              <a:avLst/>
              <a:gdLst/>
              <a:ahLst/>
              <a:cxnLst/>
              <a:rect l="l" t="t" r="r" b="b"/>
              <a:pathLst>
                <a:path w="5544820" h="2365375">
                  <a:moveTo>
                    <a:pt x="5544311" y="2365247"/>
                  </a:moveTo>
                  <a:lnTo>
                    <a:pt x="0" y="2365247"/>
                  </a:lnTo>
                  <a:lnTo>
                    <a:pt x="0" y="0"/>
                  </a:lnTo>
                  <a:lnTo>
                    <a:pt x="5544311" y="0"/>
                  </a:lnTo>
                  <a:lnTo>
                    <a:pt x="5544311" y="54482"/>
                  </a:lnTo>
                  <a:lnTo>
                    <a:pt x="156971" y="54482"/>
                  </a:lnTo>
                  <a:lnTo>
                    <a:pt x="150403" y="54800"/>
                  </a:lnTo>
                  <a:lnTo>
                    <a:pt x="114694" y="69591"/>
                  </a:lnTo>
                  <a:lnTo>
                    <a:pt x="93151" y="101832"/>
                  </a:lnTo>
                  <a:lnTo>
                    <a:pt x="90296" y="121157"/>
                  </a:lnTo>
                  <a:lnTo>
                    <a:pt x="90296" y="2169048"/>
                  </a:lnTo>
                  <a:lnTo>
                    <a:pt x="101523" y="2206085"/>
                  </a:lnTo>
                  <a:lnTo>
                    <a:pt x="131457" y="2230617"/>
                  </a:lnTo>
                  <a:lnTo>
                    <a:pt x="156971" y="2235707"/>
                  </a:lnTo>
                  <a:lnTo>
                    <a:pt x="5544311" y="2235707"/>
                  </a:lnTo>
                  <a:lnTo>
                    <a:pt x="5544311" y="2365247"/>
                  </a:lnTo>
                  <a:close/>
                </a:path>
                <a:path w="5544820" h="2365375">
                  <a:moveTo>
                    <a:pt x="5544311" y="2235707"/>
                  </a:moveTo>
                  <a:lnTo>
                    <a:pt x="5386212" y="2235707"/>
                  </a:lnTo>
                  <a:lnTo>
                    <a:pt x="5392778" y="2235388"/>
                  </a:lnTo>
                  <a:lnTo>
                    <a:pt x="5399219" y="2234431"/>
                  </a:lnTo>
                  <a:lnTo>
                    <a:pt x="5433334" y="2216170"/>
                  </a:lnTo>
                  <a:lnTo>
                    <a:pt x="5451595" y="2182055"/>
                  </a:lnTo>
                  <a:lnTo>
                    <a:pt x="5452871" y="2169048"/>
                  </a:lnTo>
                  <a:lnTo>
                    <a:pt x="5452871" y="121157"/>
                  </a:lnTo>
                  <a:lnTo>
                    <a:pt x="5441632" y="84108"/>
                  </a:lnTo>
                  <a:lnTo>
                    <a:pt x="5411723" y="59557"/>
                  </a:lnTo>
                  <a:lnTo>
                    <a:pt x="5386212" y="54482"/>
                  </a:lnTo>
                  <a:lnTo>
                    <a:pt x="5544311" y="54482"/>
                  </a:lnTo>
                  <a:lnTo>
                    <a:pt x="5544311" y="223570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1500" y="1276349"/>
              <a:ext cx="5381625" cy="2200275"/>
            </a:xfrm>
            <a:custGeom>
              <a:avLst/>
              <a:gdLst/>
              <a:ahLst/>
              <a:cxnLst/>
              <a:rect l="l" t="t" r="r" b="b"/>
              <a:pathLst>
                <a:path w="5381625" h="2200275">
                  <a:moveTo>
                    <a:pt x="5310425" y="2200275"/>
                  </a:moveTo>
                  <a:lnTo>
                    <a:pt x="71196" y="2200275"/>
                  </a:lnTo>
                  <a:lnTo>
                    <a:pt x="66241" y="2199789"/>
                  </a:lnTo>
                  <a:lnTo>
                    <a:pt x="29705" y="2184654"/>
                  </a:lnTo>
                  <a:lnTo>
                    <a:pt x="3885" y="2148611"/>
                  </a:lnTo>
                  <a:lnTo>
                    <a:pt x="0" y="2129075"/>
                  </a:lnTo>
                  <a:lnTo>
                    <a:pt x="0" y="212407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1" y="3886"/>
                  </a:lnTo>
                  <a:lnTo>
                    <a:pt x="71196" y="0"/>
                  </a:lnTo>
                  <a:lnTo>
                    <a:pt x="5310425" y="0"/>
                  </a:lnTo>
                  <a:lnTo>
                    <a:pt x="5351916" y="15620"/>
                  </a:lnTo>
                  <a:lnTo>
                    <a:pt x="5377738" y="51663"/>
                  </a:lnTo>
                  <a:lnTo>
                    <a:pt x="5381625" y="71199"/>
                  </a:lnTo>
                  <a:lnTo>
                    <a:pt x="5381625" y="2129075"/>
                  </a:lnTo>
                  <a:lnTo>
                    <a:pt x="5366004" y="2170566"/>
                  </a:lnTo>
                  <a:lnTo>
                    <a:pt x="5329961" y="2196388"/>
                  </a:lnTo>
                  <a:lnTo>
                    <a:pt x="5315388" y="2199789"/>
                  </a:lnTo>
                  <a:lnTo>
                    <a:pt x="5310425" y="2200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9625" y="15144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200"/>
                  </a:moveTo>
                  <a:lnTo>
                    <a:pt x="221113" y="457200"/>
                  </a:lnTo>
                  <a:lnTo>
                    <a:pt x="213645" y="456828"/>
                  </a:lnTo>
                  <a:lnTo>
                    <a:pt x="169402" y="449532"/>
                  </a:lnTo>
                  <a:lnTo>
                    <a:pt x="127441" y="433739"/>
                  </a:lnTo>
                  <a:lnTo>
                    <a:pt x="89365" y="410060"/>
                  </a:lnTo>
                  <a:lnTo>
                    <a:pt x="56639" y="379409"/>
                  </a:lnTo>
                  <a:lnTo>
                    <a:pt x="30521" y="342966"/>
                  </a:lnTo>
                  <a:lnTo>
                    <a:pt x="12016" y="302123"/>
                  </a:lnTo>
                  <a:lnTo>
                    <a:pt x="1834" y="258460"/>
                  </a:lnTo>
                  <a:lnTo>
                    <a:pt x="0" y="236086"/>
                  </a:lnTo>
                  <a:lnTo>
                    <a:pt x="0" y="221113"/>
                  </a:lnTo>
                  <a:lnTo>
                    <a:pt x="5853" y="176660"/>
                  </a:lnTo>
                  <a:lnTo>
                    <a:pt x="20266" y="134197"/>
                  </a:lnTo>
                  <a:lnTo>
                    <a:pt x="42685" y="95373"/>
                  </a:lnTo>
                  <a:lnTo>
                    <a:pt x="72249" y="61664"/>
                  </a:lnTo>
                  <a:lnTo>
                    <a:pt x="107822" y="34366"/>
                  </a:lnTo>
                  <a:lnTo>
                    <a:pt x="148037" y="14535"/>
                  </a:lnTo>
                  <a:lnTo>
                    <a:pt x="191347" y="2933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39" y="5857"/>
                  </a:lnTo>
                  <a:lnTo>
                    <a:pt x="323002" y="20269"/>
                  </a:lnTo>
                  <a:lnTo>
                    <a:pt x="361826" y="42681"/>
                  </a:lnTo>
                  <a:lnTo>
                    <a:pt x="395535" y="72247"/>
                  </a:lnTo>
                  <a:lnTo>
                    <a:pt x="422833" y="107823"/>
                  </a:lnTo>
                  <a:lnTo>
                    <a:pt x="442664" y="148037"/>
                  </a:lnTo>
                  <a:lnTo>
                    <a:pt x="454266" y="191347"/>
                  </a:lnTo>
                  <a:lnTo>
                    <a:pt x="457200" y="221113"/>
                  </a:lnTo>
                  <a:lnTo>
                    <a:pt x="457200" y="228600"/>
                  </a:lnTo>
                  <a:lnTo>
                    <a:pt x="457200" y="236086"/>
                  </a:lnTo>
                  <a:lnTo>
                    <a:pt x="451342" y="280539"/>
                  </a:lnTo>
                  <a:lnTo>
                    <a:pt x="436930" y="323002"/>
                  </a:lnTo>
                  <a:lnTo>
                    <a:pt x="414518" y="361826"/>
                  </a:lnTo>
                  <a:lnTo>
                    <a:pt x="384952" y="395535"/>
                  </a:lnTo>
                  <a:lnTo>
                    <a:pt x="349377" y="422833"/>
                  </a:lnTo>
                  <a:lnTo>
                    <a:pt x="309162" y="442664"/>
                  </a:lnTo>
                  <a:lnTo>
                    <a:pt x="265852" y="454266"/>
                  </a:lnTo>
                  <a:lnTo>
                    <a:pt x="243554" y="456828"/>
                  </a:lnTo>
                  <a:lnTo>
                    <a:pt x="236086" y="457200"/>
                  </a:lnTo>
                  <a:close/>
                </a:path>
              </a:pathLst>
            </a:custGeom>
            <a:solidFill>
              <a:srgbClr val="E4E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5350" y="1628774"/>
              <a:ext cx="285750" cy="228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625" y="3073399"/>
              <a:ext cx="133350" cy="13652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138709" y="1692996"/>
            <a:ext cx="7045427" cy="2418837"/>
          </a:xfrm>
          <a:prstGeom prst="rect">
            <a:avLst/>
          </a:prstGeom>
        </p:spPr>
        <p:txBody>
          <a:bodyPr vert="horz" wrap="square" lIns="0" tIns="117953" rIns="0" bIns="0" rtlCol="0">
            <a:spAutoFit/>
          </a:bodyPr>
          <a:lstStyle/>
          <a:p>
            <a:pPr marL="3993390">
              <a:spcBef>
                <a:spcPts val="929"/>
              </a:spcBef>
            </a:pPr>
            <a:r>
              <a:rPr sz="2143" spc="-93" dirty="0">
                <a:solidFill>
                  <a:srgbClr val="4A5462"/>
                </a:solidFill>
                <a:latin typeface="Arial"/>
                <a:cs typeface="Arial"/>
              </a:rPr>
              <a:t>Highest </a:t>
            </a:r>
            <a:r>
              <a:rPr sz="2143" spc="-129" dirty="0">
                <a:solidFill>
                  <a:srgbClr val="4A5462"/>
                </a:solidFill>
                <a:latin typeface="Arial"/>
                <a:cs typeface="Arial"/>
              </a:rPr>
              <a:t>Operator</a:t>
            </a:r>
            <a:r>
              <a:rPr sz="2143" spc="-93" dirty="0">
                <a:solidFill>
                  <a:srgbClr val="4A5462"/>
                </a:solidFill>
                <a:latin typeface="Arial"/>
                <a:cs typeface="Arial"/>
              </a:rPr>
              <a:t> Downtime</a:t>
            </a:r>
            <a:endParaRPr sz="2143">
              <a:latin typeface="Arial"/>
              <a:cs typeface="Arial"/>
            </a:endParaRPr>
          </a:p>
          <a:p>
            <a:pPr marL="18151">
              <a:spcBef>
                <a:spcPts val="2108"/>
              </a:spcBef>
            </a:pPr>
            <a:r>
              <a:rPr sz="5717" b="1" spc="-357" dirty="0">
                <a:solidFill>
                  <a:srgbClr val="0078D4"/>
                </a:solidFill>
                <a:latin typeface="Gill Sans MT"/>
                <a:cs typeface="Gill Sans MT"/>
              </a:rPr>
              <a:t>6h</a:t>
            </a:r>
            <a:r>
              <a:rPr sz="5717" b="1" spc="-291" dirty="0">
                <a:solidFill>
                  <a:srgbClr val="0078D4"/>
                </a:solidFill>
                <a:latin typeface="Gill Sans MT"/>
                <a:cs typeface="Gill Sans MT"/>
              </a:rPr>
              <a:t> </a:t>
            </a:r>
            <a:r>
              <a:rPr sz="5717" b="1" spc="-536" dirty="0">
                <a:solidFill>
                  <a:srgbClr val="0078D4"/>
                </a:solidFill>
                <a:latin typeface="Gill Sans MT"/>
                <a:cs typeface="Gill Sans MT"/>
              </a:rPr>
              <a:t>24m</a:t>
            </a:r>
            <a:endParaRPr sz="5717">
              <a:latin typeface="Gill Sans MT"/>
              <a:cs typeface="Gill Sans MT"/>
            </a:endParaRPr>
          </a:p>
          <a:p>
            <a:pPr marL="18151">
              <a:spcBef>
                <a:spcPts val="750"/>
              </a:spcBef>
            </a:pPr>
            <a:r>
              <a:rPr sz="1858" spc="-86" dirty="0">
                <a:solidFill>
                  <a:srgbClr val="6A7280"/>
                </a:solidFill>
                <a:latin typeface="Arial"/>
                <a:cs typeface="Arial"/>
              </a:rPr>
              <a:t>Charlie</a:t>
            </a:r>
            <a:r>
              <a:rPr sz="1858" spc="-79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150" dirty="0">
                <a:solidFill>
                  <a:srgbClr val="6A7280"/>
                </a:solidFill>
                <a:latin typeface="Arial"/>
                <a:cs typeface="Arial"/>
              </a:rPr>
              <a:t>-</a:t>
            </a:r>
            <a:r>
              <a:rPr sz="1858" spc="-79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100" dirty="0">
                <a:solidFill>
                  <a:srgbClr val="6A7280"/>
                </a:solidFill>
                <a:latin typeface="Arial"/>
                <a:cs typeface="Arial"/>
              </a:rPr>
              <a:t>Well</a:t>
            </a:r>
            <a:r>
              <a:rPr sz="1858" spc="-71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100" dirty="0">
                <a:solidFill>
                  <a:srgbClr val="6A7280"/>
                </a:solidFill>
                <a:latin typeface="Arial"/>
                <a:cs typeface="Arial"/>
              </a:rPr>
              <a:t>above</a:t>
            </a:r>
            <a:r>
              <a:rPr sz="1858" spc="-79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14" dirty="0">
                <a:solidFill>
                  <a:srgbClr val="6A7280"/>
                </a:solidFill>
                <a:latin typeface="Arial"/>
                <a:cs typeface="Arial"/>
              </a:rPr>
              <a:t>average</a:t>
            </a:r>
            <a:endParaRPr sz="1858">
              <a:latin typeface="Arial"/>
              <a:cs typeface="Arial"/>
            </a:endParaRPr>
          </a:p>
          <a:p>
            <a:pPr marL="263201">
              <a:spcBef>
                <a:spcPts val="1415"/>
              </a:spcBef>
            </a:pPr>
            <a:r>
              <a:rPr sz="1643" spc="-57" dirty="0">
                <a:solidFill>
                  <a:srgbClr val="EF4444"/>
                </a:solidFill>
                <a:latin typeface="Arial"/>
                <a:cs typeface="Arial"/>
              </a:rPr>
              <a:t>Critical</a:t>
            </a:r>
            <a:r>
              <a:rPr sz="1643" spc="-21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71" dirty="0">
                <a:solidFill>
                  <a:srgbClr val="EF4444"/>
                </a:solidFill>
                <a:latin typeface="Arial"/>
                <a:cs typeface="Arial"/>
              </a:rPr>
              <a:t>performance</a:t>
            </a:r>
            <a:r>
              <a:rPr sz="1643" spc="-14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36" dirty="0">
                <a:solidFill>
                  <a:srgbClr val="EF4444"/>
                </a:solidFill>
                <a:latin typeface="Arial"/>
                <a:cs typeface="Arial"/>
              </a:rPr>
              <a:t>gap</a:t>
            </a:r>
            <a:endParaRPr sz="1643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846479" y="1398360"/>
            <a:ext cx="7922817" cy="3379809"/>
            <a:chOff x="6156959" y="1231391"/>
            <a:chExt cx="5544820" cy="2365375"/>
          </a:xfrm>
        </p:grpSpPr>
        <p:sp>
          <p:nvSpPr>
            <p:cNvPr id="23" name="object 23"/>
            <p:cNvSpPr/>
            <p:nvPr/>
          </p:nvSpPr>
          <p:spPr>
            <a:xfrm>
              <a:off x="6156959" y="1231391"/>
              <a:ext cx="5544820" cy="2365375"/>
            </a:xfrm>
            <a:custGeom>
              <a:avLst/>
              <a:gdLst/>
              <a:ahLst/>
              <a:cxnLst/>
              <a:rect l="l" t="t" r="r" b="b"/>
              <a:pathLst>
                <a:path w="5544820" h="2365375">
                  <a:moveTo>
                    <a:pt x="5544311" y="2365247"/>
                  </a:moveTo>
                  <a:lnTo>
                    <a:pt x="0" y="2365247"/>
                  </a:lnTo>
                  <a:lnTo>
                    <a:pt x="0" y="0"/>
                  </a:lnTo>
                  <a:lnTo>
                    <a:pt x="5544311" y="0"/>
                  </a:lnTo>
                  <a:lnTo>
                    <a:pt x="5544311" y="54482"/>
                  </a:lnTo>
                  <a:lnTo>
                    <a:pt x="158130" y="54482"/>
                  </a:lnTo>
                  <a:lnTo>
                    <a:pt x="151546" y="54800"/>
                  </a:lnTo>
                  <a:lnTo>
                    <a:pt x="115841" y="69591"/>
                  </a:lnTo>
                  <a:lnTo>
                    <a:pt x="94281" y="101832"/>
                  </a:lnTo>
                  <a:lnTo>
                    <a:pt x="91439" y="121157"/>
                  </a:lnTo>
                  <a:lnTo>
                    <a:pt x="91439" y="2169048"/>
                  </a:lnTo>
                  <a:lnTo>
                    <a:pt x="102664" y="2206085"/>
                  </a:lnTo>
                  <a:lnTo>
                    <a:pt x="132587" y="2230617"/>
                  </a:lnTo>
                  <a:lnTo>
                    <a:pt x="158130" y="2235707"/>
                  </a:lnTo>
                  <a:lnTo>
                    <a:pt x="5544311" y="2235707"/>
                  </a:lnTo>
                  <a:lnTo>
                    <a:pt x="5544311" y="2365247"/>
                  </a:lnTo>
                  <a:close/>
                </a:path>
                <a:path w="5544820" h="2365375">
                  <a:moveTo>
                    <a:pt x="5544311" y="2235707"/>
                  </a:moveTo>
                  <a:lnTo>
                    <a:pt x="5387339" y="2235707"/>
                  </a:lnTo>
                  <a:lnTo>
                    <a:pt x="5393906" y="2235388"/>
                  </a:lnTo>
                  <a:lnTo>
                    <a:pt x="5400347" y="2234431"/>
                  </a:lnTo>
                  <a:lnTo>
                    <a:pt x="5434492" y="2216170"/>
                  </a:lnTo>
                  <a:lnTo>
                    <a:pt x="5452742" y="2182055"/>
                  </a:lnTo>
                  <a:lnTo>
                    <a:pt x="5454030" y="2169048"/>
                  </a:lnTo>
                  <a:lnTo>
                    <a:pt x="5454030" y="121157"/>
                  </a:lnTo>
                  <a:lnTo>
                    <a:pt x="5442790" y="84108"/>
                  </a:lnTo>
                  <a:lnTo>
                    <a:pt x="5412851" y="59557"/>
                  </a:lnTo>
                  <a:lnTo>
                    <a:pt x="5387339" y="54482"/>
                  </a:lnTo>
                  <a:lnTo>
                    <a:pt x="5544311" y="54482"/>
                  </a:lnTo>
                  <a:lnTo>
                    <a:pt x="5544311" y="223570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38875" y="1276349"/>
              <a:ext cx="5381625" cy="2200275"/>
            </a:xfrm>
            <a:custGeom>
              <a:avLst/>
              <a:gdLst/>
              <a:ahLst/>
              <a:cxnLst/>
              <a:rect l="l" t="t" r="r" b="b"/>
              <a:pathLst>
                <a:path w="5381625" h="2200275">
                  <a:moveTo>
                    <a:pt x="5310473" y="2200275"/>
                  </a:moveTo>
                  <a:lnTo>
                    <a:pt x="71199" y="2200275"/>
                  </a:lnTo>
                  <a:lnTo>
                    <a:pt x="66236" y="2199789"/>
                  </a:lnTo>
                  <a:lnTo>
                    <a:pt x="29708" y="2184654"/>
                  </a:lnTo>
                  <a:lnTo>
                    <a:pt x="3886" y="2148611"/>
                  </a:lnTo>
                  <a:lnTo>
                    <a:pt x="0" y="2129075"/>
                  </a:lnTo>
                  <a:lnTo>
                    <a:pt x="0" y="212407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5310473" y="0"/>
                  </a:lnTo>
                  <a:lnTo>
                    <a:pt x="5351907" y="15620"/>
                  </a:lnTo>
                  <a:lnTo>
                    <a:pt x="5377719" y="51663"/>
                  </a:lnTo>
                  <a:lnTo>
                    <a:pt x="5381625" y="71199"/>
                  </a:lnTo>
                  <a:lnTo>
                    <a:pt x="5381625" y="2129075"/>
                  </a:lnTo>
                  <a:lnTo>
                    <a:pt x="5366004" y="2170566"/>
                  </a:lnTo>
                  <a:lnTo>
                    <a:pt x="5329999" y="2196388"/>
                  </a:lnTo>
                  <a:lnTo>
                    <a:pt x="5315426" y="2199789"/>
                  </a:lnTo>
                  <a:lnTo>
                    <a:pt x="5310473" y="2200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77000" y="15144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200"/>
                  </a:moveTo>
                  <a:lnTo>
                    <a:pt x="221113" y="457200"/>
                  </a:lnTo>
                  <a:lnTo>
                    <a:pt x="213645" y="456828"/>
                  </a:lnTo>
                  <a:lnTo>
                    <a:pt x="169402" y="449532"/>
                  </a:lnTo>
                  <a:lnTo>
                    <a:pt x="127444" y="433739"/>
                  </a:lnTo>
                  <a:lnTo>
                    <a:pt x="89363" y="410060"/>
                  </a:lnTo>
                  <a:lnTo>
                    <a:pt x="56635" y="379409"/>
                  </a:lnTo>
                  <a:lnTo>
                    <a:pt x="30518" y="342966"/>
                  </a:lnTo>
                  <a:lnTo>
                    <a:pt x="12020" y="302123"/>
                  </a:lnTo>
                  <a:lnTo>
                    <a:pt x="1838" y="258460"/>
                  </a:lnTo>
                  <a:lnTo>
                    <a:pt x="0" y="236086"/>
                  </a:lnTo>
                  <a:lnTo>
                    <a:pt x="0" y="221113"/>
                  </a:lnTo>
                  <a:lnTo>
                    <a:pt x="5848" y="176660"/>
                  </a:lnTo>
                  <a:lnTo>
                    <a:pt x="20269" y="134197"/>
                  </a:lnTo>
                  <a:lnTo>
                    <a:pt x="42681" y="95373"/>
                  </a:lnTo>
                  <a:lnTo>
                    <a:pt x="72247" y="61664"/>
                  </a:lnTo>
                  <a:lnTo>
                    <a:pt x="107823" y="34366"/>
                  </a:lnTo>
                  <a:lnTo>
                    <a:pt x="148037" y="14535"/>
                  </a:lnTo>
                  <a:lnTo>
                    <a:pt x="191347" y="2933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39" y="5857"/>
                  </a:lnTo>
                  <a:lnTo>
                    <a:pt x="323002" y="20269"/>
                  </a:lnTo>
                  <a:lnTo>
                    <a:pt x="361826" y="42681"/>
                  </a:lnTo>
                  <a:lnTo>
                    <a:pt x="395535" y="72247"/>
                  </a:lnTo>
                  <a:lnTo>
                    <a:pt x="422833" y="107823"/>
                  </a:lnTo>
                  <a:lnTo>
                    <a:pt x="442664" y="148037"/>
                  </a:lnTo>
                  <a:lnTo>
                    <a:pt x="454266" y="191347"/>
                  </a:lnTo>
                  <a:lnTo>
                    <a:pt x="457200" y="221113"/>
                  </a:lnTo>
                  <a:lnTo>
                    <a:pt x="457200" y="228600"/>
                  </a:lnTo>
                  <a:lnTo>
                    <a:pt x="457200" y="236086"/>
                  </a:lnTo>
                  <a:lnTo>
                    <a:pt x="451342" y="280539"/>
                  </a:lnTo>
                  <a:lnTo>
                    <a:pt x="436930" y="323002"/>
                  </a:lnTo>
                  <a:lnTo>
                    <a:pt x="414508" y="361826"/>
                  </a:lnTo>
                  <a:lnTo>
                    <a:pt x="384952" y="395535"/>
                  </a:lnTo>
                  <a:lnTo>
                    <a:pt x="349377" y="422833"/>
                  </a:lnTo>
                  <a:lnTo>
                    <a:pt x="309162" y="442664"/>
                  </a:lnTo>
                  <a:lnTo>
                    <a:pt x="265852" y="454266"/>
                  </a:lnTo>
                  <a:lnTo>
                    <a:pt x="243554" y="456828"/>
                  </a:lnTo>
                  <a:lnTo>
                    <a:pt x="236086" y="457200"/>
                  </a:lnTo>
                  <a:close/>
                </a:path>
              </a:pathLst>
            </a:custGeom>
            <a:solidFill>
              <a:srgbClr val="E4E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91300" y="1641474"/>
              <a:ext cx="228600" cy="2032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7000" y="3079749"/>
              <a:ext cx="101600" cy="12065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9285637" y="1834056"/>
            <a:ext cx="7045427" cy="2418837"/>
          </a:xfrm>
          <a:prstGeom prst="rect">
            <a:avLst/>
          </a:prstGeom>
        </p:spPr>
        <p:txBody>
          <a:bodyPr vert="horz" wrap="square" lIns="0" tIns="117953" rIns="0" bIns="0" rtlCol="0">
            <a:spAutoFit/>
          </a:bodyPr>
          <a:lstStyle/>
          <a:p>
            <a:pPr marR="7260" algn="r">
              <a:spcBef>
                <a:spcPts val="929"/>
              </a:spcBef>
            </a:pPr>
            <a:r>
              <a:rPr sz="2143" spc="-129" dirty="0">
                <a:solidFill>
                  <a:srgbClr val="4A5462"/>
                </a:solidFill>
                <a:latin typeface="Arial"/>
                <a:cs typeface="Arial"/>
              </a:rPr>
              <a:t>Operator</a:t>
            </a:r>
            <a:r>
              <a:rPr sz="2143" spc="-9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14" dirty="0">
                <a:solidFill>
                  <a:srgbClr val="4A5462"/>
                </a:solidFill>
                <a:latin typeface="Arial"/>
                <a:cs typeface="Arial"/>
              </a:rPr>
              <a:t>Variation</a:t>
            </a:r>
            <a:endParaRPr sz="2143">
              <a:latin typeface="Arial"/>
              <a:cs typeface="Arial"/>
            </a:endParaRPr>
          </a:p>
          <a:p>
            <a:pPr marL="18151">
              <a:spcBef>
                <a:spcPts val="2108"/>
              </a:spcBef>
            </a:pPr>
            <a:r>
              <a:rPr sz="5717" b="1" spc="-14" dirty="0">
                <a:solidFill>
                  <a:srgbClr val="0078D4"/>
                </a:solidFill>
                <a:latin typeface="Gill Sans MT"/>
                <a:cs typeface="Gill Sans MT"/>
              </a:rPr>
              <a:t>44.09%</a:t>
            </a:r>
            <a:endParaRPr sz="5717">
              <a:latin typeface="Gill Sans MT"/>
              <a:cs typeface="Gill Sans MT"/>
            </a:endParaRPr>
          </a:p>
          <a:p>
            <a:pPr marR="3405273" algn="r">
              <a:spcBef>
                <a:spcPts val="750"/>
              </a:spcBef>
            </a:pPr>
            <a:r>
              <a:rPr sz="1858" spc="-114" dirty="0">
                <a:solidFill>
                  <a:srgbClr val="6A7280"/>
                </a:solidFill>
                <a:latin typeface="Arial"/>
                <a:cs typeface="Arial"/>
              </a:rPr>
              <a:t>Of</a:t>
            </a:r>
            <a:r>
              <a:rPr sz="1858" spc="-6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50" dirty="0">
                <a:solidFill>
                  <a:srgbClr val="6A7280"/>
                </a:solidFill>
                <a:latin typeface="Arial"/>
                <a:cs typeface="Arial"/>
              </a:rPr>
              <a:t>downtime</a:t>
            </a:r>
            <a:r>
              <a:rPr sz="1858" spc="-64" dirty="0">
                <a:solidFill>
                  <a:srgbClr val="6A7280"/>
                </a:solidFill>
                <a:latin typeface="Arial"/>
                <a:cs typeface="Arial"/>
              </a:rPr>
              <a:t> linked </a:t>
            </a:r>
            <a:r>
              <a:rPr sz="1858" spc="-14" dirty="0">
                <a:solidFill>
                  <a:srgbClr val="6A7280"/>
                </a:solidFill>
                <a:latin typeface="Arial"/>
                <a:cs typeface="Arial"/>
              </a:rPr>
              <a:t>to</a:t>
            </a:r>
            <a:r>
              <a:rPr sz="1858" spc="-6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71" dirty="0">
                <a:solidFill>
                  <a:srgbClr val="6A7280"/>
                </a:solidFill>
                <a:latin typeface="Arial"/>
                <a:cs typeface="Arial"/>
              </a:rPr>
              <a:t>operator</a:t>
            </a:r>
            <a:r>
              <a:rPr sz="1858" spc="-6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57" dirty="0">
                <a:solidFill>
                  <a:srgbClr val="6A7280"/>
                </a:solidFill>
                <a:latin typeface="Arial"/>
                <a:cs typeface="Arial"/>
              </a:rPr>
              <a:t>errors</a:t>
            </a:r>
            <a:endParaRPr sz="1858">
              <a:latin typeface="Arial"/>
              <a:cs typeface="Arial"/>
            </a:endParaRPr>
          </a:p>
          <a:p>
            <a:pPr marR="3413441" algn="r">
              <a:spcBef>
                <a:spcPts val="1415"/>
              </a:spcBef>
            </a:pPr>
            <a:r>
              <a:rPr sz="1643" spc="-64" dirty="0">
                <a:solidFill>
                  <a:srgbClr val="EF4444"/>
                </a:solidFill>
                <a:latin typeface="Arial"/>
                <a:cs typeface="Arial"/>
              </a:rPr>
              <a:t>Indicates</a:t>
            </a:r>
            <a:r>
              <a:rPr sz="1643" spc="-36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57" dirty="0">
                <a:solidFill>
                  <a:srgbClr val="EF4444"/>
                </a:solidFill>
                <a:latin typeface="Arial"/>
                <a:cs typeface="Arial"/>
              </a:rPr>
              <a:t>training</a:t>
            </a:r>
            <a:r>
              <a:rPr sz="1643" spc="-36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107" dirty="0">
                <a:solidFill>
                  <a:srgbClr val="EF4444"/>
                </a:solidFill>
                <a:latin typeface="Arial"/>
                <a:cs typeface="Arial"/>
              </a:rPr>
              <a:t>and</a:t>
            </a:r>
            <a:r>
              <a:rPr sz="1643" spc="-29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71" dirty="0">
                <a:solidFill>
                  <a:srgbClr val="EF4444"/>
                </a:solidFill>
                <a:latin typeface="Arial"/>
                <a:cs typeface="Arial"/>
              </a:rPr>
              <a:t>supervision</a:t>
            </a:r>
            <a:r>
              <a:rPr sz="1643" spc="-36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43" spc="-29" dirty="0">
                <a:solidFill>
                  <a:srgbClr val="EF4444"/>
                </a:solidFill>
                <a:latin typeface="Arial"/>
                <a:cs typeface="Arial"/>
              </a:rPr>
              <a:t>needs</a:t>
            </a:r>
            <a:endParaRPr sz="1643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710584" y="9384001"/>
            <a:ext cx="391150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1615"/>
              </a:lnSpc>
            </a:pPr>
            <a:r>
              <a:rPr sz="1643" spc="-64" dirty="0">
                <a:solidFill>
                  <a:srgbClr val="6A7280"/>
                </a:solidFill>
                <a:latin typeface="Arial"/>
                <a:cs typeface="Arial"/>
              </a:rPr>
              <a:t>Manufacturing</a:t>
            </a:r>
            <a:r>
              <a:rPr sz="1643" spc="-1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643" spc="-79" dirty="0">
                <a:solidFill>
                  <a:srgbClr val="6A7280"/>
                </a:solidFill>
                <a:latin typeface="Arial"/>
                <a:cs typeface="Arial"/>
              </a:rPr>
              <a:t>Downtime</a:t>
            </a:r>
            <a:r>
              <a:rPr sz="1643" spc="-7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643" spc="-79" dirty="0">
                <a:solidFill>
                  <a:srgbClr val="6A7280"/>
                </a:solidFill>
                <a:latin typeface="Arial"/>
                <a:cs typeface="Arial"/>
              </a:rPr>
              <a:t>Analysis</a:t>
            </a:r>
            <a:r>
              <a:rPr sz="1643" spc="-1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6A7280"/>
                </a:solidFill>
                <a:latin typeface="Arial"/>
                <a:cs typeface="Arial"/>
              </a:rPr>
              <a:t>Dashboard</a:t>
            </a:r>
            <a:endParaRPr sz="1643">
              <a:latin typeface="Arial"/>
              <a:cs typeface="Arial"/>
            </a:endParaRPr>
          </a:p>
        </p:txBody>
      </p:sp>
      <p:sp>
        <p:nvSpPr>
          <p:cNvPr id="35" name="object 16">
            <a:extLst>
              <a:ext uri="{FF2B5EF4-FFF2-40B4-BE49-F238E27FC236}">
                <a16:creationId xmlns:a16="http://schemas.microsoft.com/office/drawing/2014/main" id="{C7D3594C-0DC4-C016-6DFD-09797048D453}"/>
              </a:ext>
            </a:extLst>
          </p:cNvPr>
          <p:cNvSpPr/>
          <p:nvPr/>
        </p:nvSpPr>
        <p:spPr>
          <a:xfrm>
            <a:off x="2804061" y="4907816"/>
            <a:ext cx="11393736" cy="4092008"/>
          </a:xfrm>
          <a:custGeom>
            <a:avLst/>
            <a:gdLst/>
            <a:ahLst/>
            <a:cxnLst/>
            <a:rect l="l" t="t" r="r" b="b"/>
            <a:pathLst>
              <a:path w="5544820" h="2365375">
                <a:moveTo>
                  <a:pt x="5544311" y="2365247"/>
                </a:moveTo>
                <a:lnTo>
                  <a:pt x="0" y="2365247"/>
                </a:lnTo>
                <a:lnTo>
                  <a:pt x="0" y="0"/>
                </a:lnTo>
                <a:lnTo>
                  <a:pt x="5544311" y="0"/>
                </a:lnTo>
                <a:lnTo>
                  <a:pt x="5544311" y="54482"/>
                </a:lnTo>
                <a:lnTo>
                  <a:pt x="156971" y="54482"/>
                </a:lnTo>
                <a:lnTo>
                  <a:pt x="150403" y="54800"/>
                </a:lnTo>
                <a:lnTo>
                  <a:pt x="114694" y="69591"/>
                </a:lnTo>
                <a:lnTo>
                  <a:pt x="93151" y="101832"/>
                </a:lnTo>
                <a:lnTo>
                  <a:pt x="90296" y="121157"/>
                </a:lnTo>
                <a:lnTo>
                  <a:pt x="90296" y="2169048"/>
                </a:lnTo>
                <a:lnTo>
                  <a:pt x="101523" y="2206085"/>
                </a:lnTo>
                <a:lnTo>
                  <a:pt x="131457" y="2230617"/>
                </a:lnTo>
                <a:lnTo>
                  <a:pt x="156971" y="2235707"/>
                </a:lnTo>
                <a:lnTo>
                  <a:pt x="5544311" y="2235707"/>
                </a:lnTo>
                <a:lnTo>
                  <a:pt x="5544311" y="2365247"/>
                </a:lnTo>
                <a:close/>
              </a:path>
              <a:path w="5544820" h="2365375">
                <a:moveTo>
                  <a:pt x="5544311" y="2235707"/>
                </a:moveTo>
                <a:lnTo>
                  <a:pt x="5386212" y="2235707"/>
                </a:lnTo>
                <a:lnTo>
                  <a:pt x="5392778" y="2235388"/>
                </a:lnTo>
                <a:lnTo>
                  <a:pt x="5399219" y="2234431"/>
                </a:lnTo>
                <a:lnTo>
                  <a:pt x="5433334" y="2216170"/>
                </a:lnTo>
                <a:lnTo>
                  <a:pt x="5451595" y="2182055"/>
                </a:lnTo>
                <a:lnTo>
                  <a:pt x="5452871" y="2169048"/>
                </a:lnTo>
                <a:lnTo>
                  <a:pt x="5452871" y="121157"/>
                </a:lnTo>
                <a:lnTo>
                  <a:pt x="5441632" y="84108"/>
                </a:lnTo>
                <a:lnTo>
                  <a:pt x="5411723" y="59557"/>
                </a:lnTo>
                <a:lnTo>
                  <a:pt x="5386212" y="54482"/>
                </a:lnTo>
                <a:lnTo>
                  <a:pt x="5544311" y="54482"/>
                </a:lnTo>
                <a:lnTo>
                  <a:pt x="5544311" y="2235707"/>
                </a:lnTo>
                <a:close/>
              </a:path>
            </a:pathLst>
          </a:custGeom>
          <a:solidFill>
            <a:srgbClr val="000000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633FC7C-738A-9D8A-79BF-380B200BD4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0198" y="4991100"/>
            <a:ext cx="11172064" cy="39303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51044"/>
            <a:ext cx="17475200" cy="9880843"/>
            <a:chOff x="0" y="0"/>
            <a:chExt cx="12115800" cy="8486775"/>
          </a:xfrm>
        </p:grpSpPr>
        <p:sp>
          <p:nvSpPr>
            <p:cNvPr id="3" name="object 3"/>
            <p:cNvSpPr/>
            <p:nvPr/>
          </p:nvSpPr>
          <p:spPr>
            <a:xfrm>
              <a:off x="0" y="895349"/>
              <a:ext cx="12115800" cy="7591425"/>
            </a:xfrm>
            <a:custGeom>
              <a:avLst/>
              <a:gdLst/>
              <a:ahLst/>
              <a:cxnLst/>
              <a:rect l="l" t="t" r="r" b="b"/>
              <a:pathLst>
                <a:path w="12115800" h="7591425">
                  <a:moveTo>
                    <a:pt x="0" y="7591425"/>
                  </a:moveTo>
                  <a:lnTo>
                    <a:pt x="12115800" y="7591425"/>
                  </a:lnTo>
                  <a:lnTo>
                    <a:pt x="12115800" y="0"/>
                  </a:lnTo>
                  <a:lnTo>
                    <a:pt x="0" y="0"/>
                  </a:lnTo>
                  <a:lnTo>
                    <a:pt x="0" y="7591425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15800" cy="895350"/>
            </a:xfrm>
            <a:custGeom>
              <a:avLst/>
              <a:gdLst/>
              <a:ahLst/>
              <a:cxnLst/>
              <a:rect l="l" t="t" r="r" b="b"/>
              <a:pathLst>
                <a:path w="12115800" h="895350">
                  <a:moveTo>
                    <a:pt x="12115800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15800" y="0"/>
                  </a:lnTo>
                  <a:lnTo>
                    <a:pt x="12115800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0400" y="107459"/>
            <a:ext cx="14394560" cy="692641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pc="-314" dirty="0"/>
              <a:t>Dashboard</a:t>
            </a:r>
            <a:r>
              <a:rPr spc="-243" dirty="0"/>
              <a:t> </a:t>
            </a:r>
            <a:r>
              <a:rPr spc="-250" dirty="0"/>
              <a:t>Highlights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8799" y="1281522"/>
            <a:ext cx="326639" cy="3266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946" y="4529768"/>
            <a:ext cx="331176" cy="33571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799" y="7206094"/>
            <a:ext cx="403762" cy="32663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36171" y="1172355"/>
            <a:ext cx="5294334" cy="479989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3000" b="1" spc="-271" dirty="0">
                <a:solidFill>
                  <a:srgbClr val="0078D4"/>
                </a:solidFill>
                <a:latin typeface="Arial"/>
                <a:cs typeface="Arial"/>
              </a:rPr>
              <a:t>Overview</a:t>
            </a:r>
            <a:r>
              <a:rPr sz="3000" b="1" spc="-121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3000" b="1" spc="-200" dirty="0">
                <a:solidFill>
                  <a:srgbClr val="0078D4"/>
                </a:solidFill>
                <a:latin typeface="Arial"/>
                <a:cs typeface="Arial"/>
              </a:rPr>
              <a:t>Page</a:t>
            </a:r>
            <a:endParaRPr sz="3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8955" y="1738275"/>
            <a:ext cx="13909795" cy="536827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5000"/>
              </a:lnSpc>
              <a:spcBef>
                <a:spcPts val="129"/>
              </a:spcBef>
            </a:pPr>
            <a:r>
              <a:rPr sz="3000" spc="-229" dirty="0">
                <a:solidFill>
                  <a:srgbClr val="374050"/>
                </a:solidFill>
                <a:latin typeface="Arial"/>
                <a:cs typeface="Arial"/>
              </a:rPr>
              <a:t>Key</a:t>
            </a:r>
            <a:r>
              <a:rPr sz="3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86" dirty="0">
                <a:solidFill>
                  <a:srgbClr val="374050"/>
                </a:solidFill>
                <a:latin typeface="Arial"/>
                <a:cs typeface="Arial"/>
              </a:rPr>
              <a:t>KPIs,</a:t>
            </a:r>
            <a:r>
              <a:rPr sz="3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36" dirty="0">
                <a:solidFill>
                  <a:srgbClr val="374050"/>
                </a:solidFill>
                <a:latin typeface="Arial"/>
                <a:cs typeface="Arial"/>
              </a:rPr>
              <a:t>total</a:t>
            </a:r>
            <a:r>
              <a:rPr sz="3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downtime</a:t>
            </a:r>
            <a:r>
              <a:rPr sz="3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14" dirty="0">
                <a:solidFill>
                  <a:srgbClr val="374050"/>
                </a:solidFill>
                <a:latin typeface="Arial"/>
                <a:cs typeface="Arial"/>
              </a:rPr>
              <a:t>trends,</a:t>
            </a:r>
            <a:r>
              <a:rPr sz="3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36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3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overall </a:t>
            </a:r>
            <a:r>
              <a:rPr sz="3000" spc="-79" dirty="0">
                <a:solidFill>
                  <a:srgbClr val="374050"/>
                </a:solidFill>
                <a:latin typeface="Arial"/>
                <a:cs typeface="Arial"/>
              </a:rPr>
              <a:t>production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 efficiency</a:t>
            </a:r>
            <a:r>
              <a:rPr sz="3000" spc="-7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4" dirty="0">
                <a:solidFill>
                  <a:srgbClr val="374050"/>
                </a:solidFill>
                <a:latin typeface="Arial"/>
                <a:cs typeface="Arial"/>
              </a:rPr>
              <a:t>metrics.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8947" y="2854285"/>
            <a:ext cx="14569694" cy="526439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1500"/>
              </a:lnSpc>
              <a:spcBef>
                <a:spcPts val="129"/>
              </a:spcBef>
            </a:pP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Visualizes</a:t>
            </a:r>
            <a:r>
              <a:rPr sz="3000" spc="-6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43" dirty="0">
                <a:solidFill>
                  <a:srgbClr val="374050"/>
                </a:solidFill>
                <a:latin typeface="Arial"/>
                <a:cs typeface="Arial"/>
              </a:rPr>
              <a:t>critical</a:t>
            </a:r>
            <a:r>
              <a:rPr sz="3000" spc="-6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performance</a:t>
            </a:r>
            <a:r>
              <a:rPr sz="3000" spc="-6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71" dirty="0">
                <a:solidFill>
                  <a:srgbClr val="374050"/>
                </a:solidFill>
                <a:latin typeface="Arial"/>
                <a:cs typeface="Arial"/>
              </a:rPr>
              <a:t>indicators</a:t>
            </a:r>
            <a:r>
              <a:rPr sz="3000" spc="-5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and 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efficiency</a:t>
            </a:r>
            <a:r>
              <a:rPr sz="30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losses</a:t>
            </a:r>
            <a:r>
              <a:rPr sz="30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93" dirty="0">
                <a:solidFill>
                  <a:srgbClr val="374050"/>
                </a:solidFill>
                <a:latin typeface="Arial"/>
                <a:cs typeface="Arial"/>
              </a:rPr>
              <a:t>across</a:t>
            </a:r>
            <a:r>
              <a:rPr sz="3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57" dirty="0">
                <a:solidFill>
                  <a:srgbClr val="374050"/>
                </a:solidFill>
                <a:latin typeface="Arial"/>
                <a:cs typeface="Arial"/>
              </a:rPr>
              <a:t>time</a:t>
            </a:r>
            <a:r>
              <a:rPr sz="30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4" dirty="0">
                <a:solidFill>
                  <a:srgbClr val="374050"/>
                </a:solidFill>
                <a:latin typeface="Arial"/>
                <a:cs typeface="Arial"/>
              </a:rPr>
              <a:t>periods.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6997" y="4425139"/>
            <a:ext cx="7243738" cy="479989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3000" b="1" spc="-264" dirty="0">
                <a:solidFill>
                  <a:srgbClr val="0078D4"/>
                </a:solidFill>
                <a:latin typeface="Arial"/>
                <a:cs typeface="Arial"/>
              </a:rPr>
              <a:t>Batch</a:t>
            </a:r>
            <a:r>
              <a:rPr sz="3000" b="1" spc="-136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3000" b="1" spc="-257" dirty="0">
                <a:solidFill>
                  <a:srgbClr val="0078D4"/>
                </a:solidFill>
                <a:latin typeface="Arial"/>
                <a:cs typeface="Arial"/>
              </a:rPr>
              <a:t>Analysis</a:t>
            </a:r>
            <a:r>
              <a:rPr sz="3000" b="1" spc="-129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3000" b="1" spc="-200" dirty="0">
                <a:solidFill>
                  <a:srgbClr val="0078D4"/>
                </a:solidFill>
                <a:latin typeface="Arial"/>
                <a:cs typeface="Arial"/>
              </a:rPr>
              <a:t>Page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8949" y="5018271"/>
            <a:ext cx="15054340" cy="526439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1500"/>
              </a:lnSpc>
              <a:spcBef>
                <a:spcPts val="129"/>
              </a:spcBef>
            </a:pPr>
            <a:r>
              <a:rPr sz="3000" spc="-93" dirty="0">
                <a:solidFill>
                  <a:srgbClr val="374050"/>
                </a:solidFill>
                <a:latin typeface="Arial"/>
                <a:cs typeface="Arial"/>
              </a:rPr>
              <a:t>Variations</a:t>
            </a: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71" dirty="0">
                <a:solidFill>
                  <a:srgbClr val="374050"/>
                </a:solidFill>
                <a:latin typeface="Arial"/>
                <a:cs typeface="Arial"/>
              </a:rPr>
              <a:t>in</a:t>
            </a:r>
            <a:r>
              <a:rPr sz="30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79" dirty="0">
                <a:solidFill>
                  <a:srgbClr val="374050"/>
                </a:solidFill>
                <a:latin typeface="Arial"/>
                <a:cs typeface="Arial"/>
              </a:rPr>
              <a:t>batch</a:t>
            </a: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 processing</a:t>
            </a:r>
            <a:r>
              <a:rPr sz="30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64" dirty="0">
                <a:solidFill>
                  <a:srgbClr val="374050"/>
                </a:solidFill>
                <a:latin typeface="Arial"/>
                <a:cs typeface="Arial"/>
              </a:rPr>
              <a:t>times</a:t>
            </a:r>
            <a:r>
              <a:rPr sz="30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36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64" dirty="0">
                <a:solidFill>
                  <a:srgbClr val="374050"/>
                </a:solidFill>
                <a:latin typeface="Arial"/>
                <a:cs typeface="Arial"/>
              </a:rPr>
              <a:t>target </a:t>
            </a:r>
            <a:r>
              <a:rPr sz="3000" spc="-121" dirty="0">
                <a:solidFill>
                  <a:srgbClr val="374050"/>
                </a:solidFill>
                <a:latin typeface="Arial"/>
                <a:cs typeface="Arial"/>
              </a:rPr>
              <a:t>achievement</a:t>
            </a:r>
            <a:r>
              <a:rPr sz="3000" spc="-4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4" dirty="0">
                <a:solidFill>
                  <a:srgbClr val="374050"/>
                </a:solidFill>
                <a:latin typeface="Arial"/>
                <a:cs typeface="Arial"/>
              </a:rPr>
              <a:t>rates.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8949" y="5829300"/>
            <a:ext cx="16010651" cy="1785181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1500"/>
              </a:lnSpc>
              <a:spcBef>
                <a:spcPts val="129"/>
              </a:spcBef>
            </a:pPr>
            <a:r>
              <a:rPr sz="3000" spc="-79" dirty="0">
                <a:solidFill>
                  <a:srgbClr val="374050"/>
                </a:solidFill>
                <a:latin typeface="Arial"/>
                <a:cs typeface="Arial"/>
              </a:rPr>
              <a:t>Identifies</a:t>
            </a:r>
            <a:r>
              <a:rPr sz="30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64" dirty="0">
                <a:solidFill>
                  <a:srgbClr val="374050"/>
                </a:solidFill>
                <a:latin typeface="Arial"/>
                <a:cs typeface="Arial"/>
              </a:rPr>
              <a:t>specific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batches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57" dirty="0">
                <a:solidFill>
                  <a:srgbClr val="374050"/>
                </a:solidFill>
                <a:latin typeface="Arial"/>
                <a:cs typeface="Arial"/>
              </a:rPr>
              <a:t>with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79" dirty="0">
                <a:solidFill>
                  <a:srgbClr val="374050"/>
                </a:solidFill>
                <a:latin typeface="Arial"/>
                <a:cs typeface="Arial"/>
              </a:rPr>
              <a:t>longest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64" dirty="0">
                <a:solidFill>
                  <a:srgbClr val="374050"/>
                </a:solidFill>
                <a:latin typeface="Arial"/>
                <a:cs typeface="Arial"/>
              </a:rPr>
              <a:t>production </a:t>
            </a: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cycles</a:t>
            </a:r>
            <a:r>
              <a:rPr sz="3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36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associated</a:t>
            </a: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downtime</a:t>
            </a: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4" dirty="0">
                <a:solidFill>
                  <a:srgbClr val="374050"/>
                </a:solidFill>
                <a:latin typeface="Arial"/>
                <a:cs typeface="Arial"/>
              </a:rPr>
              <a:t>causes.</a:t>
            </a:r>
            <a:endParaRPr sz="3000" dirty="0">
              <a:latin typeface="Arial"/>
              <a:cs typeface="Arial"/>
            </a:endParaRPr>
          </a:p>
          <a:p>
            <a:pPr>
              <a:spcBef>
                <a:spcPts val="2172"/>
              </a:spcBef>
            </a:pPr>
            <a:endParaRPr sz="3000" dirty="0">
              <a:latin typeface="Arial"/>
              <a:cs typeface="Arial"/>
            </a:endParaRPr>
          </a:p>
          <a:p>
            <a:pPr marL="127064"/>
            <a:r>
              <a:rPr sz="3000" b="1" spc="-257" dirty="0">
                <a:solidFill>
                  <a:srgbClr val="0078D4"/>
                </a:solidFill>
                <a:latin typeface="Arial"/>
                <a:cs typeface="Arial"/>
              </a:rPr>
              <a:t>Operator</a:t>
            </a:r>
            <a:r>
              <a:rPr sz="3000" b="1" spc="-121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3000" b="1" spc="-257" dirty="0">
                <a:solidFill>
                  <a:srgbClr val="0078D4"/>
                </a:solidFill>
                <a:latin typeface="Arial"/>
                <a:cs typeface="Arial"/>
              </a:rPr>
              <a:t>Analysis</a:t>
            </a:r>
            <a:r>
              <a:rPr sz="3000" b="1" spc="-114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3000" b="1" spc="-29" dirty="0">
                <a:solidFill>
                  <a:srgbClr val="0078D4"/>
                </a:solidFill>
                <a:latin typeface="Arial"/>
                <a:cs typeface="Arial"/>
              </a:rPr>
              <a:t>Page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8955" y="7993285"/>
            <a:ext cx="14879088" cy="526439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1500"/>
              </a:lnSpc>
              <a:spcBef>
                <a:spcPts val="129"/>
              </a:spcBef>
            </a:pP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Shift-</a:t>
            </a:r>
            <a:r>
              <a:rPr sz="3000" spc="-114" dirty="0">
                <a:solidFill>
                  <a:srgbClr val="374050"/>
                </a:solidFill>
                <a:latin typeface="Arial"/>
                <a:cs typeface="Arial"/>
              </a:rPr>
              <a:t>level</a:t>
            </a:r>
            <a:r>
              <a:rPr sz="3000" spc="-7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36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3000" spc="-79" dirty="0">
                <a:solidFill>
                  <a:srgbClr val="374050"/>
                </a:solidFill>
                <a:latin typeface="Arial"/>
                <a:cs typeface="Arial"/>
              </a:rPr>
              <a:t> individual </a:t>
            </a: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operator</a:t>
            </a:r>
            <a:r>
              <a:rPr sz="3000" spc="-7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93" dirty="0">
                <a:solidFill>
                  <a:srgbClr val="374050"/>
                </a:solidFill>
                <a:latin typeface="Arial"/>
                <a:cs typeface="Arial"/>
              </a:rPr>
              <a:t>performance </a:t>
            </a:r>
            <a:r>
              <a:rPr sz="3000" spc="-14" dirty="0">
                <a:solidFill>
                  <a:srgbClr val="374050"/>
                </a:solidFill>
                <a:latin typeface="Arial"/>
                <a:cs typeface="Arial"/>
              </a:rPr>
              <a:t>insights.</a:t>
            </a:r>
            <a:endParaRPr sz="3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8948" y="9082083"/>
            <a:ext cx="15114920" cy="526439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1500"/>
              </a:lnSpc>
              <a:spcBef>
                <a:spcPts val="129"/>
              </a:spcBef>
            </a:pPr>
            <a:r>
              <a:rPr sz="3000" spc="-71" dirty="0">
                <a:solidFill>
                  <a:srgbClr val="374050"/>
                </a:solidFill>
                <a:latin typeface="Arial"/>
                <a:cs typeface="Arial"/>
              </a:rPr>
              <a:t>Highlights</a:t>
            </a:r>
            <a:r>
              <a:rPr sz="3000" spc="-12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71" dirty="0">
                <a:solidFill>
                  <a:srgbClr val="374050"/>
                </a:solidFill>
                <a:latin typeface="Arial"/>
                <a:cs typeface="Arial"/>
              </a:rPr>
              <a:t>training</a:t>
            </a:r>
            <a:r>
              <a:rPr sz="3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36" dirty="0">
                <a:solidFill>
                  <a:srgbClr val="374050"/>
                </a:solidFill>
                <a:latin typeface="Arial"/>
                <a:cs typeface="Arial"/>
              </a:rPr>
              <a:t>needs</a:t>
            </a:r>
            <a:r>
              <a:rPr sz="3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36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3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4" dirty="0">
                <a:solidFill>
                  <a:srgbClr val="374050"/>
                </a:solidFill>
                <a:latin typeface="Arial"/>
                <a:cs typeface="Arial"/>
              </a:rPr>
              <a:t>performance 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variations </a:t>
            </a:r>
            <a:r>
              <a:rPr sz="3000" spc="-93" dirty="0">
                <a:solidFill>
                  <a:srgbClr val="374050"/>
                </a:solidFill>
                <a:latin typeface="Arial"/>
                <a:cs typeface="Arial"/>
              </a:rPr>
              <a:t>across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57" dirty="0">
                <a:solidFill>
                  <a:srgbClr val="374050"/>
                </a:solidFill>
                <a:latin typeface="Arial"/>
                <a:cs typeface="Arial"/>
              </a:rPr>
              <a:t>different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00" dirty="0">
                <a:solidFill>
                  <a:srgbClr val="374050"/>
                </a:solidFill>
                <a:latin typeface="Arial"/>
                <a:cs typeface="Arial"/>
              </a:rPr>
              <a:t>operators</a:t>
            </a:r>
            <a:r>
              <a:rPr sz="3000" spc="-7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36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3000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3000" spc="-14" dirty="0">
                <a:solidFill>
                  <a:srgbClr val="374050"/>
                </a:solidFill>
                <a:latin typeface="Arial"/>
                <a:cs typeface="Arial"/>
              </a:rPr>
              <a:t>shifts.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829800"/>
            <a:chOff x="0" y="0"/>
            <a:chExt cx="1217104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895350"/>
              <a:ext cx="12171045" cy="5962650"/>
            </a:xfrm>
            <a:custGeom>
              <a:avLst/>
              <a:gdLst/>
              <a:ahLst/>
              <a:cxnLst/>
              <a:rect l="l" t="t" r="r" b="b"/>
              <a:pathLst>
                <a:path w="12171045" h="5962650">
                  <a:moveTo>
                    <a:pt x="0" y="5962650"/>
                  </a:moveTo>
                  <a:lnTo>
                    <a:pt x="12170664" y="5962650"/>
                  </a:lnTo>
                  <a:lnTo>
                    <a:pt x="12170664" y="0"/>
                  </a:lnTo>
                  <a:lnTo>
                    <a:pt x="0" y="0"/>
                  </a:lnTo>
                  <a:lnTo>
                    <a:pt x="0" y="596265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71045" cy="895350"/>
            </a:xfrm>
            <a:custGeom>
              <a:avLst/>
              <a:gdLst/>
              <a:ahLst/>
              <a:cxnLst/>
              <a:rect l="l" t="t" r="r" b="b"/>
              <a:pathLst>
                <a:path w="12171045" h="895350">
                  <a:moveTo>
                    <a:pt x="12170664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70664" y="0"/>
                  </a:lnTo>
                  <a:lnTo>
                    <a:pt x="12170664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9000" y="266700"/>
            <a:ext cx="7050405" cy="671544"/>
          </a:xfrm>
          <a:prstGeom prst="rect">
            <a:avLst/>
          </a:prstGeom>
        </p:spPr>
        <p:txBody>
          <a:bodyPr vert="horz" wrap="square" lIns="0" tIns="22683" rIns="0" bIns="0" rtlCol="0">
            <a:spAutoFit/>
          </a:bodyPr>
          <a:lstStyle/>
          <a:p>
            <a:pPr marL="18151">
              <a:spcBef>
                <a:spcPts val="179"/>
              </a:spcBef>
            </a:pPr>
            <a:r>
              <a:rPr sz="4215" spc="-214" dirty="0"/>
              <a:t>Key</a:t>
            </a:r>
            <a:r>
              <a:rPr sz="4215" spc="-264" dirty="0"/>
              <a:t> </a:t>
            </a:r>
            <a:r>
              <a:rPr sz="4215" spc="-271" dirty="0"/>
              <a:t>Takeaways</a:t>
            </a:r>
            <a:endParaRPr sz="4215" dirty="0"/>
          </a:p>
        </p:txBody>
      </p:sp>
      <p:grpSp>
        <p:nvGrpSpPr>
          <p:cNvPr id="6" name="object 6"/>
          <p:cNvGrpSpPr/>
          <p:nvPr/>
        </p:nvGrpSpPr>
        <p:grpSpPr>
          <a:xfrm>
            <a:off x="812800" y="2325741"/>
            <a:ext cx="836559" cy="836559"/>
            <a:chOff x="1755647" y="1917192"/>
            <a:chExt cx="585470" cy="585470"/>
          </a:xfrm>
        </p:grpSpPr>
        <p:sp>
          <p:nvSpPr>
            <p:cNvPr id="7" name="object 7"/>
            <p:cNvSpPr/>
            <p:nvPr/>
          </p:nvSpPr>
          <p:spPr>
            <a:xfrm>
              <a:off x="1755647" y="191719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69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957"/>
                  </a:lnTo>
                  <a:lnTo>
                    <a:pt x="292226" y="44957"/>
                  </a:lnTo>
                  <a:lnTo>
                    <a:pt x="280995" y="45232"/>
                  </a:lnTo>
                  <a:lnTo>
                    <a:pt x="236667" y="51810"/>
                  </a:lnTo>
                  <a:lnTo>
                    <a:pt x="194475" y="66911"/>
                  </a:lnTo>
                  <a:lnTo>
                    <a:pt x="156037" y="89952"/>
                  </a:lnTo>
                  <a:lnTo>
                    <a:pt x="122835" y="120048"/>
                  </a:lnTo>
                  <a:lnTo>
                    <a:pt x="96142" y="156044"/>
                  </a:lnTo>
                  <a:lnTo>
                    <a:pt x="76983" y="196556"/>
                  </a:lnTo>
                  <a:lnTo>
                    <a:pt x="66097" y="240027"/>
                  </a:lnTo>
                  <a:lnTo>
                    <a:pt x="63626" y="273557"/>
                  </a:lnTo>
                  <a:lnTo>
                    <a:pt x="63901" y="284789"/>
                  </a:lnTo>
                  <a:lnTo>
                    <a:pt x="70479" y="329117"/>
                  </a:lnTo>
                  <a:lnTo>
                    <a:pt x="85580" y="371309"/>
                  </a:lnTo>
                  <a:lnTo>
                    <a:pt x="108621" y="409746"/>
                  </a:lnTo>
                  <a:lnTo>
                    <a:pt x="138717" y="442949"/>
                  </a:lnTo>
                  <a:lnTo>
                    <a:pt x="174713" y="469642"/>
                  </a:lnTo>
                  <a:lnTo>
                    <a:pt x="215225" y="488800"/>
                  </a:lnTo>
                  <a:lnTo>
                    <a:pt x="258696" y="499687"/>
                  </a:lnTo>
                  <a:lnTo>
                    <a:pt x="292226" y="502157"/>
                  </a:lnTo>
                  <a:lnTo>
                    <a:pt x="585215" y="502157"/>
                  </a:lnTo>
                  <a:lnTo>
                    <a:pt x="585215" y="585215"/>
                  </a:lnTo>
                  <a:close/>
                </a:path>
                <a:path w="585469" h="585469">
                  <a:moveTo>
                    <a:pt x="585215" y="502157"/>
                  </a:moveTo>
                  <a:lnTo>
                    <a:pt x="292226" y="502157"/>
                  </a:lnTo>
                  <a:lnTo>
                    <a:pt x="303458" y="501883"/>
                  </a:lnTo>
                  <a:lnTo>
                    <a:pt x="314634" y="501060"/>
                  </a:lnTo>
                  <a:lnTo>
                    <a:pt x="358586" y="492316"/>
                  </a:lnTo>
                  <a:lnTo>
                    <a:pt x="399989" y="475166"/>
                  </a:lnTo>
                  <a:lnTo>
                    <a:pt x="437250" y="450269"/>
                  </a:lnTo>
                  <a:lnTo>
                    <a:pt x="468938" y="418581"/>
                  </a:lnTo>
                  <a:lnTo>
                    <a:pt x="493835" y="381320"/>
                  </a:lnTo>
                  <a:lnTo>
                    <a:pt x="510984" y="339918"/>
                  </a:lnTo>
                  <a:lnTo>
                    <a:pt x="519729" y="295965"/>
                  </a:lnTo>
                  <a:lnTo>
                    <a:pt x="520826" y="273557"/>
                  </a:lnTo>
                  <a:lnTo>
                    <a:pt x="520552" y="262326"/>
                  </a:lnTo>
                  <a:lnTo>
                    <a:pt x="513973" y="217998"/>
                  </a:lnTo>
                  <a:lnTo>
                    <a:pt x="498873" y="175806"/>
                  </a:lnTo>
                  <a:lnTo>
                    <a:pt x="475832" y="137368"/>
                  </a:lnTo>
                  <a:lnTo>
                    <a:pt x="445736" y="104166"/>
                  </a:lnTo>
                  <a:lnTo>
                    <a:pt x="409740" y="77473"/>
                  </a:lnTo>
                  <a:lnTo>
                    <a:pt x="369226" y="58314"/>
                  </a:lnTo>
                  <a:lnTo>
                    <a:pt x="325757" y="47428"/>
                  </a:lnTo>
                  <a:lnTo>
                    <a:pt x="292226" y="44957"/>
                  </a:lnTo>
                  <a:lnTo>
                    <a:pt x="585215" y="44957"/>
                  </a:lnTo>
                  <a:lnTo>
                    <a:pt x="585215" y="50215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09749" y="19526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9"/>
                  </a:lnTo>
                  <a:lnTo>
                    <a:pt x="184023" y="470154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18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5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09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6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9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9924" y="2095500"/>
              <a:ext cx="215900" cy="18732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812800" y="3771900"/>
            <a:ext cx="836559" cy="836559"/>
            <a:chOff x="1755647" y="2679192"/>
            <a:chExt cx="585470" cy="585470"/>
          </a:xfrm>
        </p:grpSpPr>
        <p:sp>
          <p:nvSpPr>
            <p:cNvPr id="11" name="object 11"/>
            <p:cNvSpPr/>
            <p:nvPr/>
          </p:nvSpPr>
          <p:spPr>
            <a:xfrm>
              <a:off x="1755647" y="267919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957"/>
                  </a:lnTo>
                  <a:lnTo>
                    <a:pt x="292226" y="44957"/>
                  </a:lnTo>
                  <a:lnTo>
                    <a:pt x="280995" y="45232"/>
                  </a:lnTo>
                  <a:lnTo>
                    <a:pt x="236667" y="51810"/>
                  </a:lnTo>
                  <a:lnTo>
                    <a:pt x="194472" y="66911"/>
                  </a:lnTo>
                  <a:lnTo>
                    <a:pt x="156037" y="89952"/>
                  </a:lnTo>
                  <a:lnTo>
                    <a:pt x="122835" y="120048"/>
                  </a:lnTo>
                  <a:lnTo>
                    <a:pt x="96142" y="156044"/>
                  </a:lnTo>
                  <a:lnTo>
                    <a:pt x="76983" y="196556"/>
                  </a:lnTo>
                  <a:lnTo>
                    <a:pt x="66097" y="240027"/>
                  </a:lnTo>
                  <a:lnTo>
                    <a:pt x="63626" y="273557"/>
                  </a:lnTo>
                  <a:lnTo>
                    <a:pt x="63901" y="284789"/>
                  </a:lnTo>
                  <a:lnTo>
                    <a:pt x="70479" y="329117"/>
                  </a:lnTo>
                  <a:lnTo>
                    <a:pt x="85580" y="371307"/>
                  </a:lnTo>
                  <a:lnTo>
                    <a:pt x="108621" y="409745"/>
                  </a:lnTo>
                  <a:lnTo>
                    <a:pt x="138717" y="442950"/>
                  </a:lnTo>
                  <a:lnTo>
                    <a:pt x="174713" y="469649"/>
                  </a:lnTo>
                  <a:lnTo>
                    <a:pt x="215225" y="488806"/>
                  </a:lnTo>
                  <a:lnTo>
                    <a:pt x="258696" y="499689"/>
                  </a:lnTo>
                  <a:lnTo>
                    <a:pt x="292226" y="502157"/>
                  </a:lnTo>
                  <a:lnTo>
                    <a:pt x="585215" y="502157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2157"/>
                  </a:moveTo>
                  <a:lnTo>
                    <a:pt x="292226" y="502157"/>
                  </a:lnTo>
                  <a:lnTo>
                    <a:pt x="303458" y="501883"/>
                  </a:lnTo>
                  <a:lnTo>
                    <a:pt x="314634" y="501060"/>
                  </a:lnTo>
                  <a:lnTo>
                    <a:pt x="358586" y="492324"/>
                  </a:lnTo>
                  <a:lnTo>
                    <a:pt x="399989" y="475175"/>
                  </a:lnTo>
                  <a:lnTo>
                    <a:pt x="437250" y="450269"/>
                  </a:lnTo>
                  <a:lnTo>
                    <a:pt x="468938" y="418578"/>
                  </a:lnTo>
                  <a:lnTo>
                    <a:pt x="493835" y="381316"/>
                  </a:lnTo>
                  <a:lnTo>
                    <a:pt x="510985" y="339917"/>
                  </a:lnTo>
                  <a:lnTo>
                    <a:pt x="519729" y="295965"/>
                  </a:lnTo>
                  <a:lnTo>
                    <a:pt x="520826" y="273557"/>
                  </a:lnTo>
                  <a:lnTo>
                    <a:pt x="520552" y="262326"/>
                  </a:lnTo>
                  <a:lnTo>
                    <a:pt x="513973" y="217998"/>
                  </a:lnTo>
                  <a:lnTo>
                    <a:pt x="498873" y="175806"/>
                  </a:lnTo>
                  <a:lnTo>
                    <a:pt x="475832" y="137368"/>
                  </a:lnTo>
                  <a:lnTo>
                    <a:pt x="445736" y="104166"/>
                  </a:lnTo>
                  <a:lnTo>
                    <a:pt x="409740" y="77473"/>
                  </a:lnTo>
                  <a:lnTo>
                    <a:pt x="369226" y="58314"/>
                  </a:lnTo>
                  <a:lnTo>
                    <a:pt x="325757" y="47428"/>
                  </a:lnTo>
                  <a:lnTo>
                    <a:pt x="292226" y="44957"/>
                  </a:lnTo>
                  <a:lnTo>
                    <a:pt x="585215" y="44957"/>
                  </a:lnTo>
                  <a:lnTo>
                    <a:pt x="585215" y="50215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09749" y="27146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4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18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5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09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5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6196" y="2844800"/>
              <a:ext cx="184150" cy="21272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812800" y="5297541"/>
            <a:ext cx="836559" cy="836559"/>
            <a:chOff x="1755647" y="3441192"/>
            <a:chExt cx="585470" cy="585470"/>
          </a:xfrm>
        </p:grpSpPr>
        <p:sp>
          <p:nvSpPr>
            <p:cNvPr id="15" name="object 15"/>
            <p:cNvSpPr/>
            <p:nvPr/>
          </p:nvSpPr>
          <p:spPr>
            <a:xfrm>
              <a:off x="1755647" y="344119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957"/>
                  </a:lnTo>
                  <a:lnTo>
                    <a:pt x="292226" y="44957"/>
                  </a:lnTo>
                  <a:lnTo>
                    <a:pt x="280995" y="45232"/>
                  </a:lnTo>
                  <a:lnTo>
                    <a:pt x="236667" y="51805"/>
                  </a:lnTo>
                  <a:lnTo>
                    <a:pt x="194475" y="66905"/>
                  </a:lnTo>
                  <a:lnTo>
                    <a:pt x="156037" y="89955"/>
                  </a:lnTo>
                  <a:lnTo>
                    <a:pt x="122835" y="120054"/>
                  </a:lnTo>
                  <a:lnTo>
                    <a:pt x="96142" y="156046"/>
                  </a:lnTo>
                  <a:lnTo>
                    <a:pt x="76983" y="196561"/>
                  </a:lnTo>
                  <a:lnTo>
                    <a:pt x="66097" y="240035"/>
                  </a:lnTo>
                  <a:lnTo>
                    <a:pt x="63626" y="273557"/>
                  </a:lnTo>
                  <a:lnTo>
                    <a:pt x="63901" y="284781"/>
                  </a:lnTo>
                  <a:lnTo>
                    <a:pt x="70479" y="329111"/>
                  </a:lnTo>
                  <a:lnTo>
                    <a:pt x="85580" y="371305"/>
                  </a:lnTo>
                  <a:lnTo>
                    <a:pt x="108621" y="409745"/>
                  </a:lnTo>
                  <a:lnTo>
                    <a:pt x="138717" y="442950"/>
                  </a:lnTo>
                  <a:lnTo>
                    <a:pt x="174713" y="469649"/>
                  </a:lnTo>
                  <a:lnTo>
                    <a:pt x="215225" y="488806"/>
                  </a:lnTo>
                  <a:lnTo>
                    <a:pt x="258696" y="499689"/>
                  </a:lnTo>
                  <a:lnTo>
                    <a:pt x="292226" y="502157"/>
                  </a:lnTo>
                  <a:lnTo>
                    <a:pt x="585215" y="502157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2157"/>
                  </a:moveTo>
                  <a:lnTo>
                    <a:pt x="292226" y="502157"/>
                  </a:lnTo>
                  <a:lnTo>
                    <a:pt x="303458" y="501883"/>
                  </a:lnTo>
                  <a:lnTo>
                    <a:pt x="314634" y="501060"/>
                  </a:lnTo>
                  <a:lnTo>
                    <a:pt x="358586" y="492324"/>
                  </a:lnTo>
                  <a:lnTo>
                    <a:pt x="399989" y="475175"/>
                  </a:lnTo>
                  <a:lnTo>
                    <a:pt x="437250" y="450269"/>
                  </a:lnTo>
                  <a:lnTo>
                    <a:pt x="468938" y="418578"/>
                  </a:lnTo>
                  <a:lnTo>
                    <a:pt x="493835" y="381316"/>
                  </a:lnTo>
                  <a:lnTo>
                    <a:pt x="510985" y="339912"/>
                  </a:lnTo>
                  <a:lnTo>
                    <a:pt x="519729" y="295956"/>
                  </a:lnTo>
                  <a:lnTo>
                    <a:pt x="520826" y="273557"/>
                  </a:lnTo>
                  <a:lnTo>
                    <a:pt x="520552" y="262334"/>
                  </a:lnTo>
                  <a:lnTo>
                    <a:pt x="513973" y="218004"/>
                  </a:lnTo>
                  <a:lnTo>
                    <a:pt x="498873" y="175810"/>
                  </a:lnTo>
                  <a:lnTo>
                    <a:pt x="475832" y="137370"/>
                  </a:lnTo>
                  <a:lnTo>
                    <a:pt x="445736" y="104165"/>
                  </a:lnTo>
                  <a:lnTo>
                    <a:pt x="409740" y="77466"/>
                  </a:lnTo>
                  <a:lnTo>
                    <a:pt x="369226" y="58309"/>
                  </a:lnTo>
                  <a:lnTo>
                    <a:pt x="325757" y="47426"/>
                  </a:lnTo>
                  <a:lnTo>
                    <a:pt x="292226" y="44957"/>
                  </a:lnTo>
                  <a:lnTo>
                    <a:pt x="585215" y="44957"/>
                  </a:lnTo>
                  <a:lnTo>
                    <a:pt x="585215" y="50215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09749" y="34766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18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6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18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6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6828" y="3619500"/>
              <a:ext cx="241300" cy="187325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812800" y="7507341"/>
            <a:ext cx="836559" cy="836559"/>
            <a:chOff x="1755647" y="4507992"/>
            <a:chExt cx="585470" cy="585470"/>
          </a:xfrm>
        </p:grpSpPr>
        <p:sp>
          <p:nvSpPr>
            <p:cNvPr id="19" name="object 19"/>
            <p:cNvSpPr/>
            <p:nvPr/>
          </p:nvSpPr>
          <p:spPr>
            <a:xfrm>
              <a:off x="1755647" y="450799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957"/>
                  </a:lnTo>
                  <a:lnTo>
                    <a:pt x="292226" y="44957"/>
                  </a:lnTo>
                  <a:lnTo>
                    <a:pt x="280995" y="45232"/>
                  </a:lnTo>
                  <a:lnTo>
                    <a:pt x="236667" y="51805"/>
                  </a:lnTo>
                  <a:lnTo>
                    <a:pt x="194475" y="66905"/>
                  </a:lnTo>
                  <a:lnTo>
                    <a:pt x="156037" y="89955"/>
                  </a:lnTo>
                  <a:lnTo>
                    <a:pt x="122835" y="120054"/>
                  </a:lnTo>
                  <a:lnTo>
                    <a:pt x="96142" y="156046"/>
                  </a:lnTo>
                  <a:lnTo>
                    <a:pt x="76983" y="196561"/>
                  </a:lnTo>
                  <a:lnTo>
                    <a:pt x="66097" y="240035"/>
                  </a:lnTo>
                  <a:lnTo>
                    <a:pt x="63626" y="273557"/>
                  </a:lnTo>
                  <a:lnTo>
                    <a:pt x="63901" y="284781"/>
                  </a:lnTo>
                  <a:lnTo>
                    <a:pt x="70479" y="329111"/>
                  </a:lnTo>
                  <a:lnTo>
                    <a:pt x="85580" y="371305"/>
                  </a:lnTo>
                  <a:lnTo>
                    <a:pt x="108621" y="409745"/>
                  </a:lnTo>
                  <a:lnTo>
                    <a:pt x="138717" y="442950"/>
                  </a:lnTo>
                  <a:lnTo>
                    <a:pt x="174713" y="469649"/>
                  </a:lnTo>
                  <a:lnTo>
                    <a:pt x="215225" y="488806"/>
                  </a:lnTo>
                  <a:lnTo>
                    <a:pt x="258696" y="499689"/>
                  </a:lnTo>
                  <a:lnTo>
                    <a:pt x="292226" y="502157"/>
                  </a:lnTo>
                  <a:lnTo>
                    <a:pt x="585215" y="502157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2157"/>
                  </a:moveTo>
                  <a:lnTo>
                    <a:pt x="292226" y="502157"/>
                  </a:lnTo>
                  <a:lnTo>
                    <a:pt x="303458" y="501883"/>
                  </a:lnTo>
                  <a:lnTo>
                    <a:pt x="314634" y="501060"/>
                  </a:lnTo>
                  <a:lnTo>
                    <a:pt x="358586" y="492324"/>
                  </a:lnTo>
                  <a:lnTo>
                    <a:pt x="399989" y="475175"/>
                  </a:lnTo>
                  <a:lnTo>
                    <a:pt x="437250" y="450269"/>
                  </a:lnTo>
                  <a:lnTo>
                    <a:pt x="468938" y="418578"/>
                  </a:lnTo>
                  <a:lnTo>
                    <a:pt x="493835" y="381316"/>
                  </a:lnTo>
                  <a:lnTo>
                    <a:pt x="510985" y="339912"/>
                  </a:lnTo>
                  <a:lnTo>
                    <a:pt x="519729" y="295956"/>
                  </a:lnTo>
                  <a:lnTo>
                    <a:pt x="520826" y="273557"/>
                  </a:lnTo>
                  <a:lnTo>
                    <a:pt x="520552" y="262334"/>
                  </a:lnTo>
                  <a:lnTo>
                    <a:pt x="513973" y="218004"/>
                  </a:lnTo>
                  <a:lnTo>
                    <a:pt x="498873" y="175810"/>
                  </a:lnTo>
                  <a:lnTo>
                    <a:pt x="475832" y="137370"/>
                  </a:lnTo>
                  <a:lnTo>
                    <a:pt x="445736" y="104165"/>
                  </a:lnTo>
                  <a:lnTo>
                    <a:pt x="409740" y="77466"/>
                  </a:lnTo>
                  <a:lnTo>
                    <a:pt x="369226" y="58309"/>
                  </a:lnTo>
                  <a:lnTo>
                    <a:pt x="325757" y="47426"/>
                  </a:lnTo>
                  <a:lnTo>
                    <a:pt x="292226" y="44957"/>
                  </a:lnTo>
                  <a:lnTo>
                    <a:pt x="585215" y="44957"/>
                  </a:lnTo>
                  <a:lnTo>
                    <a:pt x="585215" y="50215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09749" y="45434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9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18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6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09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5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9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5721" y="4670425"/>
              <a:ext cx="165100" cy="21907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824662" y="2407121"/>
            <a:ext cx="14990138" cy="5846586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4000" spc="-114" dirty="0">
                <a:solidFill>
                  <a:srgbClr val="374050"/>
                </a:solidFill>
                <a:latin typeface="Arial"/>
                <a:cs typeface="Arial"/>
              </a:rPr>
              <a:t>Significant</a:t>
            </a:r>
            <a:r>
              <a:rPr sz="4000" spc="-12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14" dirty="0">
                <a:solidFill>
                  <a:srgbClr val="374050"/>
                </a:solidFill>
                <a:latin typeface="Arial"/>
                <a:cs typeface="Arial"/>
              </a:rPr>
              <a:t>efficiency</a:t>
            </a:r>
            <a:r>
              <a:rPr sz="4000" spc="-12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21" dirty="0">
                <a:solidFill>
                  <a:srgbClr val="374050"/>
                </a:solidFill>
                <a:latin typeface="Arial"/>
                <a:cs typeface="Arial"/>
              </a:rPr>
              <a:t>losses </a:t>
            </a:r>
            <a:r>
              <a:rPr sz="4000" spc="-186" dirty="0">
                <a:solidFill>
                  <a:srgbClr val="374050"/>
                </a:solidFill>
                <a:latin typeface="Arial"/>
                <a:cs typeface="Arial"/>
              </a:rPr>
              <a:t>due</a:t>
            </a:r>
            <a:r>
              <a:rPr sz="4000" spc="-12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64" dirty="0">
                <a:solidFill>
                  <a:srgbClr val="374050"/>
                </a:solidFill>
                <a:latin typeface="Arial"/>
                <a:cs typeface="Arial"/>
              </a:rPr>
              <a:t>to</a:t>
            </a:r>
            <a:r>
              <a:rPr sz="4000" spc="-12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50" dirty="0">
                <a:solidFill>
                  <a:srgbClr val="374050"/>
                </a:solidFill>
                <a:latin typeface="Arial"/>
                <a:cs typeface="Arial"/>
              </a:rPr>
              <a:t>machine</a:t>
            </a:r>
            <a:r>
              <a:rPr sz="4000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79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4000" spc="-12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36" dirty="0">
                <a:solidFill>
                  <a:srgbClr val="374050"/>
                </a:solidFill>
                <a:latin typeface="Arial"/>
                <a:cs typeface="Arial"/>
              </a:rPr>
              <a:t>operator</a:t>
            </a:r>
            <a:r>
              <a:rPr sz="4000" spc="-12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4" dirty="0">
                <a:solidFill>
                  <a:srgbClr val="374050"/>
                </a:solidFill>
                <a:latin typeface="Arial"/>
                <a:cs typeface="Arial"/>
              </a:rPr>
              <a:t>factors.</a:t>
            </a:r>
            <a:endParaRPr sz="4000" dirty="0">
              <a:latin typeface="Arial"/>
              <a:cs typeface="Arial"/>
            </a:endParaRPr>
          </a:p>
          <a:p>
            <a:pPr>
              <a:spcBef>
                <a:spcPts val="2186"/>
              </a:spcBef>
            </a:pPr>
            <a:endParaRPr sz="4000" dirty="0">
              <a:latin typeface="Arial"/>
              <a:cs typeface="Arial"/>
            </a:endParaRPr>
          </a:p>
          <a:p>
            <a:pPr marL="18151"/>
            <a:r>
              <a:rPr sz="4000" spc="-157" dirty="0">
                <a:solidFill>
                  <a:srgbClr val="374050"/>
                </a:solidFill>
                <a:latin typeface="Arial"/>
                <a:cs typeface="Arial"/>
              </a:rPr>
              <a:t>Concentrated</a:t>
            </a:r>
            <a:r>
              <a:rPr sz="4000" spc="-12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36" dirty="0">
                <a:solidFill>
                  <a:srgbClr val="374050"/>
                </a:solidFill>
                <a:latin typeface="Arial"/>
                <a:cs typeface="Arial"/>
              </a:rPr>
              <a:t>issues</a:t>
            </a:r>
            <a:r>
              <a:rPr sz="4000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07" dirty="0">
                <a:solidFill>
                  <a:srgbClr val="374050"/>
                </a:solidFill>
                <a:latin typeface="Arial"/>
                <a:cs typeface="Arial"/>
              </a:rPr>
              <a:t>in</a:t>
            </a:r>
            <a:r>
              <a:rPr sz="4000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93" dirty="0">
                <a:solidFill>
                  <a:srgbClr val="374050"/>
                </a:solidFill>
                <a:latin typeface="Arial"/>
                <a:cs typeface="Arial"/>
              </a:rPr>
              <a:t>specific</a:t>
            </a:r>
            <a:r>
              <a:rPr sz="4000" spc="-12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93" dirty="0">
                <a:solidFill>
                  <a:srgbClr val="374050"/>
                </a:solidFill>
                <a:latin typeface="Arial"/>
                <a:cs typeface="Arial"/>
              </a:rPr>
              <a:t>time</a:t>
            </a:r>
            <a:r>
              <a:rPr sz="4000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29" dirty="0">
                <a:solidFill>
                  <a:srgbClr val="374050"/>
                </a:solidFill>
                <a:latin typeface="Arial"/>
                <a:cs typeface="Arial"/>
              </a:rPr>
              <a:t>periods</a:t>
            </a:r>
            <a:r>
              <a:rPr sz="4000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79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4000" spc="-12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14" dirty="0">
                <a:solidFill>
                  <a:srgbClr val="374050"/>
                </a:solidFill>
                <a:latin typeface="Arial"/>
                <a:cs typeface="Arial"/>
              </a:rPr>
              <a:t>product</a:t>
            </a:r>
            <a:r>
              <a:rPr sz="4000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4" dirty="0">
                <a:solidFill>
                  <a:srgbClr val="374050"/>
                </a:solidFill>
                <a:latin typeface="Arial"/>
                <a:cs typeface="Arial"/>
              </a:rPr>
              <a:t>lines.</a:t>
            </a:r>
            <a:endParaRPr sz="4000" dirty="0">
              <a:latin typeface="Arial"/>
              <a:cs typeface="Arial"/>
            </a:endParaRPr>
          </a:p>
          <a:p>
            <a:pPr>
              <a:spcBef>
                <a:spcPts val="1758"/>
              </a:spcBef>
            </a:pPr>
            <a:endParaRPr sz="4000" dirty="0">
              <a:latin typeface="Arial"/>
              <a:cs typeface="Arial"/>
            </a:endParaRPr>
          </a:p>
          <a:p>
            <a:pPr marL="18151" marR="7260">
              <a:lnSpc>
                <a:spcPct val="112500"/>
              </a:lnSpc>
            </a:pPr>
            <a:r>
              <a:rPr sz="4000" spc="-250" dirty="0">
                <a:solidFill>
                  <a:srgbClr val="374050"/>
                </a:solidFill>
                <a:latin typeface="Arial"/>
                <a:cs typeface="Arial"/>
              </a:rPr>
              <a:t>Real-</a:t>
            </a:r>
            <a:r>
              <a:rPr sz="4000" spc="-93" dirty="0">
                <a:solidFill>
                  <a:srgbClr val="374050"/>
                </a:solidFill>
                <a:latin typeface="Arial"/>
                <a:cs typeface="Arial"/>
              </a:rPr>
              <a:t>time</a:t>
            </a:r>
            <a:r>
              <a:rPr sz="4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79" dirty="0">
                <a:solidFill>
                  <a:srgbClr val="374050"/>
                </a:solidFill>
                <a:latin typeface="Arial"/>
                <a:cs typeface="Arial"/>
              </a:rPr>
              <a:t>visibility</a:t>
            </a:r>
            <a:r>
              <a:rPr sz="40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63" dirty="0">
                <a:solidFill>
                  <a:srgbClr val="374050"/>
                </a:solidFill>
                <a:latin typeface="Arial"/>
                <a:cs typeface="Arial"/>
              </a:rPr>
              <a:t>enables</a:t>
            </a:r>
            <a:r>
              <a:rPr sz="40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29" dirty="0">
                <a:solidFill>
                  <a:srgbClr val="374050"/>
                </a:solidFill>
                <a:latin typeface="Arial"/>
                <a:cs typeface="Arial"/>
              </a:rPr>
              <a:t>targeted</a:t>
            </a:r>
            <a:r>
              <a:rPr sz="4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63" dirty="0">
                <a:solidFill>
                  <a:srgbClr val="374050"/>
                </a:solidFill>
                <a:latin typeface="Arial"/>
                <a:cs typeface="Arial"/>
              </a:rPr>
              <a:t>maintenance,</a:t>
            </a:r>
            <a:r>
              <a:rPr sz="40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29" dirty="0">
                <a:solidFill>
                  <a:srgbClr val="374050"/>
                </a:solidFill>
                <a:latin typeface="Arial"/>
                <a:cs typeface="Arial"/>
              </a:rPr>
              <a:t>training,</a:t>
            </a:r>
            <a:r>
              <a:rPr sz="40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79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40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93" dirty="0">
                <a:solidFill>
                  <a:srgbClr val="374050"/>
                </a:solidFill>
                <a:latin typeface="Arial"/>
                <a:cs typeface="Arial"/>
              </a:rPr>
              <a:t>scheduling </a:t>
            </a:r>
            <a:r>
              <a:rPr sz="4000" spc="-36" dirty="0">
                <a:solidFill>
                  <a:srgbClr val="374050"/>
                </a:solidFill>
                <a:latin typeface="Arial"/>
                <a:cs typeface="Arial"/>
              </a:rPr>
              <a:t>improvements.</a:t>
            </a:r>
            <a:endParaRPr sz="4000" dirty="0">
              <a:latin typeface="Arial"/>
              <a:cs typeface="Arial"/>
            </a:endParaRPr>
          </a:p>
          <a:p>
            <a:pPr>
              <a:spcBef>
                <a:spcPts val="1758"/>
              </a:spcBef>
            </a:pPr>
            <a:endParaRPr sz="4000" dirty="0">
              <a:latin typeface="Arial"/>
              <a:cs typeface="Arial"/>
            </a:endParaRPr>
          </a:p>
          <a:p>
            <a:pPr marL="18151"/>
            <a:r>
              <a:rPr sz="4000" spc="-136" dirty="0">
                <a:solidFill>
                  <a:srgbClr val="374050"/>
                </a:solidFill>
                <a:latin typeface="Arial"/>
                <a:cs typeface="Arial"/>
              </a:rPr>
              <a:t>Immediate</a:t>
            </a:r>
            <a:r>
              <a:rPr sz="40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07" dirty="0">
                <a:solidFill>
                  <a:srgbClr val="374050"/>
                </a:solidFill>
                <a:latin typeface="Arial"/>
                <a:cs typeface="Arial"/>
              </a:rPr>
              <a:t>opportunities</a:t>
            </a:r>
            <a:r>
              <a:rPr sz="40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64" dirty="0">
                <a:solidFill>
                  <a:srgbClr val="374050"/>
                </a:solidFill>
                <a:latin typeface="Arial"/>
                <a:cs typeface="Arial"/>
              </a:rPr>
              <a:t>to</a:t>
            </a:r>
            <a:r>
              <a:rPr sz="40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00" dirty="0">
                <a:solidFill>
                  <a:srgbClr val="374050"/>
                </a:solidFill>
                <a:latin typeface="Arial"/>
                <a:cs typeface="Arial"/>
              </a:rPr>
              <a:t>boost </a:t>
            </a:r>
            <a:r>
              <a:rPr sz="4000" spc="-129" dirty="0">
                <a:solidFill>
                  <a:srgbClr val="374050"/>
                </a:solidFill>
                <a:latin typeface="Arial"/>
                <a:cs typeface="Arial"/>
              </a:rPr>
              <a:t>operational</a:t>
            </a:r>
            <a:r>
              <a:rPr sz="40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4000" spc="-14" dirty="0">
                <a:solidFill>
                  <a:srgbClr val="374050"/>
                </a:solidFill>
                <a:latin typeface="Arial"/>
                <a:cs typeface="Arial"/>
              </a:rPr>
              <a:t>performance.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" y="9249726"/>
            <a:ext cx="17390818" cy="13610"/>
          </a:xfrm>
          <a:custGeom>
            <a:avLst/>
            <a:gdLst/>
            <a:ahLst/>
            <a:cxnLst/>
            <a:rect l="l" t="t" r="r" b="b"/>
            <a:pathLst>
              <a:path w="12171045" h="9525">
                <a:moveTo>
                  <a:pt x="12170664" y="9525"/>
                </a:moveTo>
                <a:lnTo>
                  <a:pt x="0" y="9525"/>
                </a:lnTo>
                <a:lnTo>
                  <a:pt x="0" y="0"/>
                </a:lnTo>
                <a:lnTo>
                  <a:pt x="12170664" y="0"/>
                </a:lnTo>
                <a:lnTo>
                  <a:pt x="12170664" y="95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2710584" y="9441603"/>
            <a:ext cx="3911505" cy="27389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1643" spc="-64" dirty="0">
                <a:solidFill>
                  <a:srgbClr val="6A7280"/>
                </a:solidFill>
                <a:latin typeface="Arial"/>
                <a:cs typeface="Arial"/>
              </a:rPr>
              <a:t>Manufacturing</a:t>
            </a:r>
            <a:r>
              <a:rPr sz="1643" spc="-1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643" spc="-79" dirty="0">
                <a:solidFill>
                  <a:srgbClr val="6A7280"/>
                </a:solidFill>
                <a:latin typeface="Arial"/>
                <a:cs typeface="Arial"/>
              </a:rPr>
              <a:t>Downtime</a:t>
            </a:r>
            <a:r>
              <a:rPr sz="1643" spc="-7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643" spc="-79" dirty="0">
                <a:solidFill>
                  <a:srgbClr val="6A7280"/>
                </a:solidFill>
                <a:latin typeface="Arial"/>
                <a:cs typeface="Arial"/>
              </a:rPr>
              <a:t>Analysis</a:t>
            </a:r>
            <a:r>
              <a:rPr sz="1643" spc="-1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6A7280"/>
                </a:solidFill>
                <a:latin typeface="Arial"/>
                <a:cs typeface="Arial"/>
              </a:rPr>
              <a:t>Dashboard</a:t>
            </a:r>
            <a:endParaRPr sz="164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1887"/>
            <a:ext cx="17479108" cy="9829799"/>
            <a:chOff x="0" y="0"/>
            <a:chExt cx="12171045" cy="7724774"/>
          </a:xfrm>
        </p:grpSpPr>
        <p:sp>
          <p:nvSpPr>
            <p:cNvPr id="3" name="object 3"/>
            <p:cNvSpPr/>
            <p:nvPr/>
          </p:nvSpPr>
          <p:spPr>
            <a:xfrm>
              <a:off x="0" y="895349"/>
              <a:ext cx="12171045" cy="6829425"/>
            </a:xfrm>
            <a:custGeom>
              <a:avLst/>
              <a:gdLst/>
              <a:ahLst/>
              <a:cxnLst/>
              <a:rect l="l" t="t" r="r" b="b"/>
              <a:pathLst>
                <a:path w="12171045" h="6829425">
                  <a:moveTo>
                    <a:pt x="0" y="6829425"/>
                  </a:moveTo>
                  <a:lnTo>
                    <a:pt x="12170664" y="6829425"/>
                  </a:lnTo>
                  <a:lnTo>
                    <a:pt x="12170664" y="0"/>
                  </a:lnTo>
                  <a:lnTo>
                    <a:pt x="0" y="0"/>
                  </a:lnTo>
                  <a:lnTo>
                    <a:pt x="0" y="6829425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71045" cy="895350"/>
            </a:xfrm>
            <a:custGeom>
              <a:avLst/>
              <a:gdLst/>
              <a:ahLst/>
              <a:cxnLst/>
              <a:rect l="l" t="t" r="r" b="b"/>
              <a:pathLst>
                <a:path w="12171045" h="895350">
                  <a:moveTo>
                    <a:pt x="12170664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70664" y="0"/>
                  </a:lnTo>
                  <a:lnTo>
                    <a:pt x="12170664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29164" y="259180"/>
            <a:ext cx="14394560" cy="692641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pc="-229" dirty="0"/>
              <a:t>Recommendations</a:t>
            </a:r>
          </a:p>
        </p:txBody>
      </p:sp>
      <p:sp>
        <p:nvSpPr>
          <p:cNvPr id="6" name="object 6"/>
          <p:cNvSpPr/>
          <p:nvPr/>
        </p:nvSpPr>
        <p:spPr>
          <a:xfrm>
            <a:off x="904883" y="1543977"/>
            <a:ext cx="1170457" cy="435519"/>
          </a:xfrm>
          <a:custGeom>
            <a:avLst/>
            <a:gdLst/>
            <a:ahLst/>
            <a:cxnLst/>
            <a:rect l="l" t="t" r="r" b="b"/>
            <a:pathLst>
              <a:path w="819150" h="304800">
                <a:moveTo>
                  <a:pt x="666750" y="304800"/>
                </a:moveTo>
                <a:lnTo>
                  <a:pt x="152400" y="304800"/>
                </a:lnTo>
                <a:lnTo>
                  <a:pt x="144912" y="304616"/>
                </a:lnTo>
                <a:lnTo>
                  <a:pt x="101066" y="295895"/>
                </a:lnTo>
                <a:lnTo>
                  <a:pt x="61607" y="274804"/>
                </a:lnTo>
                <a:lnTo>
                  <a:pt x="29995" y="243192"/>
                </a:lnTo>
                <a:lnTo>
                  <a:pt x="8904" y="203733"/>
                </a:lnTo>
                <a:lnTo>
                  <a:pt x="183" y="159887"/>
                </a:lnTo>
                <a:lnTo>
                  <a:pt x="0" y="152400"/>
                </a:lnTo>
                <a:lnTo>
                  <a:pt x="183" y="144912"/>
                </a:lnTo>
                <a:lnTo>
                  <a:pt x="8904" y="101066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400" y="0"/>
                </a:lnTo>
                <a:lnTo>
                  <a:pt x="666750" y="0"/>
                </a:lnTo>
                <a:lnTo>
                  <a:pt x="710988" y="6560"/>
                </a:lnTo>
                <a:lnTo>
                  <a:pt x="751417" y="25684"/>
                </a:lnTo>
                <a:lnTo>
                  <a:pt x="784559" y="55717"/>
                </a:lnTo>
                <a:lnTo>
                  <a:pt x="807548" y="94079"/>
                </a:lnTo>
                <a:lnTo>
                  <a:pt x="818420" y="137461"/>
                </a:lnTo>
                <a:lnTo>
                  <a:pt x="819150" y="152400"/>
                </a:lnTo>
                <a:lnTo>
                  <a:pt x="818967" y="159887"/>
                </a:lnTo>
                <a:lnTo>
                  <a:pt x="810245" y="203733"/>
                </a:lnTo>
                <a:lnTo>
                  <a:pt x="789153" y="243192"/>
                </a:lnTo>
                <a:lnTo>
                  <a:pt x="757543" y="274804"/>
                </a:lnTo>
                <a:lnTo>
                  <a:pt x="718082" y="295895"/>
                </a:lnTo>
                <a:lnTo>
                  <a:pt x="674238" y="304616"/>
                </a:lnTo>
                <a:lnTo>
                  <a:pt x="666750" y="304800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50059" y="1599760"/>
            <a:ext cx="873760" cy="27389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1643" spc="-64" dirty="0">
                <a:solidFill>
                  <a:srgbClr val="FFFFFF"/>
                </a:solidFill>
                <a:latin typeface="Arial"/>
                <a:cs typeface="Arial"/>
              </a:rPr>
              <a:t>0-</a:t>
            </a:r>
            <a:r>
              <a:rPr sz="1643" spc="-86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1643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FFFFFF"/>
                </a:solidFill>
                <a:latin typeface="Arial"/>
                <a:cs typeface="Arial"/>
              </a:rPr>
              <a:t>days</a:t>
            </a:r>
            <a:endParaRPr sz="1643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54756" y="1480731"/>
            <a:ext cx="3246431" cy="468172"/>
          </a:xfrm>
          <a:prstGeom prst="rect">
            <a:avLst/>
          </a:prstGeom>
        </p:spPr>
        <p:txBody>
          <a:bodyPr vert="horz" wrap="square" lIns="0" tIns="17239" rIns="0" bIns="0" rtlCol="0">
            <a:spAutoFit/>
          </a:bodyPr>
          <a:lstStyle/>
          <a:p>
            <a:pPr marL="18151">
              <a:spcBef>
                <a:spcPts val="136"/>
              </a:spcBef>
            </a:pPr>
            <a:r>
              <a:rPr sz="2929" b="1" spc="-163" dirty="0">
                <a:solidFill>
                  <a:srgbClr val="0078D4"/>
                </a:solidFill>
                <a:latin typeface="Lucida Sans"/>
                <a:cs typeface="Lucida Sans"/>
              </a:rPr>
              <a:t>Immediate</a:t>
            </a:r>
            <a:r>
              <a:rPr sz="2929" b="1" spc="-150" dirty="0">
                <a:solidFill>
                  <a:srgbClr val="0078D4"/>
                </a:solidFill>
                <a:latin typeface="Lucida Sans"/>
                <a:cs typeface="Lucida Sans"/>
              </a:rPr>
              <a:t> </a:t>
            </a:r>
            <a:r>
              <a:rPr sz="2929" b="1" spc="-171" dirty="0">
                <a:solidFill>
                  <a:srgbClr val="0078D4"/>
                </a:solidFill>
                <a:latin typeface="Lucida Sans"/>
                <a:cs typeface="Lucida Sans"/>
              </a:rPr>
              <a:t>Actions</a:t>
            </a:r>
            <a:endParaRPr sz="2929">
              <a:latin typeface="Lucida Sans"/>
              <a:cs typeface="Lucida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04884" y="5885558"/>
            <a:ext cx="1306557" cy="435519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762000" y="304800"/>
                </a:moveTo>
                <a:lnTo>
                  <a:pt x="152400" y="304800"/>
                </a:lnTo>
                <a:lnTo>
                  <a:pt x="144912" y="304616"/>
                </a:lnTo>
                <a:lnTo>
                  <a:pt x="101066" y="295895"/>
                </a:lnTo>
                <a:lnTo>
                  <a:pt x="61607" y="274807"/>
                </a:lnTo>
                <a:lnTo>
                  <a:pt x="29995" y="243193"/>
                </a:lnTo>
                <a:lnTo>
                  <a:pt x="8904" y="203732"/>
                </a:lnTo>
                <a:lnTo>
                  <a:pt x="183" y="159888"/>
                </a:lnTo>
                <a:lnTo>
                  <a:pt x="0" y="152400"/>
                </a:lnTo>
                <a:lnTo>
                  <a:pt x="183" y="144911"/>
                </a:lnTo>
                <a:lnTo>
                  <a:pt x="8904" y="101067"/>
                </a:lnTo>
                <a:lnTo>
                  <a:pt x="29995" y="61606"/>
                </a:lnTo>
                <a:lnTo>
                  <a:pt x="61607" y="29992"/>
                </a:lnTo>
                <a:lnTo>
                  <a:pt x="101066" y="8904"/>
                </a:lnTo>
                <a:lnTo>
                  <a:pt x="144912" y="182"/>
                </a:lnTo>
                <a:lnTo>
                  <a:pt x="152400" y="0"/>
                </a:lnTo>
                <a:lnTo>
                  <a:pt x="762000" y="0"/>
                </a:lnTo>
                <a:lnTo>
                  <a:pt x="806238" y="6559"/>
                </a:lnTo>
                <a:lnTo>
                  <a:pt x="846667" y="25679"/>
                </a:lnTo>
                <a:lnTo>
                  <a:pt x="879809" y="55715"/>
                </a:lnTo>
                <a:lnTo>
                  <a:pt x="902798" y="94078"/>
                </a:lnTo>
                <a:lnTo>
                  <a:pt x="913670" y="137461"/>
                </a:lnTo>
                <a:lnTo>
                  <a:pt x="914400" y="152400"/>
                </a:lnTo>
                <a:lnTo>
                  <a:pt x="914217" y="159888"/>
                </a:lnTo>
                <a:lnTo>
                  <a:pt x="905495" y="203732"/>
                </a:lnTo>
                <a:lnTo>
                  <a:pt x="884403" y="243193"/>
                </a:lnTo>
                <a:lnTo>
                  <a:pt x="852793" y="274807"/>
                </a:lnTo>
                <a:lnTo>
                  <a:pt x="813332" y="295895"/>
                </a:lnTo>
                <a:lnTo>
                  <a:pt x="769488" y="304616"/>
                </a:lnTo>
                <a:lnTo>
                  <a:pt x="762000" y="304800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50056" y="5941340"/>
            <a:ext cx="1012582" cy="27389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1643" spc="-64" dirty="0">
                <a:solidFill>
                  <a:srgbClr val="FFFFFF"/>
                </a:solidFill>
                <a:latin typeface="Arial"/>
                <a:cs typeface="Arial"/>
              </a:rPr>
              <a:t>1-</a:t>
            </a:r>
            <a:r>
              <a:rPr sz="1643" spc="-86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643" spc="-5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43" spc="-43" dirty="0">
                <a:solidFill>
                  <a:srgbClr val="FFFFFF"/>
                </a:solidFill>
                <a:latin typeface="Arial"/>
                <a:cs typeface="Arial"/>
              </a:rPr>
              <a:t>months</a:t>
            </a:r>
            <a:endParaRPr sz="1643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3822" y="5822311"/>
            <a:ext cx="4496734" cy="468172"/>
          </a:xfrm>
          <a:prstGeom prst="rect">
            <a:avLst/>
          </a:prstGeom>
        </p:spPr>
        <p:txBody>
          <a:bodyPr vert="horz" wrap="square" lIns="0" tIns="17239" rIns="0" bIns="0" rtlCol="0">
            <a:spAutoFit/>
          </a:bodyPr>
          <a:lstStyle/>
          <a:p>
            <a:pPr marL="18151">
              <a:spcBef>
                <a:spcPts val="136"/>
              </a:spcBef>
            </a:pPr>
            <a:r>
              <a:rPr sz="2929" b="1" spc="-143" dirty="0">
                <a:solidFill>
                  <a:srgbClr val="0078D4"/>
                </a:solidFill>
                <a:latin typeface="Lucida Sans"/>
                <a:cs typeface="Lucida Sans"/>
              </a:rPr>
              <a:t>Short-</a:t>
            </a:r>
            <a:r>
              <a:rPr sz="2929" b="1" spc="-300" dirty="0">
                <a:solidFill>
                  <a:srgbClr val="0078D4"/>
                </a:solidFill>
                <a:latin typeface="Lucida Sans"/>
                <a:cs typeface="Lucida Sans"/>
              </a:rPr>
              <a:t>Term</a:t>
            </a:r>
            <a:r>
              <a:rPr sz="2929" b="1" spc="-129" dirty="0">
                <a:solidFill>
                  <a:srgbClr val="0078D4"/>
                </a:solidFill>
                <a:latin typeface="Lucida Sans"/>
                <a:cs typeface="Lucida Sans"/>
              </a:rPr>
              <a:t> </a:t>
            </a:r>
            <a:r>
              <a:rPr sz="2929" b="1" spc="-186" dirty="0">
                <a:solidFill>
                  <a:srgbClr val="0078D4"/>
                </a:solidFill>
                <a:latin typeface="Lucida Sans"/>
                <a:cs typeface="Lucida Sans"/>
              </a:rPr>
              <a:t>Improvements</a:t>
            </a:r>
            <a:endParaRPr sz="2929">
              <a:latin typeface="Lucida Sans"/>
              <a:cs typeface="Lucida San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804066" y="1138362"/>
            <a:ext cx="13610" cy="8669550"/>
          </a:xfrm>
          <a:custGeom>
            <a:avLst/>
            <a:gdLst/>
            <a:ahLst/>
            <a:cxnLst/>
            <a:rect l="l" t="t" r="r" b="b"/>
            <a:pathLst>
              <a:path w="9525" h="6067425">
                <a:moveTo>
                  <a:pt x="9525" y="6067425"/>
                </a:moveTo>
                <a:lnTo>
                  <a:pt x="0" y="6067425"/>
                </a:lnTo>
                <a:lnTo>
                  <a:pt x="0" y="0"/>
                </a:lnTo>
                <a:lnTo>
                  <a:pt x="9525" y="0"/>
                </a:lnTo>
                <a:lnTo>
                  <a:pt x="9525" y="60674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6675" y="1543980"/>
            <a:ext cx="1401827" cy="435519"/>
          </a:xfrm>
          <a:custGeom>
            <a:avLst/>
            <a:gdLst/>
            <a:ahLst/>
            <a:cxnLst/>
            <a:rect l="l" t="t" r="r" b="b"/>
            <a:pathLst>
              <a:path w="981075" h="304800">
                <a:moveTo>
                  <a:pt x="828675" y="304800"/>
                </a:moveTo>
                <a:lnTo>
                  <a:pt x="152400" y="304800"/>
                </a:lnTo>
                <a:lnTo>
                  <a:pt x="144911" y="304616"/>
                </a:lnTo>
                <a:lnTo>
                  <a:pt x="101066" y="295895"/>
                </a:lnTo>
                <a:lnTo>
                  <a:pt x="61606" y="274804"/>
                </a:lnTo>
                <a:lnTo>
                  <a:pt x="29992" y="243192"/>
                </a:lnTo>
                <a:lnTo>
                  <a:pt x="8904" y="203733"/>
                </a:lnTo>
                <a:lnTo>
                  <a:pt x="182" y="159887"/>
                </a:lnTo>
                <a:lnTo>
                  <a:pt x="0" y="152400"/>
                </a:lnTo>
                <a:lnTo>
                  <a:pt x="182" y="144912"/>
                </a:lnTo>
                <a:lnTo>
                  <a:pt x="8904" y="101066"/>
                </a:lnTo>
                <a:lnTo>
                  <a:pt x="29992" y="61607"/>
                </a:lnTo>
                <a:lnTo>
                  <a:pt x="61606" y="29995"/>
                </a:lnTo>
                <a:lnTo>
                  <a:pt x="101066" y="8904"/>
                </a:lnTo>
                <a:lnTo>
                  <a:pt x="144911" y="183"/>
                </a:lnTo>
                <a:lnTo>
                  <a:pt x="152400" y="0"/>
                </a:lnTo>
                <a:lnTo>
                  <a:pt x="828675" y="0"/>
                </a:lnTo>
                <a:lnTo>
                  <a:pt x="872913" y="6560"/>
                </a:lnTo>
                <a:lnTo>
                  <a:pt x="913342" y="25684"/>
                </a:lnTo>
                <a:lnTo>
                  <a:pt x="946484" y="55717"/>
                </a:lnTo>
                <a:lnTo>
                  <a:pt x="969473" y="94079"/>
                </a:lnTo>
                <a:lnTo>
                  <a:pt x="980340" y="137461"/>
                </a:lnTo>
                <a:lnTo>
                  <a:pt x="981075" y="152400"/>
                </a:lnTo>
                <a:lnTo>
                  <a:pt x="980891" y="159887"/>
                </a:lnTo>
                <a:lnTo>
                  <a:pt x="972168" y="203733"/>
                </a:lnTo>
                <a:lnTo>
                  <a:pt x="951078" y="243192"/>
                </a:lnTo>
                <a:lnTo>
                  <a:pt x="919468" y="274804"/>
                </a:lnTo>
                <a:lnTo>
                  <a:pt x="880007" y="295895"/>
                </a:lnTo>
                <a:lnTo>
                  <a:pt x="836163" y="304616"/>
                </a:lnTo>
                <a:lnTo>
                  <a:pt x="828675" y="304800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495041" y="1599760"/>
            <a:ext cx="1121461" cy="27389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1643" spc="-64" dirty="0">
                <a:solidFill>
                  <a:srgbClr val="FFFFFF"/>
                </a:solidFill>
                <a:latin typeface="Arial"/>
                <a:cs typeface="Arial"/>
              </a:rPr>
              <a:t>3-</a:t>
            </a:r>
            <a:r>
              <a:rPr sz="1643" spc="-86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643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43" spc="-43" dirty="0">
                <a:solidFill>
                  <a:srgbClr val="FFFFFF"/>
                </a:solidFill>
                <a:latin typeface="Arial"/>
                <a:cs typeface="Arial"/>
              </a:rPr>
              <a:t>months</a:t>
            </a:r>
            <a:endParaRPr sz="1643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947062" y="1480731"/>
            <a:ext cx="5201729" cy="468172"/>
          </a:xfrm>
          <a:prstGeom prst="rect">
            <a:avLst/>
          </a:prstGeom>
        </p:spPr>
        <p:txBody>
          <a:bodyPr vert="horz" wrap="square" lIns="0" tIns="17239" rIns="0" bIns="0" rtlCol="0">
            <a:spAutoFit/>
          </a:bodyPr>
          <a:lstStyle/>
          <a:p>
            <a:pPr marL="18151">
              <a:spcBef>
                <a:spcPts val="136"/>
              </a:spcBef>
            </a:pPr>
            <a:r>
              <a:rPr sz="2929" b="1" spc="-157" dirty="0">
                <a:solidFill>
                  <a:srgbClr val="0078D4"/>
                </a:solidFill>
                <a:latin typeface="Lucida Sans"/>
                <a:cs typeface="Lucida Sans"/>
              </a:rPr>
              <a:t>Long-</a:t>
            </a:r>
            <a:r>
              <a:rPr sz="2929" b="1" spc="-300" dirty="0">
                <a:solidFill>
                  <a:srgbClr val="0078D4"/>
                </a:solidFill>
                <a:latin typeface="Lucida Sans"/>
                <a:cs typeface="Lucida Sans"/>
              </a:rPr>
              <a:t>Term</a:t>
            </a:r>
            <a:r>
              <a:rPr sz="2929" b="1" spc="-157" dirty="0">
                <a:solidFill>
                  <a:srgbClr val="0078D4"/>
                </a:solidFill>
                <a:latin typeface="Lucida Sans"/>
                <a:cs typeface="Lucida Sans"/>
              </a:rPr>
              <a:t> </a:t>
            </a:r>
            <a:r>
              <a:rPr sz="2929" b="1" spc="-163" dirty="0">
                <a:solidFill>
                  <a:srgbClr val="0078D4"/>
                </a:solidFill>
                <a:latin typeface="Lucida Sans"/>
                <a:cs typeface="Lucida Sans"/>
              </a:rPr>
              <a:t>Strategic</a:t>
            </a:r>
            <a:r>
              <a:rPr sz="2929" b="1" spc="-136" dirty="0">
                <a:solidFill>
                  <a:srgbClr val="0078D4"/>
                </a:solidFill>
                <a:latin typeface="Lucida Sans"/>
                <a:cs typeface="Lucida Sans"/>
              </a:rPr>
              <a:t> </a:t>
            </a:r>
            <a:r>
              <a:rPr sz="2929" b="1" spc="-171" dirty="0">
                <a:solidFill>
                  <a:srgbClr val="0078D4"/>
                </a:solidFill>
                <a:latin typeface="Lucida Sans"/>
                <a:cs typeface="Lucida Sans"/>
              </a:rPr>
              <a:t>Initiatives</a:t>
            </a:r>
            <a:endParaRPr sz="2929" dirty="0">
              <a:latin typeface="Lucida Sans"/>
              <a:cs typeface="Lucida San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77082" y="2387796"/>
            <a:ext cx="8560670" cy="6696105"/>
            <a:chOff x="761999" y="1658276"/>
            <a:chExt cx="5991225" cy="468630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1658276"/>
              <a:ext cx="76200" cy="76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2448851"/>
              <a:ext cx="76200" cy="76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3229901"/>
              <a:ext cx="76200" cy="76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4696751"/>
              <a:ext cx="76200" cy="76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5477801"/>
              <a:ext cx="76200" cy="762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6268376"/>
              <a:ext cx="76200" cy="762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7024" y="1658276"/>
              <a:ext cx="76200" cy="762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7024" y="2115476"/>
              <a:ext cx="76200" cy="762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7024" y="2896526"/>
              <a:ext cx="76200" cy="762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499188" y="2123214"/>
            <a:ext cx="6706529" cy="931101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5000"/>
              </a:lnSpc>
              <a:spcBef>
                <a:spcPts val="129"/>
              </a:spcBef>
            </a:pP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Implement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preventive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maintenance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for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57" dirty="0">
                <a:solidFill>
                  <a:srgbClr val="374050"/>
                </a:solidFill>
                <a:latin typeface="Arial"/>
                <a:cs typeface="Arial"/>
              </a:rPr>
              <a:t>top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3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high- </a:t>
            </a:r>
            <a:r>
              <a:rPr sz="2500" spc="-86" dirty="0">
                <a:solidFill>
                  <a:srgbClr val="374050"/>
                </a:solidFill>
                <a:latin typeface="Arial"/>
                <a:cs typeface="Arial"/>
              </a:rPr>
              <a:t>downtime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machines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99185" y="3266447"/>
            <a:ext cx="5955722" cy="910904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1500"/>
              </a:lnSpc>
              <a:spcBef>
                <a:spcPts val="129"/>
              </a:spcBef>
            </a:pP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Conduct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3" dirty="0">
                <a:solidFill>
                  <a:srgbClr val="374050"/>
                </a:solidFill>
                <a:latin typeface="Arial"/>
                <a:cs typeface="Arial"/>
              </a:rPr>
              <a:t>a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root-</a:t>
            </a: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cause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analysis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374050"/>
                </a:solidFill>
                <a:latin typeface="Arial"/>
                <a:cs typeface="Arial"/>
              </a:rPr>
              <a:t>of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the</a:t>
            </a:r>
            <a:r>
              <a:rPr sz="2500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327" dirty="0">
                <a:solidFill>
                  <a:srgbClr val="374050"/>
                </a:solidFill>
                <a:latin typeface="Arial"/>
                <a:cs typeface="Arial"/>
              </a:rPr>
              <a:t>CO-</a:t>
            </a:r>
            <a:r>
              <a:rPr sz="2500" spc="-64" dirty="0">
                <a:solidFill>
                  <a:srgbClr val="374050"/>
                </a:solidFill>
                <a:latin typeface="Arial"/>
                <a:cs typeface="Arial"/>
              </a:rPr>
              <a:t>600 </a:t>
            </a:r>
            <a:r>
              <a:rPr sz="2500" spc="-79" dirty="0">
                <a:solidFill>
                  <a:srgbClr val="374050"/>
                </a:solidFill>
                <a:latin typeface="Arial"/>
                <a:cs typeface="Arial"/>
              </a:rPr>
              <a:t>production</a:t>
            </a:r>
            <a:r>
              <a:rPr sz="2500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29" dirty="0">
                <a:solidFill>
                  <a:srgbClr val="374050"/>
                </a:solidFill>
                <a:latin typeface="Arial"/>
                <a:cs typeface="Arial"/>
              </a:rPr>
              <a:t>line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99188" y="4382466"/>
            <a:ext cx="6597206" cy="910904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1500"/>
              </a:lnSpc>
              <a:spcBef>
                <a:spcPts val="129"/>
              </a:spcBef>
            </a:pPr>
            <a:r>
              <a:rPr sz="2500" spc="-179" dirty="0">
                <a:solidFill>
                  <a:srgbClr val="374050"/>
                </a:solidFill>
                <a:latin typeface="Arial"/>
                <a:cs typeface="Arial"/>
              </a:rPr>
              <a:t>Review</a:t>
            </a: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36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update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264" dirty="0">
                <a:solidFill>
                  <a:srgbClr val="374050"/>
                </a:solidFill>
                <a:latin typeface="Arial"/>
                <a:cs typeface="Arial"/>
              </a:rPr>
              <a:t>SOPs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for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machine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71" dirty="0">
                <a:solidFill>
                  <a:srgbClr val="374050"/>
                </a:solidFill>
                <a:latin typeface="Arial"/>
                <a:cs typeface="Arial"/>
              </a:rPr>
              <a:t>adjustment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processes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99186" y="6478400"/>
            <a:ext cx="6204331" cy="910904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1500"/>
              </a:lnSpc>
              <a:spcBef>
                <a:spcPts val="129"/>
              </a:spcBef>
            </a:pPr>
            <a:r>
              <a:rPr sz="2500" spc="-129" dirty="0">
                <a:solidFill>
                  <a:srgbClr val="374050"/>
                </a:solidFill>
                <a:latin typeface="Arial"/>
                <a:cs typeface="Arial"/>
              </a:rPr>
              <a:t>Launch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operator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71" dirty="0">
                <a:solidFill>
                  <a:srgbClr val="374050"/>
                </a:solidFill>
                <a:latin typeface="Arial"/>
                <a:cs typeface="Arial"/>
              </a:rPr>
              <a:t>training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programs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86" dirty="0">
                <a:solidFill>
                  <a:srgbClr val="374050"/>
                </a:solidFill>
                <a:latin typeface="Arial"/>
                <a:cs typeface="Arial"/>
              </a:rPr>
              <a:t>focused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79" dirty="0">
                <a:solidFill>
                  <a:srgbClr val="374050"/>
                </a:solidFill>
                <a:latin typeface="Arial"/>
                <a:cs typeface="Arial"/>
              </a:rPr>
              <a:t>on 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error</a:t>
            </a: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reduction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99185" y="7594417"/>
            <a:ext cx="5891300" cy="910904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1500"/>
              </a:lnSpc>
              <a:spcBef>
                <a:spcPts val="129"/>
              </a:spcBef>
            </a:pP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Optimize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inventory</a:t>
            </a:r>
            <a:r>
              <a:rPr sz="2500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management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systems</a:t>
            </a:r>
            <a:r>
              <a:rPr sz="2500" spc="-86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36" dirty="0">
                <a:solidFill>
                  <a:srgbClr val="374050"/>
                </a:solidFill>
                <a:latin typeface="Arial"/>
                <a:cs typeface="Arial"/>
              </a:rPr>
              <a:t>to </a:t>
            </a:r>
            <a:r>
              <a:rPr sz="2500" spc="-129" dirty="0">
                <a:solidFill>
                  <a:srgbClr val="374050"/>
                </a:solidFill>
                <a:latin typeface="Arial"/>
                <a:cs typeface="Arial"/>
              </a:rPr>
              <a:t>reduce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79" dirty="0">
                <a:solidFill>
                  <a:srgbClr val="374050"/>
                </a:solidFill>
                <a:latin typeface="Arial"/>
                <a:cs typeface="Arial"/>
              </a:rPr>
              <a:t>material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delays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99185" y="8724046"/>
            <a:ext cx="5953908" cy="910904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1500"/>
              </a:lnSpc>
              <a:spcBef>
                <a:spcPts val="129"/>
              </a:spcBef>
            </a:pPr>
            <a:r>
              <a:rPr sz="2500" spc="-150" dirty="0">
                <a:solidFill>
                  <a:srgbClr val="374050"/>
                </a:solidFill>
                <a:latin typeface="Arial"/>
                <a:cs typeface="Arial"/>
              </a:rPr>
              <a:t>Deploy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36" dirty="0">
                <a:solidFill>
                  <a:srgbClr val="374050"/>
                </a:solidFill>
                <a:latin typeface="Arial"/>
                <a:cs typeface="Arial"/>
              </a:rPr>
              <a:t>real-</a:t>
            </a:r>
            <a:r>
              <a:rPr sz="2500" spc="-57" dirty="0">
                <a:solidFill>
                  <a:srgbClr val="374050"/>
                </a:solidFill>
                <a:latin typeface="Arial"/>
                <a:cs typeface="Arial"/>
              </a:rPr>
              <a:t>time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71" dirty="0">
                <a:solidFill>
                  <a:srgbClr val="374050"/>
                </a:solidFill>
                <a:latin typeface="Arial"/>
                <a:cs typeface="Arial"/>
              </a:rPr>
              <a:t>monitoring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64" dirty="0">
                <a:solidFill>
                  <a:srgbClr val="374050"/>
                </a:solidFill>
                <a:latin typeface="Arial"/>
                <a:cs typeface="Arial"/>
              </a:rPr>
              <a:t>alerts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for</a:t>
            </a:r>
            <a:r>
              <a:rPr sz="2500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29" dirty="0">
                <a:solidFill>
                  <a:srgbClr val="374050"/>
                </a:solidFill>
                <a:latin typeface="Arial"/>
                <a:cs typeface="Arial"/>
              </a:rPr>
              <a:t>critical </a:t>
            </a:r>
            <a:r>
              <a:rPr sz="2500" spc="-86" dirty="0">
                <a:solidFill>
                  <a:srgbClr val="374050"/>
                </a:solidFill>
                <a:latin typeface="Arial"/>
                <a:cs typeface="Arial"/>
              </a:rPr>
              <a:t>downtime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events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944170" y="2213629"/>
            <a:ext cx="6111783" cy="409458"/>
          </a:xfrm>
          <a:prstGeom prst="rect">
            <a:avLst/>
          </a:prstGeom>
        </p:spPr>
        <p:txBody>
          <a:bodyPr vert="horz" wrap="square" lIns="0" tIns="24498" rIns="0" bIns="0" rtlCol="0">
            <a:spAutoFit/>
          </a:bodyPr>
          <a:lstStyle/>
          <a:p>
            <a:pPr marL="18151">
              <a:spcBef>
                <a:spcPts val="193"/>
              </a:spcBef>
            </a:pP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Invest</a:t>
            </a:r>
            <a:r>
              <a:rPr sz="2500" spc="-71" dirty="0">
                <a:solidFill>
                  <a:srgbClr val="374050"/>
                </a:solidFill>
                <a:latin typeface="Arial"/>
                <a:cs typeface="Arial"/>
              </a:rPr>
              <a:t> in </a:t>
            </a: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predictive</a:t>
            </a:r>
            <a:r>
              <a:rPr sz="2500" spc="-6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14" dirty="0">
                <a:solidFill>
                  <a:srgbClr val="374050"/>
                </a:solidFill>
                <a:latin typeface="Arial"/>
                <a:cs typeface="Arial"/>
              </a:rPr>
              <a:t>maintenance</a:t>
            </a:r>
            <a:r>
              <a:rPr sz="2500" spc="-71" dirty="0">
                <a:solidFill>
                  <a:srgbClr val="374050"/>
                </a:solidFill>
                <a:latin typeface="Arial"/>
                <a:cs typeface="Arial"/>
              </a:rPr>
              <a:t> technologies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944173" y="2790098"/>
            <a:ext cx="5460318" cy="910904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1500"/>
              </a:lnSpc>
              <a:spcBef>
                <a:spcPts val="129"/>
              </a:spcBef>
            </a:pPr>
            <a:r>
              <a:rPr sz="2500" spc="-150" dirty="0">
                <a:solidFill>
                  <a:srgbClr val="374050"/>
                </a:solidFill>
                <a:latin typeface="Arial"/>
                <a:cs typeface="Arial"/>
              </a:rPr>
              <a:t>Redesign</a:t>
            </a:r>
            <a:r>
              <a:rPr sz="2500" spc="-12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79" dirty="0">
                <a:solidFill>
                  <a:srgbClr val="374050"/>
                </a:solidFill>
                <a:latin typeface="Arial"/>
                <a:cs typeface="Arial"/>
              </a:rPr>
              <a:t>batch</a:t>
            </a: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processes</a:t>
            </a:r>
            <a:r>
              <a:rPr sz="2500" spc="-12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29" dirty="0">
                <a:solidFill>
                  <a:srgbClr val="374050"/>
                </a:solidFill>
                <a:latin typeface="Arial"/>
                <a:cs typeface="Arial"/>
              </a:rPr>
              <a:t>to</a:t>
            </a: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07" dirty="0">
                <a:solidFill>
                  <a:srgbClr val="374050"/>
                </a:solidFill>
                <a:latin typeface="Arial"/>
                <a:cs typeface="Arial"/>
              </a:rPr>
              <a:t>raise</a:t>
            </a:r>
            <a:r>
              <a:rPr sz="2500" spc="-129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57" dirty="0">
                <a:solidFill>
                  <a:srgbClr val="374050"/>
                </a:solidFill>
                <a:latin typeface="Arial"/>
                <a:cs typeface="Arial"/>
              </a:rPr>
              <a:t>target </a:t>
            </a:r>
            <a:r>
              <a:rPr sz="2500" spc="-121" dirty="0">
                <a:solidFill>
                  <a:srgbClr val="374050"/>
                </a:solidFill>
                <a:latin typeface="Arial"/>
                <a:cs typeface="Arial"/>
              </a:rPr>
              <a:t>achievement</a:t>
            </a:r>
            <a:r>
              <a:rPr sz="2500" spc="-4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rates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944171" y="3906116"/>
            <a:ext cx="5037503" cy="910904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18151" marR="7260">
              <a:lnSpc>
                <a:spcPct val="121500"/>
              </a:lnSpc>
              <a:spcBef>
                <a:spcPts val="129"/>
              </a:spcBef>
            </a:pPr>
            <a:r>
              <a:rPr sz="2500" spc="-93" dirty="0">
                <a:solidFill>
                  <a:srgbClr val="374050"/>
                </a:solidFill>
                <a:latin typeface="Arial"/>
                <a:cs typeface="Arial"/>
              </a:rPr>
              <a:t>Implement</a:t>
            </a:r>
            <a:r>
              <a:rPr sz="2500" spc="-7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57" dirty="0">
                <a:solidFill>
                  <a:srgbClr val="374050"/>
                </a:solidFill>
                <a:latin typeface="Arial"/>
                <a:cs typeface="Arial"/>
              </a:rPr>
              <a:t>shift-</a:t>
            </a:r>
            <a:r>
              <a:rPr sz="2500" spc="-64" dirty="0">
                <a:solidFill>
                  <a:srgbClr val="374050"/>
                </a:solidFill>
                <a:latin typeface="Arial"/>
                <a:cs typeface="Arial"/>
              </a:rPr>
              <a:t>specific</a:t>
            </a:r>
            <a:r>
              <a:rPr sz="2500" spc="-7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86" dirty="0">
                <a:solidFill>
                  <a:srgbClr val="374050"/>
                </a:solidFill>
                <a:latin typeface="Arial"/>
                <a:cs typeface="Arial"/>
              </a:rPr>
              <a:t>performance </a:t>
            </a:r>
            <a:r>
              <a:rPr sz="2500" spc="-64" dirty="0">
                <a:solidFill>
                  <a:srgbClr val="374050"/>
                </a:solidFill>
                <a:latin typeface="Arial"/>
                <a:cs typeface="Arial"/>
              </a:rPr>
              <a:t>optimization</a:t>
            </a:r>
            <a:r>
              <a:rPr sz="2500" spc="-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500" spc="-14" dirty="0">
                <a:solidFill>
                  <a:srgbClr val="374050"/>
                </a:solidFill>
                <a:latin typeface="Arial"/>
                <a:cs typeface="Arial"/>
              </a:rPr>
              <a:t>programs</a:t>
            </a:r>
            <a:endParaRPr sz="2500" dirty="0">
              <a:latin typeface="Arial"/>
              <a:cs typeface="Arial"/>
            </a:endParaRPr>
          </a:p>
        </p:txBody>
      </p:sp>
      <p:pic>
        <p:nvPicPr>
          <p:cNvPr id="14" name="Picture 13" descr="A diagram of short term improvement&#10;&#10;AI-generated content may be incorrect.">
            <a:extLst>
              <a:ext uri="{FF2B5EF4-FFF2-40B4-BE49-F238E27FC236}">
                <a16:creationId xmlns:a16="http://schemas.microsoft.com/office/drawing/2014/main" id="{3B009158-70F6-A745-FD3A-5499F42B94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340" y="5382428"/>
            <a:ext cx="8600103" cy="41173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829800"/>
            <a:chOff x="0" y="0"/>
            <a:chExt cx="12171045" cy="6896100"/>
          </a:xfrm>
        </p:grpSpPr>
        <p:sp>
          <p:nvSpPr>
            <p:cNvPr id="3" name="object 3"/>
            <p:cNvSpPr/>
            <p:nvPr/>
          </p:nvSpPr>
          <p:spPr>
            <a:xfrm>
              <a:off x="0" y="895349"/>
              <a:ext cx="12171045" cy="6000750"/>
            </a:xfrm>
            <a:custGeom>
              <a:avLst/>
              <a:gdLst/>
              <a:ahLst/>
              <a:cxnLst/>
              <a:rect l="l" t="t" r="r" b="b"/>
              <a:pathLst>
                <a:path w="12171045" h="6000750">
                  <a:moveTo>
                    <a:pt x="0" y="6000750"/>
                  </a:moveTo>
                  <a:lnTo>
                    <a:pt x="12170664" y="6000750"/>
                  </a:lnTo>
                  <a:lnTo>
                    <a:pt x="12170664" y="0"/>
                  </a:lnTo>
                  <a:lnTo>
                    <a:pt x="0" y="0"/>
                  </a:lnTo>
                  <a:lnTo>
                    <a:pt x="0" y="600075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71045" cy="895350"/>
            </a:xfrm>
            <a:custGeom>
              <a:avLst/>
              <a:gdLst/>
              <a:ahLst/>
              <a:cxnLst/>
              <a:rect l="l" t="t" r="r" b="b"/>
              <a:pathLst>
                <a:path w="12171045" h="895350">
                  <a:moveTo>
                    <a:pt x="12170664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70664" y="0"/>
                  </a:lnTo>
                  <a:lnTo>
                    <a:pt x="12170664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6851" y="280287"/>
            <a:ext cx="4345209" cy="671544"/>
          </a:xfrm>
          <a:prstGeom prst="rect">
            <a:avLst/>
          </a:prstGeom>
        </p:spPr>
        <p:txBody>
          <a:bodyPr vert="horz" wrap="square" lIns="0" tIns="22683" rIns="0" bIns="0" rtlCol="0">
            <a:spAutoFit/>
          </a:bodyPr>
          <a:lstStyle/>
          <a:p>
            <a:pPr marL="18151">
              <a:spcBef>
                <a:spcPts val="179"/>
              </a:spcBef>
            </a:pPr>
            <a:r>
              <a:rPr sz="4215" spc="-129" dirty="0"/>
              <a:t>Expected</a:t>
            </a:r>
            <a:r>
              <a:rPr sz="4215" spc="-264" dirty="0"/>
              <a:t> </a:t>
            </a:r>
            <a:r>
              <a:rPr sz="4215" spc="-50" dirty="0"/>
              <a:t>Impact</a:t>
            </a:r>
            <a:endParaRPr sz="4215"/>
          </a:p>
        </p:txBody>
      </p:sp>
      <p:grpSp>
        <p:nvGrpSpPr>
          <p:cNvPr id="6" name="object 6"/>
          <p:cNvGrpSpPr/>
          <p:nvPr/>
        </p:nvGrpSpPr>
        <p:grpSpPr>
          <a:xfrm>
            <a:off x="599588" y="5418489"/>
            <a:ext cx="16018933" cy="3375272"/>
            <a:chOff x="490727" y="3776472"/>
            <a:chExt cx="11210925" cy="2362200"/>
          </a:xfrm>
        </p:grpSpPr>
        <p:sp>
          <p:nvSpPr>
            <p:cNvPr id="7" name="object 7"/>
            <p:cNvSpPr/>
            <p:nvPr/>
          </p:nvSpPr>
          <p:spPr>
            <a:xfrm>
              <a:off x="490727" y="3776472"/>
              <a:ext cx="11210925" cy="2362200"/>
            </a:xfrm>
            <a:custGeom>
              <a:avLst/>
              <a:gdLst/>
              <a:ahLst/>
              <a:cxnLst/>
              <a:rect l="l" t="t" r="r" b="b"/>
              <a:pathLst>
                <a:path w="11210925" h="2362200">
                  <a:moveTo>
                    <a:pt x="11210543" y="2362199"/>
                  </a:moveTo>
                  <a:lnTo>
                    <a:pt x="0" y="2362199"/>
                  </a:lnTo>
                  <a:lnTo>
                    <a:pt x="0" y="0"/>
                  </a:lnTo>
                  <a:lnTo>
                    <a:pt x="11210543" y="0"/>
                  </a:lnTo>
                  <a:lnTo>
                    <a:pt x="11210543" y="52577"/>
                  </a:lnTo>
                  <a:lnTo>
                    <a:pt x="156971" y="52577"/>
                  </a:lnTo>
                  <a:lnTo>
                    <a:pt x="150403" y="52897"/>
                  </a:lnTo>
                  <a:lnTo>
                    <a:pt x="114694" y="67697"/>
                  </a:lnTo>
                  <a:lnTo>
                    <a:pt x="93151" y="99915"/>
                  </a:lnTo>
                  <a:lnTo>
                    <a:pt x="90296" y="119237"/>
                  </a:lnTo>
                  <a:lnTo>
                    <a:pt x="90296" y="2167127"/>
                  </a:lnTo>
                  <a:lnTo>
                    <a:pt x="101523" y="2204180"/>
                  </a:lnTo>
                  <a:lnTo>
                    <a:pt x="131457" y="2228728"/>
                  </a:lnTo>
                  <a:lnTo>
                    <a:pt x="156971" y="2233818"/>
                  </a:lnTo>
                  <a:lnTo>
                    <a:pt x="11210543" y="2233818"/>
                  </a:lnTo>
                  <a:lnTo>
                    <a:pt x="11210543" y="2362199"/>
                  </a:lnTo>
                  <a:close/>
                </a:path>
                <a:path w="11210925" h="2362200">
                  <a:moveTo>
                    <a:pt x="11210543" y="2233818"/>
                  </a:moveTo>
                  <a:lnTo>
                    <a:pt x="11053571" y="2233818"/>
                  </a:lnTo>
                  <a:lnTo>
                    <a:pt x="11060138" y="2233485"/>
                  </a:lnTo>
                  <a:lnTo>
                    <a:pt x="11066579" y="2232530"/>
                  </a:lnTo>
                  <a:lnTo>
                    <a:pt x="11100724" y="2214280"/>
                  </a:lnTo>
                  <a:lnTo>
                    <a:pt x="11118974" y="2180135"/>
                  </a:lnTo>
                  <a:lnTo>
                    <a:pt x="11120261" y="2167127"/>
                  </a:lnTo>
                  <a:lnTo>
                    <a:pt x="11120261" y="119237"/>
                  </a:lnTo>
                  <a:lnTo>
                    <a:pt x="11109022" y="82200"/>
                  </a:lnTo>
                  <a:lnTo>
                    <a:pt x="11079083" y="57668"/>
                  </a:lnTo>
                  <a:lnTo>
                    <a:pt x="11053571" y="52577"/>
                  </a:lnTo>
                  <a:lnTo>
                    <a:pt x="11210543" y="52577"/>
                  </a:lnTo>
                  <a:lnTo>
                    <a:pt x="11210543" y="223381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500" y="3819525"/>
              <a:ext cx="11049000" cy="2200275"/>
            </a:xfrm>
            <a:custGeom>
              <a:avLst/>
              <a:gdLst/>
              <a:ahLst/>
              <a:cxnLst/>
              <a:rect l="l" t="t" r="r" b="b"/>
              <a:pathLst>
                <a:path w="11049000" h="2200275">
                  <a:moveTo>
                    <a:pt x="10977848" y="2200275"/>
                  </a:moveTo>
                  <a:lnTo>
                    <a:pt x="71196" y="2200275"/>
                  </a:lnTo>
                  <a:lnTo>
                    <a:pt x="66241" y="2199789"/>
                  </a:lnTo>
                  <a:lnTo>
                    <a:pt x="29705" y="2184654"/>
                  </a:lnTo>
                  <a:lnTo>
                    <a:pt x="3885" y="2148611"/>
                  </a:lnTo>
                  <a:lnTo>
                    <a:pt x="0" y="2129075"/>
                  </a:lnTo>
                  <a:lnTo>
                    <a:pt x="0" y="212407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1" y="3886"/>
                  </a:lnTo>
                  <a:lnTo>
                    <a:pt x="71196" y="0"/>
                  </a:lnTo>
                  <a:lnTo>
                    <a:pt x="10977848" y="0"/>
                  </a:lnTo>
                  <a:lnTo>
                    <a:pt x="11019282" y="15621"/>
                  </a:lnTo>
                  <a:lnTo>
                    <a:pt x="11045094" y="51663"/>
                  </a:lnTo>
                  <a:lnTo>
                    <a:pt x="11049000" y="71199"/>
                  </a:lnTo>
                  <a:lnTo>
                    <a:pt x="11049000" y="2129075"/>
                  </a:lnTo>
                  <a:lnTo>
                    <a:pt x="11033379" y="2170566"/>
                  </a:lnTo>
                  <a:lnTo>
                    <a:pt x="10997374" y="2196388"/>
                  </a:lnTo>
                  <a:lnTo>
                    <a:pt x="10982801" y="2199789"/>
                  </a:lnTo>
                  <a:lnTo>
                    <a:pt x="10977848" y="2200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9625" y="4848225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571500"/>
                  </a:moveTo>
                  <a:lnTo>
                    <a:pt x="243822" y="568406"/>
                  </a:lnTo>
                  <a:lnTo>
                    <a:pt x="202796" y="559193"/>
                  </a:lnTo>
                  <a:lnTo>
                    <a:pt x="163577" y="544064"/>
                  </a:lnTo>
                  <a:lnTo>
                    <a:pt x="126995" y="523341"/>
                  </a:lnTo>
                  <a:lnTo>
                    <a:pt x="93852" y="497476"/>
                  </a:lnTo>
                  <a:lnTo>
                    <a:pt x="64862" y="467029"/>
                  </a:lnTo>
                  <a:lnTo>
                    <a:pt x="40653" y="432652"/>
                  </a:lnTo>
                  <a:lnTo>
                    <a:pt x="21751" y="395097"/>
                  </a:lnTo>
                  <a:lnTo>
                    <a:pt x="8563" y="355180"/>
                  </a:lnTo>
                  <a:lnTo>
                    <a:pt x="1376" y="313753"/>
                  </a:lnTo>
                  <a:lnTo>
                    <a:pt x="0" y="285750"/>
                  </a:lnTo>
                  <a:lnTo>
                    <a:pt x="343" y="271725"/>
                  </a:lnTo>
                  <a:lnTo>
                    <a:pt x="5490" y="230000"/>
                  </a:lnTo>
                  <a:lnTo>
                    <a:pt x="16703" y="189480"/>
                  </a:lnTo>
                  <a:lnTo>
                    <a:pt x="33741" y="151047"/>
                  </a:lnTo>
                  <a:lnTo>
                    <a:pt x="56233" y="115529"/>
                  </a:lnTo>
                  <a:lnTo>
                    <a:pt x="83694" y="83696"/>
                  </a:lnTo>
                  <a:lnTo>
                    <a:pt x="115528" y="56233"/>
                  </a:lnTo>
                  <a:lnTo>
                    <a:pt x="151047" y="33737"/>
                  </a:lnTo>
                  <a:lnTo>
                    <a:pt x="189480" y="16705"/>
                  </a:lnTo>
                  <a:lnTo>
                    <a:pt x="230000" y="5486"/>
                  </a:lnTo>
                  <a:lnTo>
                    <a:pt x="271725" y="342"/>
                  </a:lnTo>
                  <a:lnTo>
                    <a:pt x="285750" y="0"/>
                  </a:lnTo>
                  <a:lnTo>
                    <a:pt x="299774" y="342"/>
                  </a:lnTo>
                  <a:lnTo>
                    <a:pt x="341499" y="5486"/>
                  </a:lnTo>
                  <a:lnTo>
                    <a:pt x="382017" y="16705"/>
                  </a:lnTo>
                  <a:lnTo>
                    <a:pt x="420452" y="33737"/>
                  </a:lnTo>
                  <a:lnTo>
                    <a:pt x="455970" y="56233"/>
                  </a:lnTo>
                  <a:lnTo>
                    <a:pt x="487803" y="83696"/>
                  </a:lnTo>
                  <a:lnTo>
                    <a:pt x="515266" y="115529"/>
                  </a:lnTo>
                  <a:lnTo>
                    <a:pt x="537762" y="151047"/>
                  </a:lnTo>
                  <a:lnTo>
                    <a:pt x="554794" y="189480"/>
                  </a:lnTo>
                  <a:lnTo>
                    <a:pt x="566013" y="230000"/>
                  </a:lnTo>
                  <a:lnTo>
                    <a:pt x="571157" y="271725"/>
                  </a:lnTo>
                  <a:lnTo>
                    <a:pt x="571500" y="285750"/>
                  </a:lnTo>
                  <a:lnTo>
                    <a:pt x="571157" y="299769"/>
                  </a:lnTo>
                  <a:lnTo>
                    <a:pt x="566013" y="341499"/>
                  </a:lnTo>
                  <a:lnTo>
                    <a:pt x="554794" y="382017"/>
                  </a:lnTo>
                  <a:lnTo>
                    <a:pt x="537762" y="420452"/>
                  </a:lnTo>
                  <a:lnTo>
                    <a:pt x="515266" y="455970"/>
                  </a:lnTo>
                  <a:lnTo>
                    <a:pt x="487803" y="487803"/>
                  </a:lnTo>
                  <a:lnTo>
                    <a:pt x="455970" y="515266"/>
                  </a:lnTo>
                  <a:lnTo>
                    <a:pt x="420452" y="537762"/>
                  </a:lnTo>
                  <a:lnTo>
                    <a:pt x="382017" y="554794"/>
                  </a:lnTo>
                  <a:lnTo>
                    <a:pt x="341499" y="566013"/>
                  </a:lnTo>
                  <a:lnTo>
                    <a:pt x="299774" y="571157"/>
                  </a:lnTo>
                  <a:lnTo>
                    <a:pt x="285750" y="571500"/>
                  </a:lnTo>
                  <a:close/>
                </a:path>
              </a:pathLst>
            </a:custGeom>
            <a:solidFill>
              <a:srgbClr val="E4E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0515" y="5003800"/>
              <a:ext cx="288925" cy="254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250" y="4552950"/>
              <a:ext cx="133350" cy="95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250" y="4876800"/>
              <a:ext cx="133350" cy="95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250" y="5200650"/>
              <a:ext cx="133350" cy="95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250" y="5524500"/>
              <a:ext cx="133350" cy="9525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37097" y="5802940"/>
            <a:ext cx="6879386" cy="2266356"/>
          </a:xfrm>
          <a:prstGeom prst="rect">
            <a:avLst/>
          </a:prstGeom>
        </p:spPr>
        <p:txBody>
          <a:bodyPr vert="horz" wrap="square" lIns="0" tIns="17239" rIns="0" bIns="0" rtlCol="0">
            <a:spAutoFit/>
          </a:bodyPr>
          <a:lstStyle/>
          <a:p>
            <a:pPr marL="18151">
              <a:spcBef>
                <a:spcPts val="136"/>
              </a:spcBef>
            </a:pPr>
            <a:r>
              <a:rPr sz="2358" b="1" spc="-229" dirty="0">
                <a:solidFill>
                  <a:srgbClr val="4A5462"/>
                </a:solidFill>
                <a:latin typeface="Arial"/>
                <a:cs typeface="Arial"/>
              </a:rPr>
              <a:t>Business</a:t>
            </a:r>
            <a:r>
              <a:rPr sz="2358" b="1" spc="-86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358" b="1" spc="-163" dirty="0">
                <a:solidFill>
                  <a:srgbClr val="4A5462"/>
                </a:solidFill>
                <a:latin typeface="Arial"/>
                <a:cs typeface="Arial"/>
              </a:rPr>
              <a:t>Impact</a:t>
            </a:r>
            <a:r>
              <a:rPr sz="2358" b="1" spc="-79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358" b="1" spc="-14" dirty="0">
                <a:solidFill>
                  <a:srgbClr val="4A5462"/>
                </a:solidFill>
                <a:latin typeface="Arial"/>
                <a:cs typeface="Arial"/>
              </a:rPr>
              <a:t>Summary</a:t>
            </a:r>
            <a:endParaRPr sz="2358" dirty="0">
              <a:latin typeface="Arial"/>
              <a:cs typeface="Arial"/>
            </a:endParaRPr>
          </a:p>
          <a:p>
            <a:pPr marL="1502058">
              <a:spcBef>
                <a:spcPts val="1958"/>
              </a:spcBef>
            </a:pPr>
            <a:r>
              <a:rPr sz="1858" spc="-79" dirty="0">
                <a:solidFill>
                  <a:srgbClr val="4A5462"/>
                </a:solidFill>
                <a:latin typeface="Arial"/>
                <a:cs typeface="Arial"/>
              </a:rPr>
              <a:t>Higher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50" dirty="0">
                <a:solidFill>
                  <a:srgbClr val="4A5462"/>
                </a:solidFill>
                <a:latin typeface="Arial"/>
                <a:cs typeface="Arial"/>
              </a:rPr>
              <a:t>productivity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64" dirty="0">
                <a:solidFill>
                  <a:srgbClr val="4A5462"/>
                </a:solidFill>
                <a:latin typeface="Arial"/>
                <a:cs typeface="Arial"/>
              </a:rPr>
              <a:t>across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50" dirty="0">
                <a:solidFill>
                  <a:srgbClr val="4A5462"/>
                </a:solidFill>
                <a:latin typeface="Arial"/>
                <a:cs typeface="Arial"/>
              </a:rPr>
              <a:t>production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29" dirty="0">
                <a:solidFill>
                  <a:srgbClr val="4A5462"/>
                </a:solidFill>
                <a:latin typeface="Arial"/>
                <a:cs typeface="Arial"/>
              </a:rPr>
              <a:t>lines</a:t>
            </a:r>
            <a:endParaRPr sz="1858" dirty="0">
              <a:latin typeface="Arial"/>
              <a:cs typeface="Arial"/>
            </a:endParaRPr>
          </a:p>
          <a:p>
            <a:pPr marL="1502058" marR="7260">
              <a:lnSpc>
                <a:spcPct val="163500"/>
              </a:lnSpc>
            </a:pPr>
            <a:r>
              <a:rPr sz="1858" spc="-79" dirty="0">
                <a:solidFill>
                  <a:srgbClr val="4A5462"/>
                </a:solidFill>
                <a:latin typeface="Arial"/>
                <a:cs typeface="Arial"/>
              </a:rPr>
              <a:t>Lower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79" dirty="0">
                <a:solidFill>
                  <a:srgbClr val="4A5462"/>
                </a:solidFill>
                <a:latin typeface="Arial"/>
                <a:cs typeface="Arial"/>
              </a:rPr>
              <a:t>maintenance</a:t>
            </a:r>
            <a:r>
              <a:rPr sz="1858" spc="-36" dirty="0">
                <a:solidFill>
                  <a:srgbClr val="4A5462"/>
                </a:solidFill>
                <a:latin typeface="Arial"/>
                <a:cs typeface="Arial"/>
              </a:rPr>
              <a:t> costs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64" dirty="0">
                <a:solidFill>
                  <a:srgbClr val="4A5462"/>
                </a:solidFill>
                <a:latin typeface="Arial"/>
                <a:cs typeface="Arial"/>
              </a:rPr>
              <a:t>through</a:t>
            </a:r>
            <a:r>
              <a:rPr sz="1858" spc="-36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86" dirty="0">
                <a:solidFill>
                  <a:srgbClr val="4A5462"/>
                </a:solidFill>
                <a:latin typeface="Arial"/>
                <a:cs typeface="Arial"/>
              </a:rPr>
              <a:t>preventive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64" dirty="0">
                <a:solidFill>
                  <a:srgbClr val="4A5462"/>
                </a:solidFill>
                <a:latin typeface="Arial"/>
                <a:cs typeface="Arial"/>
              </a:rPr>
              <a:t>strategies </a:t>
            </a:r>
            <a:r>
              <a:rPr sz="1858" spc="-114" dirty="0">
                <a:solidFill>
                  <a:srgbClr val="4A5462"/>
                </a:solidFill>
                <a:latin typeface="Arial"/>
                <a:cs typeface="Arial"/>
              </a:rPr>
              <a:t>Enhanced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50" dirty="0">
                <a:solidFill>
                  <a:srgbClr val="4A5462"/>
                </a:solidFill>
                <a:latin typeface="Arial"/>
                <a:cs typeface="Arial"/>
              </a:rPr>
              <a:t>production 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reliability</a:t>
            </a:r>
            <a:r>
              <a:rPr sz="1858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64" dirty="0">
                <a:solidFill>
                  <a:srgbClr val="4A5462"/>
                </a:solidFill>
                <a:latin typeface="Arial"/>
                <a:cs typeface="Arial"/>
              </a:rPr>
              <a:t>across</a:t>
            </a:r>
            <a:r>
              <a:rPr sz="1858" spc="-5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29" dirty="0">
                <a:solidFill>
                  <a:srgbClr val="4A5462"/>
                </a:solidFill>
                <a:latin typeface="Arial"/>
                <a:cs typeface="Arial"/>
              </a:rPr>
              <a:t>all</a:t>
            </a:r>
            <a:r>
              <a:rPr sz="1858" spc="-5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14" dirty="0">
                <a:solidFill>
                  <a:srgbClr val="4A5462"/>
                </a:solidFill>
                <a:latin typeface="Arial"/>
                <a:cs typeface="Arial"/>
              </a:rPr>
              <a:t>shifts </a:t>
            </a:r>
            <a:r>
              <a:rPr sz="1858" spc="-86" dirty="0">
                <a:solidFill>
                  <a:srgbClr val="4A5462"/>
                </a:solidFill>
                <a:latin typeface="Arial"/>
                <a:cs typeface="Arial"/>
              </a:rPr>
              <a:t>Improved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71" dirty="0">
                <a:solidFill>
                  <a:srgbClr val="4A5462"/>
                </a:solidFill>
                <a:latin typeface="Arial"/>
                <a:cs typeface="Arial"/>
              </a:rPr>
              <a:t>operator</a:t>
            </a:r>
            <a:r>
              <a:rPr sz="1858" spc="-36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64" dirty="0">
                <a:solidFill>
                  <a:srgbClr val="4A5462"/>
                </a:solidFill>
                <a:latin typeface="Arial"/>
                <a:cs typeface="Arial"/>
              </a:rPr>
              <a:t>performance</a:t>
            </a:r>
            <a:r>
              <a:rPr sz="1858" spc="-36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93" dirty="0">
                <a:solidFill>
                  <a:srgbClr val="4A5462"/>
                </a:solidFill>
                <a:latin typeface="Arial"/>
                <a:cs typeface="Arial"/>
              </a:rPr>
              <a:t>and</a:t>
            </a:r>
            <a:r>
              <a:rPr sz="1858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858" spc="-14" dirty="0">
                <a:solidFill>
                  <a:srgbClr val="4A5462"/>
                </a:solidFill>
                <a:latin typeface="Arial"/>
                <a:cs typeface="Arial"/>
              </a:rPr>
              <a:t>satisfaction</a:t>
            </a:r>
            <a:endParaRPr sz="1858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582" y="9168307"/>
            <a:ext cx="17390818" cy="13610"/>
          </a:xfrm>
          <a:custGeom>
            <a:avLst/>
            <a:gdLst/>
            <a:ahLst/>
            <a:cxnLst/>
            <a:rect l="l" t="t" r="r" b="b"/>
            <a:pathLst>
              <a:path w="12171045" h="9525">
                <a:moveTo>
                  <a:pt x="12170664" y="9525"/>
                </a:moveTo>
                <a:lnTo>
                  <a:pt x="0" y="9525"/>
                </a:lnTo>
                <a:lnTo>
                  <a:pt x="0" y="0"/>
                </a:lnTo>
                <a:lnTo>
                  <a:pt x="12170664" y="0"/>
                </a:lnTo>
                <a:lnTo>
                  <a:pt x="12170664" y="95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99584" y="1781906"/>
            <a:ext cx="5226228" cy="3462376"/>
          </a:xfrm>
          <a:custGeom>
            <a:avLst/>
            <a:gdLst/>
            <a:ahLst/>
            <a:cxnLst/>
            <a:rect l="l" t="t" r="r" b="b"/>
            <a:pathLst>
              <a:path w="3657600" h="2423160">
                <a:moveTo>
                  <a:pt x="3657599" y="2423159"/>
                </a:moveTo>
                <a:lnTo>
                  <a:pt x="0" y="2423159"/>
                </a:lnTo>
                <a:lnTo>
                  <a:pt x="0" y="0"/>
                </a:lnTo>
                <a:lnTo>
                  <a:pt x="3657599" y="0"/>
                </a:lnTo>
                <a:lnTo>
                  <a:pt x="3657599" y="54482"/>
                </a:lnTo>
                <a:lnTo>
                  <a:pt x="156971" y="54482"/>
                </a:lnTo>
                <a:lnTo>
                  <a:pt x="150403" y="54800"/>
                </a:lnTo>
                <a:lnTo>
                  <a:pt x="114694" y="69591"/>
                </a:lnTo>
                <a:lnTo>
                  <a:pt x="93151" y="101832"/>
                </a:lnTo>
                <a:lnTo>
                  <a:pt x="90296" y="121157"/>
                </a:lnTo>
                <a:lnTo>
                  <a:pt x="90296" y="2226167"/>
                </a:lnTo>
                <a:lnTo>
                  <a:pt x="101523" y="2263235"/>
                </a:lnTo>
                <a:lnTo>
                  <a:pt x="131457" y="2287767"/>
                </a:lnTo>
                <a:lnTo>
                  <a:pt x="156971" y="2292857"/>
                </a:lnTo>
                <a:lnTo>
                  <a:pt x="3657599" y="2292857"/>
                </a:lnTo>
                <a:lnTo>
                  <a:pt x="3657599" y="2423159"/>
                </a:lnTo>
                <a:close/>
              </a:path>
              <a:path w="3657600" h="2423160">
                <a:moveTo>
                  <a:pt x="3657599" y="2292857"/>
                </a:moveTo>
                <a:lnTo>
                  <a:pt x="3500231" y="2292857"/>
                </a:lnTo>
                <a:lnTo>
                  <a:pt x="3506815" y="2292538"/>
                </a:lnTo>
                <a:lnTo>
                  <a:pt x="3513265" y="2291581"/>
                </a:lnTo>
                <a:lnTo>
                  <a:pt x="3547384" y="2273320"/>
                </a:lnTo>
                <a:lnTo>
                  <a:pt x="3565645" y="2239201"/>
                </a:lnTo>
                <a:lnTo>
                  <a:pt x="3566921" y="2226167"/>
                </a:lnTo>
                <a:lnTo>
                  <a:pt x="3566921" y="121157"/>
                </a:lnTo>
                <a:lnTo>
                  <a:pt x="3555682" y="84108"/>
                </a:lnTo>
                <a:lnTo>
                  <a:pt x="3525773" y="59557"/>
                </a:lnTo>
                <a:lnTo>
                  <a:pt x="3500231" y="54482"/>
                </a:lnTo>
                <a:lnTo>
                  <a:pt x="3657599" y="54482"/>
                </a:lnTo>
                <a:lnTo>
                  <a:pt x="3657599" y="2292857"/>
                </a:lnTo>
                <a:close/>
              </a:path>
            </a:pathLst>
          </a:custGeom>
          <a:solidFill>
            <a:srgbClr val="000000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4998" y="1846144"/>
            <a:ext cx="4994859" cy="3225563"/>
          </a:xfrm>
          <a:custGeom>
            <a:avLst/>
            <a:gdLst/>
            <a:ahLst/>
            <a:cxnLst/>
            <a:rect l="l" t="t" r="r" b="b"/>
            <a:pathLst>
              <a:path w="3495675" h="2257425">
                <a:moveTo>
                  <a:pt x="3424475" y="2257425"/>
                </a:moveTo>
                <a:lnTo>
                  <a:pt x="71196" y="2257425"/>
                </a:lnTo>
                <a:lnTo>
                  <a:pt x="66241" y="2256939"/>
                </a:lnTo>
                <a:lnTo>
                  <a:pt x="29705" y="2241804"/>
                </a:lnTo>
                <a:lnTo>
                  <a:pt x="3885" y="2205761"/>
                </a:lnTo>
                <a:lnTo>
                  <a:pt x="0" y="2186225"/>
                </a:lnTo>
                <a:lnTo>
                  <a:pt x="0" y="2181225"/>
                </a:lnTo>
                <a:lnTo>
                  <a:pt x="0" y="71199"/>
                </a:lnTo>
                <a:lnTo>
                  <a:pt x="15621" y="29708"/>
                </a:lnTo>
                <a:lnTo>
                  <a:pt x="51661" y="3886"/>
                </a:lnTo>
                <a:lnTo>
                  <a:pt x="71196" y="0"/>
                </a:lnTo>
                <a:lnTo>
                  <a:pt x="3424475" y="0"/>
                </a:lnTo>
                <a:lnTo>
                  <a:pt x="3465966" y="15620"/>
                </a:lnTo>
                <a:lnTo>
                  <a:pt x="3491788" y="51663"/>
                </a:lnTo>
                <a:lnTo>
                  <a:pt x="3495675" y="71199"/>
                </a:lnTo>
                <a:lnTo>
                  <a:pt x="3495675" y="2186225"/>
                </a:lnTo>
                <a:lnTo>
                  <a:pt x="3480054" y="2227716"/>
                </a:lnTo>
                <a:lnTo>
                  <a:pt x="3444011" y="2253538"/>
                </a:lnTo>
                <a:lnTo>
                  <a:pt x="3429428" y="2256939"/>
                </a:lnTo>
                <a:lnTo>
                  <a:pt x="3424475" y="22574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55247" y="2227223"/>
            <a:ext cx="639669" cy="653279"/>
          </a:xfrm>
          <a:custGeom>
            <a:avLst/>
            <a:gdLst/>
            <a:ahLst/>
            <a:cxnLst/>
            <a:rect l="l" t="t" r="r" b="b"/>
            <a:pathLst>
              <a:path w="447675" h="457200">
                <a:moveTo>
                  <a:pt x="231171" y="457200"/>
                </a:moveTo>
                <a:lnTo>
                  <a:pt x="216503" y="457200"/>
                </a:lnTo>
                <a:lnTo>
                  <a:pt x="209197" y="456828"/>
                </a:lnTo>
                <a:lnTo>
                  <a:pt x="165877" y="449532"/>
                </a:lnTo>
                <a:lnTo>
                  <a:pt x="124787" y="433749"/>
                </a:lnTo>
                <a:lnTo>
                  <a:pt x="87503" y="410089"/>
                </a:lnTo>
                <a:lnTo>
                  <a:pt x="55459" y="379456"/>
                </a:lnTo>
                <a:lnTo>
                  <a:pt x="29886" y="343042"/>
                </a:lnTo>
                <a:lnTo>
                  <a:pt x="11766" y="302228"/>
                </a:lnTo>
                <a:lnTo>
                  <a:pt x="1796" y="258594"/>
                </a:lnTo>
                <a:lnTo>
                  <a:pt x="0" y="236229"/>
                </a:lnTo>
                <a:lnTo>
                  <a:pt x="0" y="228752"/>
                </a:lnTo>
                <a:lnTo>
                  <a:pt x="0" y="220970"/>
                </a:lnTo>
                <a:lnTo>
                  <a:pt x="5731" y="176545"/>
                </a:lnTo>
                <a:lnTo>
                  <a:pt x="19844" y="134112"/>
                </a:lnTo>
                <a:lnTo>
                  <a:pt x="41796" y="95307"/>
                </a:lnTo>
                <a:lnTo>
                  <a:pt x="70744" y="61617"/>
                </a:lnTo>
                <a:lnTo>
                  <a:pt x="105575" y="34347"/>
                </a:lnTo>
                <a:lnTo>
                  <a:pt x="144951" y="14525"/>
                </a:lnTo>
                <a:lnTo>
                  <a:pt x="187356" y="2933"/>
                </a:lnTo>
                <a:lnTo>
                  <a:pt x="216503" y="0"/>
                </a:lnTo>
                <a:lnTo>
                  <a:pt x="231171" y="0"/>
                </a:lnTo>
                <a:lnTo>
                  <a:pt x="274691" y="5848"/>
                </a:lnTo>
                <a:lnTo>
                  <a:pt x="316268" y="20250"/>
                </a:lnTo>
                <a:lnTo>
                  <a:pt x="354291" y="42652"/>
                </a:lnTo>
                <a:lnTo>
                  <a:pt x="387296" y="72199"/>
                </a:lnTo>
                <a:lnTo>
                  <a:pt x="414023" y="107746"/>
                </a:lnTo>
                <a:lnTo>
                  <a:pt x="433444" y="147932"/>
                </a:lnTo>
                <a:lnTo>
                  <a:pt x="444807" y="191214"/>
                </a:lnTo>
                <a:lnTo>
                  <a:pt x="447675" y="220970"/>
                </a:lnTo>
                <a:lnTo>
                  <a:pt x="447675" y="236229"/>
                </a:lnTo>
                <a:lnTo>
                  <a:pt x="441940" y="280654"/>
                </a:lnTo>
                <a:lnTo>
                  <a:pt x="427834" y="323088"/>
                </a:lnTo>
                <a:lnTo>
                  <a:pt x="405879" y="361892"/>
                </a:lnTo>
                <a:lnTo>
                  <a:pt x="376932" y="395582"/>
                </a:lnTo>
                <a:lnTo>
                  <a:pt x="342099" y="422852"/>
                </a:lnTo>
                <a:lnTo>
                  <a:pt x="302723" y="442674"/>
                </a:lnTo>
                <a:lnTo>
                  <a:pt x="260318" y="454266"/>
                </a:lnTo>
                <a:lnTo>
                  <a:pt x="238477" y="456828"/>
                </a:lnTo>
                <a:lnTo>
                  <a:pt x="231171" y="457200"/>
                </a:lnTo>
                <a:close/>
              </a:path>
            </a:pathLst>
          </a:custGeom>
          <a:solidFill>
            <a:srgbClr val="E4EF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1974" y="2408689"/>
            <a:ext cx="326639" cy="29034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677190" y="2127464"/>
            <a:ext cx="2265606" cy="733007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 marR="7260">
              <a:lnSpc>
                <a:spcPct val="112500"/>
              </a:lnSpc>
              <a:spcBef>
                <a:spcPts val="143"/>
              </a:spcBef>
            </a:pPr>
            <a:r>
              <a:rPr sz="2143" spc="-107" dirty="0">
                <a:solidFill>
                  <a:srgbClr val="4A5462"/>
                </a:solidFill>
                <a:latin typeface="Arial"/>
                <a:cs typeface="Arial"/>
              </a:rPr>
              <a:t>Estimated</a:t>
            </a:r>
            <a:r>
              <a:rPr sz="2143" spc="-29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93" dirty="0">
                <a:solidFill>
                  <a:srgbClr val="4A5462"/>
                </a:solidFill>
                <a:latin typeface="Arial"/>
                <a:cs typeface="Arial"/>
              </a:rPr>
              <a:t>Efficiency </a:t>
            </a:r>
            <a:r>
              <a:rPr sz="2143" spc="-14" dirty="0">
                <a:solidFill>
                  <a:srgbClr val="4A5462"/>
                </a:solidFill>
                <a:latin typeface="Arial"/>
                <a:cs typeface="Arial"/>
              </a:rPr>
              <a:t>Improvement</a:t>
            </a:r>
            <a:endParaRPr sz="2143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37100" y="2743591"/>
            <a:ext cx="3853436" cy="1533697"/>
          </a:xfrm>
          <a:prstGeom prst="rect">
            <a:avLst/>
          </a:prstGeom>
        </p:spPr>
        <p:txBody>
          <a:bodyPr vert="horz" wrap="square" lIns="0" tIns="295790" rIns="0" bIns="0" rtlCol="0">
            <a:spAutoFit/>
          </a:bodyPr>
          <a:lstStyle/>
          <a:p>
            <a:pPr marL="18151">
              <a:spcBef>
                <a:spcPts val="2329"/>
              </a:spcBef>
            </a:pPr>
            <a:r>
              <a:rPr sz="5501" b="1" dirty="0">
                <a:solidFill>
                  <a:srgbClr val="0078D4"/>
                </a:solidFill>
                <a:latin typeface="Gill Sans MT"/>
                <a:cs typeface="Gill Sans MT"/>
              </a:rPr>
              <a:t>5-</a:t>
            </a:r>
            <a:r>
              <a:rPr sz="5501" b="1" spc="-36" dirty="0">
                <a:solidFill>
                  <a:srgbClr val="0078D4"/>
                </a:solidFill>
                <a:latin typeface="Gill Sans MT"/>
                <a:cs typeface="Gill Sans MT"/>
              </a:rPr>
              <a:t>10%</a:t>
            </a:r>
            <a:endParaRPr sz="5501">
              <a:latin typeface="Gill Sans MT"/>
              <a:cs typeface="Gill Sans MT"/>
            </a:endParaRPr>
          </a:p>
          <a:p>
            <a:pPr marL="18151">
              <a:spcBef>
                <a:spcPts val="793"/>
              </a:spcBef>
            </a:pPr>
            <a:r>
              <a:rPr sz="1858" spc="-86" dirty="0">
                <a:solidFill>
                  <a:srgbClr val="6A7280"/>
                </a:solidFill>
                <a:latin typeface="Arial"/>
                <a:cs typeface="Arial"/>
              </a:rPr>
              <a:t>Increase</a:t>
            </a:r>
            <a:r>
              <a:rPr sz="1858" spc="-6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43" dirty="0">
                <a:solidFill>
                  <a:srgbClr val="6A7280"/>
                </a:solidFill>
                <a:latin typeface="Arial"/>
                <a:cs typeface="Arial"/>
              </a:rPr>
              <a:t>in</a:t>
            </a:r>
            <a:r>
              <a:rPr sz="1858" spc="-6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71" dirty="0">
                <a:solidFill>
                  <a:srgbClr val="6A7280"/>
                </a:solidFill>
                <a:latin typeface="Arial"/>
                <a:cs typeface="Arial"/>
              </a:rPr>
              <a:t>overall</a:t>
            </a:r>
            <a:r>
              <a:rPr sz="1858" spc="-6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50" dirty="0">
                <a:solidFill>
                  <a:srgbClr val="6A7280"/>
                </a:solidFill>
                <a:latin typeface="Arial"/>
                <a:cs typeface="Arial"/>
              </a:rPr>
              <a:t>production</a:t>
            </a:r>
            <a:r>
              <a:rPr sz="1858" spc="-64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57" dirty="0">
                <a:solidFill>
                  <a:srgbClr val="6A7280"/>
                </a:solidFill>
                <a:latin typeface="Arial"/>
                <a:cs typeface="Arial"/>
              </a:rPr>
              <a:t>efficiency</a:t>
            </a:r>
            <a:endParaRPr sz="1858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5243" y="4504624"/>
            <a:ext cx="145173" cy="172393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234444" y="4419770"/>
            <a:ext cx="2770082" cy="27389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1643" spc="-93" dirty="0">
                <a:solidFill>
                  <a:srgbClr val="0FB981"/>
                </a:solidFill>
                <a:latin typeface="Arial"/>
                <a:cs typeface="Arial"/>
              </a:rPr>
              <a:t>From</a:t>
            </a:r>
            <a:r>
              <a:rPr sz="1643" spc="-71" dirty="0">
                <a:solidFill>
                  <a:srgbClr val="0FB981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0FB981"/>
                </a:solidFill>
                <a:latin typeface="Arial"/>
                <a:cs typeface="Arial"/>
              </a:rPr>
              <a:t>current</a:t>
            </a:r>
            <a:r>
              <a:rPr sz="1643" spc="-71" dirty="0">
                <a:solidFill>
                  <a:srgbClr val="0FB981"/>
                </a:solidFill>
                <a:latin typeface="Arial"/>
                <a:cs typeface="Arial"/>
              </a:rPr>
              <a:t> </a:t>
            </a:r>
            <a:r>
              <a:rPr sz="1643" spc="-79" dirty="0">
                <a:solidFill>
                  <a:srgbClr val="0FB981"/>
                </a:solidFill>
                <a:latin typeface="Arial"/>
                <a:cs typeface="Arial"/>
              </a:rPr>
              <a:t>baseline</a:t>
            </a:r>
            <a:r>
              <a:rPr sz="1643" spc="-71" dirty="0">
                <a:solidFill>
                  <a:srgbClr val="0FB981"/>
                </a:solidFill>
                <a:latin typeface="Arial"/>
                <a:cs typeface="Arial"/>
              </a:rPr>
              <a:t> </a:t>
            </a:r>
            <a:r>
              <a:rPr sz="1643" dirty="0">
                <a:solidFill>
                  <a:srgbClr val="0FB981"/>
                </a:solidFill>
                <a:latin typeface="Arial"/>
                <a:cs typeface="Arial"/>
              </a:rPr>
              <a:t>of</a:t>
            </a:r>
            <a:r>
              <a:rPr sz="1643" spc="-64" dirty="0">
                <a:solidFill>
                  <a:srgbClr val="0FB981"/>
                </a:solidFill>
                <a:latin typeface="Arial"/>
                <a:cs typeface="Arial"/>
              </a:rPr>
              <a:t> </a:t>
            </a:r>
            <a:r>
              <a:rPr sz="1643" spc="-100" dirty="0">
                <a:solidFill>
                  <a:srgbClr val="0FB981"/>
                </a:solidFill>
                <a:latin typeface="Arial"/>
                <a:cs typeface="Arial"/>
              </a:rPr>
              <a:t>64.02%</a:t>
            </a:r>
            <a:endParaRPr sz="1643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00019" y="1781906"/>
            <a:ext cx="5218062" cy="3462376"/>
            <a:chOff x="4270247" y="1231393"/>
            <a:chExt cx="3651885" cy="2423160"/>
          </a:xfrm>
        </p:grpSpPr>
        <p:sp>
          <p:nvSpPr>
            <p:cNvPr id="27" name="object 27"/>
            <p:cNvSpPr/>
            <p:nvPr/>
          </p:nvSpPr>
          <p:spPr>
            <a:xfrm>
              <a:off x="4270247" y="1231393"/>
              <a:ext cx="3651885" cy="2423160"/>
            </a:xfrm>
            <a:custGeom>
              <a:avLst/>
              <a:gdLst/>
              <a:ahLst/>
              <a:cxnLst/>
              <a:rect l="l" t="t" r="r" b="b"/>
              <a:pathLst>
                <a:path w="3651884" h="2423160">
                  <a:moveTo>
                    <a:pt x="3651503" y="2423159"/>
                  </a:moveTo>
                  <a:lnTo>
                    <a:pt x="0" y="2423159"/>
                  </a:lnTo>
                  <a:lnTo>
                    <a:pt x="0" y="0"/>
                  </a:lnTo>
                  <a:lnTo>
                    <a:pt x="3651503" y="0"/>
                  </a:lnTo>
                  <a:lnTo>
                    <a:pt x="3651503" y="54482"/>
                  </a:lnTo>
                  <a:lnTo>
                    <a:pt x="158861" y="54482"/>
                  </a:lnTo>
                  <a:lnTo>
                    <a:pt x="152295" y="54800"/>
                  </a:lnTo>
                  <a:lnTo>
                    <a:pt x="116603" y="69591"/>
                  </a:lnTo>
                  <a:lnTo>
                    <a:pt x="95069" y="101832"/>
                  </a:lnTo>
                  <a:lnTo>
                    <a:pt x="92201" y="121157"/>
                  </a:lnTo>
                  <a:lnTo>
                    <a:pt x="92201" y="2226167"/>
                  </a:lnTo>
                  <a:lnTo>
                    <a:pt x="103441" y="2263235"/>
                  </a:lnTo>
                  <a:lnTo>
                    <a:pt x="133349" y="2287767"/>
                  </a:lnTo>
                  <a:lnTo>
                    <a:pt x="158861" y="2292857"/>
                  </a:lnTo>
                  <a:lnTo>
                    <a:pt x="3651503" y="2292857"/>
                  </a:lnTo>
                  <a:lnTo>
                    <a:pt x="3651503" y="2423159"/>
                  </a:lnTo>
                  <a:close/>
                </a:path>
                <a:path w="3651884" h="2423160">
                  <a:moveTo>
                    <a:pt x="3651503" y="2292857"/>
                  </a:moveTo>
                  <a:lnTo>
                    <a:pt x="3492642" y="2292857"/>
                  </a:lnTo>
                  <a:lnTo>
                    <a:pt x="3499208" y="2292538"/>
                  </a:lnTo>
                  <a:lnTo>
                    <a:pt x="3505649" y="2291581"/>
                  </a:lnTo>
                  <a:lnTo>
                    <a:pt x="3539764" y="2273320"/>
                  </a:lnTo>
                  <a:lnTo>
                    <a:pt x="3558025" y="2239201"/>
                  </a:lnTo>
                  <a:lnTo>
                    <a:pt x="3559301" y="2226167"/>
                  </a:lnTo>
                  <a:lnTo>
                    <a:pt x="3559301" y="121157"/>
                  </a:lnTo>
                  <a:lnTo>
                    <a:pt x="3548062" y="84108"/>
                  </a:lnTo>
                  <a:lnTo>
                    <a:pt x="3518153" y="59557"/>
                  </a:lnTo>
                  <a:lnTo>
                    <a:pt x="3492642" y="54482"/>
                  </a:lnTo>
                  <a:lnTo>
                    <a:pt x="3651503" y="54482"/>
                  </a:lnTo>
                  <a:lnTo>
                    <a:pt x="3651503" y="229285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52925" y="1276350"/>
              <a:ext cx="3486150" cy="2257425"/>
            </a:xfrm>
            <a:custGeom>
              <a:avLst/>
              <a:gdLst/>
              <a:ahLst/>
              <a:cxnLst/>
              <a:rect l="l" t="t" r="r" b="b"/>
              <a:pathLst>
                <a:path w="3486150" h="2257425">
                  <a:moveTo>
                    <a:pt x="3414950" y="2257425"/>
                  </a:moveTo>
                  <a:lnTo>
                    <a:pt x="71199" y="2257425"/>
                  </a:lnTo>
                  <a:lnTo>
                    <a:pt x="66236" y="2256939"/>
                  </a:lnTo>
                  <a:lnTo>
                    <a:pt x="29708" y="2241804"/>
                  </a:lnTo>
                  <a:lnTo>
                    <a:pt x="3886" y="2205761"/>
                  </a:lnTo>
                  <a:lnTo>
                    <a:pt x="0" y="2186225"/>
                  </a:lnTo>
                  <a:lnTo>
                    <a:pt x="0" y="218122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3414950" y="0"/>
                  </a:lnTo>
                  <a:lnTo>
                    <a:pt x="3456441" y="15620"/>
                  </a:lnTo>
                  <a:lnTo>
                    <a:pt x="3482263" y="51663"/>
                  </a:lnTo>
                  <a:lnTo>
                    <a:pt x="3486150" y="71199"/>
                  </a:lnTo>
                  <a:lnTo>
                    <a:pt x="3486150" y="2186225"/>
                  </a:lnTo>
                  <a:lnTo>
                    <a:pt x="3470529" y="2227716"/>
                  </a:lnTo>
                  <a:lnTo>
                    <a:pt x="3434486" y="2253538"/>
                  </a:lnTo>
                  <a:lnTo>
                    <a:pt x="3419903" y="2256939"/>
                  </a:lnTo>
                  <a:lnTo>
                    <a:pt x="3414950" y="22574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91050" y="15144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200"/>
                  </a:moveTo>
                  <a:lnTo>
                    <a:pt x="221113" y="457200"/>
                  </a:lnTo>
                  <a:lnTo>
                    <a:pt x="213645" y="456828"/>
                  </a:lnTo>
                  <a:lnTo>
                    <a:pt x="169402" y="449532"/>
                  </a:lnTo>
                  <a:lnTo>
                    <a:pt x="127444" y="433739"/>
                  </a:lnTo>
                  <a:lnTo>
                    <a:pt x="89363" y="410060"/>
                  </a:lnTo>
                  <a:lnTo>
                    <a:pt x="56635" y="379409"/>
                  </a:lnTo>
                  <a:lnTo>
                    <a:pt x="30518" y="342966"/>
                  </a:lnTo>
                  <a:lnTo>
                    <a:pt x="12020" y="302123"/>
                  </a:lnTo>
                  <a:lnTo>
                    <a:pt x="1838" y="258460"/>
                  </a:lnTo>
                  <a:lnTo>
                    <a:pt x="0" y="236086"/>
                  </a:lnTo>
                  <a:lnTo>
                    <a:pt x="0" y="221113"/>
                  </a:lnTo>
                  <a:lnTo>
                    <a:pt x="5857" y="176660"/>
                  </a:lnTo>
                  <a:lnTo>
                    <a:pt x="20269" y="134197"/>
                  </a:lnTo>
                  <a:lnTo>
                    <a:pt x="42681" y="95373"/>
                  </a:lnTo>
                  <a:lnTo>
                    <a:pt x="72247" y="61664"/>
                  </a:lnTo>
                  <a:lnTo>
                    <a:pt x="107823" y="34366"/>
                  </a:lnTo>
                  <a:lnTo>
                    <a:pt x="148037" y="14535"/>
                  </a:lnTo>
                  <a:lnTo>
                    <a:pt x="191347" y="2933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39" y="5857"/>
                  </a:lnTo>
                  <a:lnTo>
                    <a:pt x="323002" y="20269"/>
                  </a:lnTo>
                  <a:lnTo>
                    <a:pt x="361826" y="42681"/>
                  </a:lnTo>
                  <a:lnTo>
                    <a:pt x="395535" y="72247"/>
                  </a:lnTo>
                  <a:lnTo>
                    <a:pt x="422833" y="107823"/>
                  </a:lnTo>
                  <a:lnTo>
                    <a:pt x="442664" y="148037"/>
                  </a:lnTo>
                  <a:lnTo>
                    <a:pt x="454266" y="191347"/>
                  </a:lnTo>
                  <a:lnTo>
                    <a:pt x="457200" y="221113"/>
                  </a:lnTo>
                  <a:lnTo>
                    <a:pt x="457200" y="228600"/>
                  </a:lnTo>
                  <a:lnTo>
                    <a:pt x="457200" y="236086"/>
                  </a:lnTo>
                  <a:lnTo>
                    <a:pt x="451342" y="280539"/>
                  </a:lnTo>
                  <a:lnTo>
                    <a:pt x="436930" y="323002"/>
                  </a:lnTo>
                  <a:lnTo>
                    <a:pt x="414508" y="361826"/>
                  </a:lnTo>
                  <a:lnTo>
                    <a:pt x="384952" y="395535"/>
                  </a:lnTo>
                  <a:lnTo>
                    <a:pt x="349377" y="422833"/>
                  </a:lnTo>
                  <a:lnTo>
                    <a:pt x="309162" y="442664"/>
                  </a:lnTo>
                  <a:lnTo>
                    <a:pt x="265852" y="454266"/>
                  </a:lnTo>
                  <a:lnTo>
                    <a:pt x="243554" y="456828"/>
                  </a:lnTo>
                  <a:lnTo>
                    <a:pt x="236086" y="457200"/>
                  </a:lnTo>
                  <a:close/>
                </a:path>
              </a:pathLst>
            </a:custGeom>
            <a:solidFill>
              <a:srgbClr val="E4E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2073" y="1628775"/>
              <a:ext cx="228600" cy="2286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429325" y="2317739"/>
            <a:ext cx="3352589" cy="348094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143" spc="-79" dirty="0">
                <a:solidFill>
                  <a:srgbClr val="4A5462"/>
                </a:solidFill>
                <a:latin typeface="Arial"/>
                <a:cs typeface="Arial"/>
              </a:rPr>
              <a:t>Potential</a:t>
            </a:r>
            <a:r>
              <a:rPr sz="2143" spc="-71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114" dirty="0">
                <a:solidFill>
                  <a:srgbClr val="4A5462"/>
                </a:solidFill>
                <a:latin typeface="Arial"/>
                <a:cs typeface="Arial"/>
              </a:rPr>
              <a:t>Downtime</a:t>
            </a:r>
            <a:r>
              <a:rPr sz="2143" spc="-71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100" dirty="0">
                <a:solidFill>
                  <a:srgbClr val="4A5462"/>
                </a:solidFill>
                <a:latin typeface="Arial"/>
                <a:cs typeface="Arial"/>
              </a:rPr>
              <a:t>Reduction</a:t>
            </a:r>
            <a:endParaRPr sz="2143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35572" y="2661931"/>
            <a:ext cx="3772683" cy="1533697"/>
          </a:xfrm>
          <a:prstGeom prst="rect">
            <a:avLst/>
          </a:prstGeom>
        </p:spPr>
        <p:txBody>
          <a:bodyPr vert="horz" wrap="square" lIns="0" tIns="295790" rIns="0" bIns="0" rtlCol="0">
            <a:spAutoFit/>
          </a:bodyPr>
          <a:lstStyle/>
          <a:p>
            <a:pPr marL="18151">
              <a:spcBef>
                <a:spcPts val="2329"/>
              </a:spcBef>
            </a:pPr>
            <a:r>
              <a:rPr sz="5501" b="1" dirty="0">
                <a:solidFill>
                  <a:srgbClr val="0078D4"/>
                </a:solidFill>
                <a:latin typeface="Gill Sans MT"/>
                <a:cs typeface="Gill Sans MT"/>
              </a:rPr>
              <a:t>20-</a:t>
            </a:r>
            <a:r>
              <a:rPr sz="5501" b="1" spc="-36" dirty="0">
                <a:solidFill>
                  <a:srgbClr val="0078D4"/>
                </a:solidFill>
                <a:latin typeface="Gill Sans MT"/>
                <a:cs typeface="Gill Sans MT"/>
              </a:rPr>
              <a:t>30%</a:t>
            </a:r>
            <a:endParaRPr sz="5501">
              <a:latin typeface="Gill Sans MT"/>
              <a:cs typeface="Gill Sans MT"/>
            </a:endParaRPr>
          </a:p>
          <a:p>
            <a:pPr marL="18151">
              <a:spcBef>
                <a:spcPts val="793"/>
              </a:spcBef>
            </a:pPr>
            <a:r>
              <a:rPr sz="1858" spc="-114" dirty="0">
                <a:solidFill>
                  <a:srgbClr val="6A7280"/>
                </a:solidFill>
                <a:latin typeface="Arial"/>
                <a:cs typeface="Arial"/>
              </a:rPr>
              <a:t>Decrease</a:t>
            </a:r>
            <a:r>
              <a:rPr sz="1858" spc="-57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43" dirty="0">
                <a:solidFill>
                  <a:srgbClr val="6A7280"/>
                </a:solidFill>
                <a:latin typeface="Arial"/>
                <a:cs typeface="Arial"/>
              </a:rPr>
              <a:t>in</a:t>
            </a:r>
            <a:r>
              <a:rPr sz="1858" spc="-50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29" dirty="0">
                <a:solidFill>
                  <a:srgbClr val="6A7280"/>
                </a:solidFill>
                <a:latin typeface="Arial"/>
                <a:cs typeface="Arial"/>
              </a:rPr>
              <a:t>total</a:t>
            </a:r>
            <a:r>
              <a:rPr sz="1858" spc="-50" dirty="0">
                <a:solidFill>
                  <a:srgbClr val="6A7280"/>
                </a:solidFill>
                <a:latin typeface="Arial"/>
                <a:cs typeface="Arial"/>
              </a:rPr>
              <a:t> production downtime</a:t>
            </a:r>
            <a:endParaRPr sz="1858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53720" y="4422966"/>
            <a:ext cx="145173" cy="172393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6632924" y="4338110"/>
            <a:ext cx="3238265" cy="27389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1643" spc="-93" dirty="0">
                <a:solidFill>
                  <a:srgbClr val="0FB981"/>
                </a:solidFill>
                <a:latin typeface="Arial"/>
                <a:cs typeface="Arial"/>
              </a:rPr>
              <a:t>From</a:t>
            </a:r>
            <a:r>
              <a:rPr sz="1643" spc="-64" dirty="0">
                <a:solidFill>
                  <a:srgbClr val="0FB981"/>
                </a:solidFill>
                <a:latin typeface="Arial"/>
                <a:cs typeface="Arial"/>
              </a:rPr>
              <a:t> current</a:t>
            </a:r>
            <a:r>
              <a:rPr sz="1643" spc="-57" dirty="0">
                <a:solidFill>
                  <a:srgbClr val="0FB981"/>
                </a:solidFill>
                <a:latin typeface="Arial"/>
                <a:cs typeface="Arial"/>
              </a:rPr>
              <a:t> </a:t>
            </a:r>
            <a:r>
              <a:rPr sz="1643" spc="-100" dirty="0">
                <a:solidFill>
                  <a:srgbClr val="0FB981"/>
                </a:solidFill>
                <a:latin typeface="Arial"/>
                <a:cs typeface="Arial"/>
              </a:rPr>
              <a:t>23h</a:t>
            </a:r>
            <a:r>
              <a:rPr sz="1643" spc="-64" dirty="0">
                <a:solidFill>
                  <a:srgbClr val="0FB981"/>
                </a:solidFill>
                <a:latin typeface="Arial"/>
                <a:cs typeface="Arial"/>
              </a:rPr>
              <a:t> </a:t>
            </a:r>
            <a:r>
              <a:rPr sz="1643" spc="-86" dirty="0">
                <a:solidFill>
                  <a:srgbClr val="0FB981"/>
                </a:solidFill>
                <a:latin typeface="Arial"/>
                <a:cs typeface="Arial"/>
              </a:rPr>
              <a:t>08m</a:t>
            </a:r>
            <a:r>
              <a:rPr sz="1643" spc="-57" dirty="0">
                <a:solidFill>
                  <a:srgbClr val="0FB981"/>
                </a:solidFill>
                <a:latin typeface="Arial"/>
                <a:cs typeface="Arial"/>
              </a:rPr>
              <a:t> </a:t>
            </a:r>
            <a:r>
              <a:rPr sz="1643" spc="-29" dirty="0">
                <a:solidFill>
                  <a:srgbClr val="0FB981"/>
                </a:solidFill>
                <a:latin typeface="Arial"/>
                <a:cs typeface="Arial"/>
              </a:rPr>
              <a:t>total</a:t>
            </a:r>
            <a:r>
              <a:rPr sz="1643" spc="-57" dirty="0">
                <a:solidFill>
                  <a:srgbClr val="0FB981"/>
                </a:solidFill>
                <a:latin typeface="Arial"/>
                <a:cs typeface="Arial"/>
              </a:rPr>
              <a:t> </a:t>
            </a:r>
            <a:r>
              <a:rPr sz="1643" spc="-43" dirty="0">
                <a:solidFill>
                  <a:srgbClr val="0FB981"/>
                </a:solidFill>
                <a:latin typeface="Arial"/>
                <a:cs typeface="Arial"/>
              </a:rPr>
              <a:t>downtime</a:t>
            </a:r>
            <a:endParaRPr sz="1643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1391741" y="1781906"/>
            <a:ext cx="5226228" cy="3462376"/>
            <a:chOff x="8043671" y="1231393"/>
            <a:chExt cx="3657600" cy="2423160"/>
          </a:xfrm>
        </p:grpSpPr>
        <p:sp>
          <p:nvSpPr>
            <p:cNvPr id="36" name="object 36"/>
            <p:cNvSpPr/>
            <p:nvPr/>
          </p:nvSpPr>
          <p:spPr>
            <a:xfrm>
              <a:off x="8043671" y="1231393"/>
              <a:ext cx="3657600" cy="2423160"/>
            </a:xfrm>
            <a:custGeom>
              <a:avLst/>
              <a:gdLst/>
              <a:ahLst/>
              <a:cxnLst/>
              <a:rect l="l" t="t" r="r" b="b"/>
              <a:pathLst>
                <a:path w="3657600" h="2423160">
                  <a:moveTo>
                    <a:pt x="3657599" y="2423159"/>
                  </a:moveTo>
                  <a:lnTo>
                    <a:pt x="0" y="242315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54482"/>
                  </a:lnTo>
                  <a:lnTo>
                    <a:pt x="157337" y="54482"/>
                  </a:lnTo>
                  <a:lnTo>
                    <a:pt x="150771" y="54800"/>
                  </a:lnTo>
                  <a:lnTo>
                    <a:pt x="115079" y="69591"/>
                  </a:lnTo>
                  <a:lnTo>
                    <a:pt x="93532" y="101832"/>
                  </a:lnTo>
                  <a:lnTo>
                    <a:pt x="90677" y="121157"/>
                  </a:lnTo>
                  <a:lnTo>
                    <a:pt x="90677" y="2226167"/>
                  </a:lnTo>
                  <a:lnTo>
                    <a:pt x="101917" y="2263235"/>
                  </a:lnTo>
                  <a:lnTo>
                    <a:pt x="131825" y="2287767"/>
                  </a:lnTo>
                  <a:lnTo>
                    <a:pt x="157337" y="2292857"/>
                  </a:lnTo>
                  <a:lnTo>
                    <a:pt x="3657599" y="2292857"/>
                  </a:lnTo>
                  <a:lnTo>
                    <a:pt x="3657599" y="2423159"/>
                  </a:lnTo>
                  <a:close/>
                </a:path>
                <a:path w="3657600" h="2423160">
                  <a:moveTo>
                    <a:pt x="3657599" y="2292857"/>
                  </a:moveTo>
                  <a:lnTo>
                    <a:pt x="3500627" y="2292857"/>
                  </a:lnTo>
                  <a:lnTo>
                    <a:pt x="3507194" y="2292538"/>
                  </a:lnTo>
                  <a:lnTo>
                    <a:pt x="3513635" y="2291581"/>
                  </a:lnTo>
                  <a:lnTo>
                    <a:pt x="3547780" y="2273320"/>
                  </a:lnTo>
                  <a:lnTo>
                    <a:pt x="3566030" y="2239201"/>
                  </a:lnTo>
                  <a:lnTo>
                    <a:pt x="3567318" y="2226167"/>
                  </a:lnTo>
                  <a:lnTo>
                    <a:pt x="3567318" y="121157"/>
                  </a:lnTo>
                  <a:lnTo>
                    <a:pt x="3556078" y="84108"/>
                  </a:lnTo>
                  <a:lnTo>
                    <a:pt x="3526139" y="59557"/>
                  </a:lnTo>
                  <a:lnTo>
                    <a:pt x="3500627" y="54482"/>
                  </a:lnTo>
                  <a:lnTo>
                    <a:pt x="3657599" y="54482"/>
                  </a:lnTo>
                  <a:lnTo>
                    <a:pt x="3657599" y="229285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124825" y="1276350"/>
              <a:ext cx="3495675" cy="2257425"/>
            </a:xfrm>
            <a:custGeom>
              <a:avLst/>
              <a:gdLst/>
              <a:ahLst/>
              <a:cxnLst/>
              <a:rect l="l" t="t" r="r" b="b"/>
              <a:pathLst>
                <a:path w="3495675" h="2257425">
                  <a:moveTo>
                    <a:pt x="3424523" y="2257425"/>
                  </a:moveTo>
                  <a:lnTo>
                    <a:pt x="71199" y="2257425"/>
                  </a:lnTo>
                  <a:lnTo>
                    <a:pt x="66236" y="2256939"/>
                  </a:lnTo>
                  <a:lnTo>
                    <a:pt x="29708" y="2241804"/>
                  </a:lnTo>
                  <a:lnTo>
                    <a:pt x="3886" y="2205761"/>
                  </a:lnTo>
                  <a:lnTo>
                    <a:pt x="0" y="2186225"/>
                  </a:lnTo>
                  <a:lnTo>
                    <a:pt x="0" y="218122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3424523" y="0"/>
                  </a:lnTo>
                  <a:lnTo>
                    <a:pt x="3465957" y="15620"/>
                  </a:lnTo>
                  <a:lnTo>
                    <a:pt x="3491769" y="51663"/>
                  </a:lnTo>
                  <a:lnTo>
                    <a:pt x="3495675" y="71199"/>
                  </a:lnTo>
                  <a:lnTo>
                    <a:pt x="3495675" y="2186225"/>
                  </a:lnTo>
                  <a:lnTo>
                    <a:pt x="3480054" y="2227716"/>
                  </a:lnTo>
                  <a:lnTo>
                    <a:pt x="3444049" y="2253538"/>
                  </a:lnTo>
                  <a:lnTo>
                    <a:pt x="3429476" y="2256939"/>
                  </a:lnTo>
                  <a:lnTo>
                    <a:pt x="3424523" y="22574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362950" y="15144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200"/>
                  </a:moveTo>
                  <a:lnTo>
                    <a:pt x="221113" y="457200"/>
                  </a:lnTo>
                  <a:lnTo>
                    <a:pt x="213645" y="456828"/>
                  </a:lnTo>
                  <a:lnTo>
                    <a:pt x="169402" y="449532"/>
                  </a:lnTo>
                  <a:lnTo>
                    <a:pt x="127444" y="433739"/>
                  </a:lnTo>
                  <a:lnTo>
                    <a:pt x="89363" y="410060"/>
                  </a:lnTo>
                  <a:lnTo>
                    <a:pt x="56635" y="379409"/>
                  </a:lnTo>
                  <a:lnTo>
                    <a:pt x="30518" y="342966"/>
                  </a:lnTo>
                  <a:lnTo>
                    <a:pt x="12020" y="302123"/>
                  </a:lnTo>
                  <a:lnTo>
                    <a:pt x="1838" y="258460"/>
                  </a:lnTo>
                  <a:lnTo>
                    <a:pt x="0" y="236086"/>
                  </a:lnTo>
                  <a:lnTo>
                    <a:pt x="0" y="221113"/>
                  </a:lnTo>
                  <a:lnTo>
                    <a:pt x="5848" y="176660"/>
                  </a:lnTo>
                  <a:lnTo>
                    <a:pt x="20269" y="134197"/>
                  </a:lnTo>
                  <a:lnTo>
                    <a:pt x="42681" y="95373"/>
                  </a:lnTo>
                  <a:lnTo>
                    <a:pt x="72247" y="61664"/>
                  </a:lnTo>
                  <a:lnTo>
                    <a:pt x="107823" y="34366"/>
                  </a:lnTo>
                  <a:lnTo>
                    <a:pt x="148037" y="14535"/>
                  </a:lnTo>
                  <a:lnTo>
                    <a:pt x="191347" y="2933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39" y="5857"/>
                  </a:lnTo>
                  <a:lnTo>
                    <a:pt x="323002" y="20269"/>
                  </a:lnTo>
                  <a:lnTo>
                    <a:pt x="361826" y="42681"/>
                  </a:lnTo>
                  <a:lnTo>
                    <a:pt x="395535" y="72247"/>
                  </a:lnTo>
                  <a:lnTo>
                    <a:pt x="422833" y="107823"/>
                  </a:lnTo>
                  <a:lnTo>
                    <a:pt x="442664" y="148037"/>
                  </a:lnTo>
                  <a:lnTo>
                    <a:pt x="454266" y="191347"/>
                  </a:lnTo>
                  <a:lnTo>
                    <a:pt x="457200" y="221113"/>
                  </a:lnTo>
                  <a:lnTo>
                    <a:pt x="457200" y="228600"/>
                  </a:lnTo>
                  <a:lnTo>
                    <a:pt x="457200" y="236086"/>
                  </a:lnTo>
                  <a:lnTo>
                    <a:pt x="451342" y="280539"/>
                  </a:lnTo>
                  <a:lnTo>
                    <a:pt x="436930" y="323002"/>
                  </a:lnTo>
                  <a:lnTo>
                    <a:pt x="414508" y="361826"/>
                  </a:lnTo>
                  <a:lnTo>
                    <a:pt x="384952" y="395535"/>
                  </a:lnTo>
                  <a:lnTo>
                    <a:pt x="349377" y="422833"/>
                  </a:lnTo>
                  <a:lnTo>
                    <a:pt x="309162" y="442664"/>
                  </a:lnTo>
                  <a:lnTo>
                    <a:pt x="265852" y="454266"/>
                  </a:lnTo>
                  <a:lnTo>
                    <a:pt x="243554" y="456828"/>
                  </a:lnTo>
                  <a:lnTo>
                    <a:pt x="236086" y="457200"/>
                  </a:lnTo>
                  <a:close/>
                </a:path>
              </a:pathLst>
            </a:custGeom>
            <a:solidFill>
              <a:srgbClr val="E4E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80374" y="1628775"/>
              <a:ext cx="228600" cy="22860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2696158" y="2317739"/>
            <a:ext cx="3484152" cy="348094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>
              <a:spcBef>
                <a:spcPts val="143"/>
              </a:spcBef>
            </a:pPr>
            <a:r>
              <a:rPr sz="2143" spc="-129" dirty="0">
                <a:solidFill>
                  <a:srgbClr val="4A5462"/>
                </a:solidFill>
                <a:latin typeface="Arial"/>
                <a:cs typeface="Arial"/>
              </a:rPr>
              <a:t>Target</a:t>
            </a:r>
            <a:r>
              <a:rPr sz="2143" spc="-71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114" dirty="0">
                <a:solidFill>
                  <a:srgbClr val="4A5462"/>
                </a:solidFill>
                <a:latin typeface="Arial"/>
                <a:cs typeface="Arial"/>
              </a:rPr>
              <a:t>Batch</a:t>
            </a:r>
            <a:r>
              <a:rPr sz="21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114" dirty="0">
                <a:solidFill>
                  <a:srgbClr val="4A5462"/>
                </a:solidFill>
                <a:latin typeface="Arial"/>
                <a:cs typeface="Arial"/>
              </a:rPr>
              <a:t>Achievement</a:t>
            </a:r>
            <a:r>
              <a:rPr sz="2143" spc="-71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2143" spc="-107" dirty="0">
                <a:solidFill>
                  <a:srgbClr val="4A5462"/>
                </a:solidFill>
                <a:latin typeface="Arial"/>
                <a:cs typeface="Arial"/>
              </a:rPr>
              <a:t>Rate</a:t>
            </a:r>
            <a:endParaRPr sz="2143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834272" y="2661931"/>
            <a:ext cx="3724595" cy="1533697"/>
          </a:xfrm>
          <a:prstGeom prst="rect">
            <a:avLst/>
          </a:prstGeom>
        </p:spPr>
        <p:txBody>
          <a:bodyPr vert="horz" wrap="square" lIns="0" tIns="295790" rIns="0" bIns="0" rtlCol="0">
            <a:spAutoFit/>
          </a:bodyPr>
          <a:lstStyle/>
          <a:p>
            <a:pPr marL="18151">
              <a:spcBef>
                <a:spcPts val="2329"/>
              </a:spcBef>
            </a:pPr>
            <a:r>
              <a:rPr sz="5501" b="1" spc="-29" dirty="0">
                <a:solidFill>
                  <a:srgbClr val="0078D4"/>
                </a:solidFill>
                <a:latin typeface="Gill Sans MT"/>
                <a:cs typeface="Gill Sans MT"/>
              </a:rPr>
              <a:t>&gt;25%</a:t>
            </a:r>
            <a:endParaRPr sz="5501">
              <a:latin typeface="Gill Sans MT"/>
              <a:cs typeface="Gill Sans MT"/>
            </a:endParaRPr>
          </a:p>
          <a:p>
            <a:pPr marL="18151">
              <a:spcBef>
                <a:spcPts val="793"/>
              </a:spcBef>
            </a:pPr>
            <a:r>
              <a:rPr sz="1858" spc="-114" dirty="0">
                <a:solidFill>
                  <a:srgbClr val="6A7280"/>
                </a:solidFill>
                <a:latin typeface="Arial"/>
                <a:cs typeface="Arial"/>
              </a:rPr>
              <a:t>Of</a:t>
            </a:r>
            <a:r>
              <a:rPr sz="1858" spc="-71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64" dirty="0">
                <a:solidFill>
                  <a:srgbClr val="6A7280"/>
                </a:solidFill>
                <a:latin typeface="Arial"/>
                <a:cs typeface="Arial"/>
              </a:rPr>
              <a:t>batches</a:t>
            </a:r>
            <a:r>
              <a:rPr sz="1858" spc="-71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64" dirty="0">
                <a:solidFill>
                  <a:srgbClr val="6A7280"/>
                </a:solidFill>
                <a:latin typeface="Arial"/>
                <a:cs typeface="Arial"/>
              </a:rPr>
              <a:t>meeting </a:t>
            </a:r>
            <a:r>
              <a:rPr sz="1858" spc="-50" dirty="0">
                <a:solidFill>
                  <a:srgbClr val="6A7280"/>
                </a:solidFill>
                <a:latin typeface="Arial"/>
                <a:cs typeface="Arial"/>
              </a:rPr>
              <a:t>target</a:t>
            </a:r>
            <a:r>
              <a:rPr sz="1858" spc="-71" dirty="0">
                <a:solidFill>
                  <a:srgbClr val="6A7280"/>
                </a:solidFill>
                <a:latin typeface="Arial"/>
                <a:cs typeface="Arial"/>
              </a:rPr>
              <a:t> </a:t>
            </a:r>
            <a:r>
              <a:rPr sz="1858" spc="-43" dirty="0">
                <a:solidFill>
                  <a:srgbClr val="6A7280"/>
                </a:solidFill>
                <a:latin typeface="Arial"/>
                <a:cs typeface="Arial"/>
              </a:rPr>
              <a:t>timeframes</a:t>
            </a:r>
            <a:endParaRPr sz="1858">
              <a:latin typeface="Arial"/>
              <a:cs typeface="Arial"/>
            </a:endParaRPr>
          </a:p>
        </p:txBody>
      </p:sp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52411" y="4422966"/>
            <a:ext cx="145173" cy="172393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12031613" y="4338110"/>
            <a:ext cx="2281938" cy="273897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1643" spc="-93" dirty="0">
                <a:solidFill>
                  <a:srgbClr val="0FB981"/>
                </a:solidFill>
                <a:latin typeface="Arial"/>
                <a:cs typeface="Arial"/>
              </a:rPr>
              <a:t>From</a:t>
            </a:r>
            <a:r>
              <a:rPr sz="1643" spc="-79" dirty="0">
                <a:solidFill>
                  <a:srgbClr val="0FB981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0FB981"/>
                </a:solidFill>
                <a:latin typeface="Arial"/>
                <a:cs typeface="Arial"/>
              </a:rPr>
              <a:t>current</a:t>
            </a:r>
            <a:r>
              <a:rPr sz="1643" spc="-71" dirty="0">
                <a:solidFill>
                  <a:srgbClr val="0FB981"/>
                </a:solidFill>
                <a:latin typeface="Arial"/>
                <a:cs typeface="Arial"/>
              </a:rPr>
              <a:t> rate </a:t>
            </a:r>
            <a:r>
              <a:rPr sz="1643" dirty="0">
                <a:solidFill>
                  <a:srgbClr val="0FB981"/>
                </a:solidFill>
                <a:latin typeface="Arial"/>
                <a:cs typeface="Arial"/>
              </a:rPr>
              <a:t>of</a:t>
            </a:r>
            <a:r>
              <a:rPr sz="1643" spc="-79" dirty="0">
                <a:solidFill>
                  <a:srgbClr val="0FB981"/>
                </a:solidFill>
                <a:latin typeface="Arial"/>
                <a:cs typeface="Arial"/>
              </a:rPr>
              <a:t> </a:t>
            </a:r>
            <a:r>
              <a:rPr sz="1643" spc="-121" dirty="0">
                <a:solidFill>
                  <a:srgbClr val="0FB981"/>
                </a:solidFill>
                <a:latin typeface="Arial"/>
                <a:cs typeface="Arial"/>
              </a:rPr>
              <a:t>7.89%</a:t>
            </a:r>
            <a:endParaRPr sz="1643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xfrm>
            <a:off x="7736877" y="9334500"/>
            <a:ext cx="273748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1615"/>
              </a:lnSpc>
            </a:pPr>
            <a:r>
              <a:rPr spc="-64" dirty="0"/>
              <a:t>Manufacturing</a:t>
            </a:r>
            <a:r>
              <a:rPr spc="-14" dirty="0"/>
              <a:t> </a:t>
            </a:r>
            <a:r>
              <a:rPr spc="-79" dirty="0"/>
              <a:t>Downtime</a:t>
            </a:r>
            <a:r>
              <a:rPr spc="-7" dirty="0"/>
              <a:t> </a:t>
            </a:r>
            <a:r>
              <a:rPr spc="-79" dirty="0"/>
              <a:t>Analysis</a:t>
            </a:r>
            <a:r>
              <a:rPr spc="-14" dirty="0"/>
              <a:t> </a:t>
            </a:r>
            <a:r>
              <a:rPr spc="-64" dirty="0"/>
              <a:t>Dashboard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9107" cy="9829800"/>
            <a:chOff x="0" y="0"/>
            <a:chExt cx="1217104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895350"/>
              <a:ext cx="12171045" cy="5962650"/>
            </a:xfrm>
            <a:custGeom>
              <a:avLst/>
              <a:gdLst/>
              <a:ahLst/>
              <a:cxnLst/>
              <a:rect l="l" t="t" r="r" b="b"/>
              <a:pathLst>
                <a:path w="12171045" h="5962650">
                  <a:moveTo>
                    <a:pt x="0" y="5962650"/>
                  </a:moveTo>
                  <a:lnTo>
                    <a:pt x="12170664" y="5962650"/>
                  </a:lnTo>
                  <a:lnTo>
                    <a:pt x="12170664" y="0"/>
                  </a:lnTo>
                  <a:lnTo>
                    <a:pt x="0" y="0"/>
                  </a:lnTo>
                  <a:lnTo>
                    <a:pt x="0" y="596265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71045" cy="895350"/>
            </a:xfrm>
            <a:custGeom>
              <a:avLst/>
              <a:gdLst/>
              <a:ahLst/>
              <a:cxnLst/>
              <a:rect l="l" t="t" r="r" b="b"/>
              <a:pathLst>
                <a:path w="12171045" h="895350">
                  <a:moveTo>
                    <a:pt x="12170664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70664" y="0"/>
                  </a:lnTo>
                  <a:lnTo>
                    <a:pt x="12170664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72752" y="306588"/>
            <a:ext cx="2769554" cy="650468"/>
          </a:xfrm>
          <a:prstGeom prst="rect">
            <a:avLst/>
          </a:prstGeom>
        </p:spPr>
        <p:txBody>
          <a:bodyPr vert="horz" wrap="square" lIns="0" tIns="23591" rIns="0" bIns="0" rtlCol="0">
            <a:spAutoFit/>
          </a:bodyPr>
          <a:lstStyle/>
          <a:p>
            <a:pPr marL="18151">
              <a:spcBef>
                <a:spcPts val="186"/>
              </a:spcBef>
            </a:pPr>
            <a:r>
              <a:rPr sz="4072" spc="-86" dirty="0"/>
              <a:t>Next</a:t>
            </a:r>
            <a:r>
              <a:rPr sz="4072" spc="-243" dirty="0"/>
              <a:t> </a:t>
            </a:r>
            <a:r>
              <a:rPr sz="4072" spc="-43" dirty="0"/>
              <a:t>Steps</a:t>
            </a:r>
            <a:endParaRPr sz="4072"/>
          </a:p>
        </p:txBody>
      </p:sp>
      <p:sp>
        <p:nvSpPr>
          <p:cNvPr id="6" name="object 6"/>
          <p:cNvSpPr txBox="1"/>
          <p:nvPr/>
        </p:nvSpPr>
        <p:spPr>
          <a:xfrm>
            <a:off x="3872264" y="2598770"/>
            <a:ext cx="10137097" cy="461789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z="2858" spc="-163" dirty="0">
                <a:solidFill>
                  <a:srgbClr val="374050"/>
                </a:solidFill>
                <a:latin typeface="Arial"/>
                <a:cs typeface="Arial"/>
              </a:rPr>
              <a:t>Present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 findings </a:t>
            </a:r>
            <a:r>
              <a:rPr sz="2858" spc="-64" dirty="0">
                <a:solidFill>
                  <a:srgbClr val="374050"/>
                </a:solidFill>
                <a:latin typeface="Arial"/>
                <a:cs typeface="Arial"/>
              </a:rPr>
              <a:t>to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production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79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50" dirty="0">
                <a:solidFill>
                  <a:srgbClr val="374050"/>
                </a:solidFill>
                <a:latin typeface="Arial"/>
                <a:cs typeface="Arial"/>
              </a:rPr>
              <a:t>maintenance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71" dirty="0">
                <a:solidFill>
                  <a:srgbClr val="374050"/>
                </a:solidFill>
                <a:latin typeface="Arial"/>
                <a:cs typeface="Arial"/>
              </a:rPr>
              <a:t>management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36" dirty="0">
                <a:solidFill>
                  <a:srgbClr val="374050"/>
                </a:solidFill>
                <a:latin typeface="Arial"/>
                <a:cs typeface="Arial"/>
              </a:rPr>
              <a:t>teams.</a:t>
            </a:r>
            <a:endParaRPr sz="285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77323" y="3687569"/>
            <a:ext cx="9133967" cy="461789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z="2858" spc="-179" dirty="0">
                <a:solidFill>
                  <a:srgbClr val="374050"/>
                </a:solidFill>
                <a:latin typeface="Arial"/>
                <a:cs typeface="Arial"/>
              </a:rPr>
              <a:t>Begin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57" dirty="0">
                <a:solidFill>
                  <a:srgbClr val="374050"/>
                </a:solidFill>
                <a:latin typeface="Arial"/>
                <a:cs typeface="Arial"/>
              </a:rPr>
              <a:t>pilot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implementation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dirty="0">
                <a:solidFill>
                  <a:srgbClr val="374050"/>
                </a:solidFill>
                <a:latin typeface="Arial"/>
                <a:cs typeface="Arial"/>
              </a:rPr>
              <a:t>of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63" dirty="0">
                <a:solidFill>
                  <a:srgbClr val="374050"/>
                </a:solidFill>
                <a:latin typeface="Arial"/>
                <a:cs typeface="Arial"/>
              </a:rPr>
              <a:t>preventive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50" dirty="0">
                <a:solidFill>
                  <a:srgbClr val="374050"/>
                </a:solidFill>
                <a:latin typeface="Arial"/>
                <a:cs typeface="Arial"/>
              </a:rPr>
              <a:t>maintenance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43" dirty="0">
                <a:solidFill>
                  <a:srgbClr val="374050"/>
                </a:solidFill>
                <a:latin typeface="Arial"/>
                <a:cs typeface="Arial"/>
              </a:rPr>
              <a:t>actions.</a:t>
            </a:r>
            <a:endParaRPr sz="2858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73826" y="4776365"/>
            <a:ext cx="9827951" cy="461789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z="2858" spc="-136" dirty="0">
                <a:solidFill>
                  <a:srgbClr val="374050"/>
                </a:solidFill>
                <a:latin typeface="Arial"/>
                <a:cs typeface="Arial"/>
              </a:rPr>
              <a:t>Integrate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57" dirty="0">
                <a:solidFill>
                  <a:srgbClr val="374050"/>
                </a:solidFill>
                <a:latin typeface="Arial"/>
                <a:cs typeface="Arial"/>
              </a:rPr>
              <a:t>dashboard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86" dirty="0">
                <a:solidFill>
                  <a:srgbClr val="374050"/>
                </a:solidFill>
                <a:latin typeface="Arial"/>
                <a:cs typeface="Arial"/>
              </a:rPr>
              <a:t>with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71" dirty="0">
                <a:solidFill>
                  <a:srgbClr val="374050"/>
                </a:solidFill>
                <a:latin typeface="Arial"/>
                <a:cs typeface="Arial"/>
              </a:rPr>
              <a:t>real-</a:t>
            </a:r>
            <a:r>
              <a:rPr sz="2858" spc="-93" dirty="0">
                <a:solidFill>
                  <a:srgbClr val="374050"/>
                </a:solidFill>
                <a:latin typeface="Arial"/>
                <a:cs typeface="Arial"/>
              </a:rPr>
              <a:t>time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 data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43" dirty="0">
                <a:solidFill>
                  <a:srgbClr val="374050"/>
                </a:solidFill>
                <a:latin typeface="Arial"/>
                <a:cs typeface="Arial"/>
              </a:rPr>
              <a:t>sources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50" dirty="0">
                <a:solidFill>
                  <a:srgbClr val="374050"/>
                </a:solidFill>
                <a:latin typeface="Arial"/>
                <a:cs typeface="Arial"/>
              </a:rPr>
              <a:t>for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live </a:t>
            </a:r>
            <a:r>
              <a:rPr sz="2858" spc="-57" dirty="0">
                <a:solidFill>
                  <a:srgbClr val="374050"/>
                </a:solidFill>
                <a:latin typeface="Arial"/>
                <a:cs typeface="Arial"/>
              </a:rPr>
              <a:t>monitoring.</a:t>
            </a:r>
            <a:endParaRPr sz="2858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73800" y="5865164"/>
            <a:ext cx="9831598" cy="461789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z="2858" spc="-221" dirty="0">
                <a:solidFill>
                  <a:srgbClr val="374050"/>
                </a:solidFill>
                <a:latin typeface="Arial"/>
                <a:cs typeface="Arial"/>
              </a:rPr>
              <a:t>Expand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86" dirty="0">
                <a:solidFill>
                  <a:srgbClr val="374050"/>
                </a:solidFill>
                <a:latin typeface="Arial"/>
                <a:cs typeface="Arial"/>
              </a:rPr>
              <a:t>Power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200" dirty="0">
                <a:solidFill>
                  <a:srgbClr val="374050"/>
                </a:solidFill>
                <a:latin typeface="Arial"/>
                <a:cs typeface="Arial"/>
              </a:rPr>
              <a:t>BI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reporting </a:t>
            </a:r>
            <a:r>
              <a:rPr sz="2858" spc="-64" dirty="0">
                <a:solidFill>
                  <a:srgbClr val="374050"/>
                </a:solidFill>
                <a:latin typeface="Arial"/>
                <a:cs typeface="Arial"/>
              </a:rPr>
              <a:t>to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29" dirty="0">
                <a:solidFill>
                  <a:srgbClr val="374050"/>
                </a:solidFill>
                <a:latin typeface="Arial"/>
                <a:cs typeface="Arial"/>
              </a:rPr>
              <a:t>include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86" dirty="0">
                <a:solidFill>
                  <a:srgbClr val="374050"/>
                </a:solidFill>
                <a:latin typeface="Arial"/>
                <a:cs typeface="Arial"/>
              </a:rPr>
              <a:t>cost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79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79" dirty="0">
                <a:solidFill>
                  <a:srgbClr val="374050"/>
                </a:solidFill>
                <a:latin typeface="Arial"/>
                <a:cs typeface="Arial"/>
              </a:rPr>
              <a:t>profitability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79" dirty="0">
                <a:solidFill>
                  <a:srgbClr val="374050"/>
                </a:solidFill>
                <a:latin typeface="Arial"/>
                <a:cs typeface="Arial"/>
              </a:rPr>
              <a:t>analysis.</a:t>
            </a:r>
            <a:endParaRPr sz="285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69128" y="6953960"/>
            <a:ext cx="10758128" cy="461789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z="2858" spc="-186" dirty="0">
                <a:solidFill>
                  <a:srgbClr val="374050"/>
                </a:solidFill>
                <a:latin typeface="Arial"/>
                <a:cs typeface="Arial"/>
              </a:rPr>
              <a:t>Schedule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quarterly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57" dirty="0">
                <a:solidFill>
                  <a:srgbClr val="374050"/>
                </a:solidFill>
                <a:latin typeface="Arial"/>
                <a:cs typeface="Arial"/>
              </a:rPr>
              <a:t>reviews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64" dirty="0">
                <a:solidFill>
                  <a:srgbClr val="374050"/>
                </a:solidFill>
                <a:latin typeface="Arial"/>
                <a:cs typeface="Arial"/>
              </a:rPr>
              <a:t>to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track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36" dirty="0">
                <a:solidFill>
                  <a:srgbClr val="374050"/>
                </a:solidFill>
                <a:latin typeface="Arial"/>
                <a:cs typeface="Arial"/>
              </a:rPr>
              <a:t>performance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50" dirty="0">
                <a:solidFill>
                  <a:srgbClr val="374050"/>
                </a:solidFill>
                <a:latin typeface="Arial"/>
                <a:cs typeface="Arial"/>
              </a:rPr>
              <a:t>progress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79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243" dirty="0">
                <a:solidFill>
                  <a:srgbClr val="374050"/>
                </a:solidFill>
                <a:latin typeface="Arial"/>
                <a:cs typeface="Arial"/>
              </a:rPr>
              <a:t>KPI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36" dirty="0">
                <a:solidFill>
                  <a:srgbClr val="374050"/>
                </a:solidFill>
                <a:latin typeface="Arial"/>
                <a:cs typeface="Arial"/>
              </a:rPr>
              <a:t>trends.</a:t>
            </a:r>
            <a:endParaRPr sz="2858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" y="9089977"/>
            <a:ext cx="17479107" cy="45719"/>
          </a:xfrm>
          <a:custGeom>
            <a:avLst/>
            <a:gdLst/>
            <a:ahLst/>
            <a:cxnLst/>
            <a:rect l="l" t="t" r="r" b="b"/>
            <a:pathLst>
              <a:path w="12171045" h="9525">
                <a:moveTo>
                  <a:pt x="12170664" y="9525"/>
                </a:moveTo>
                <a:lnTo>
                  <a:pt x="0" y="9525"/>
                </a:lnTo>
                <a:lnTo>
                  <a:pt x="0" y="0"/>
                </a:lnTo>
                <a:lnTo>
                  <a:pt x="12170664" y="0"/>
                </a:lnTo>
                <a:lnTo>
                  <a:pt x="12170664" y="95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2906201" y="2440785"/>
            <a:ext cx="840806" cy="839173"/>
            <a:chOff x="1975103" y="1688592"/>
            <a:chExt cx="585470" cy="585470"/>
          </a:xfrm>
        </p:grpSpPr>
        <p:sp>
          <p:nvSpPr>
            <p:cNvPr id="13" name="object 13"/>
            <p:cNvSpPr/>
            <p:nvPr/>
          </p:nvSpPr>
          <p:spPr>
            <a:xfrm>
              <a:off x="1975103" y="168859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69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957"/>
                  </a:lnTo>
                  <a:lnTo>
                    <a:pt x="291845" y="44957"/>
                  </a:lnTo>
                  <a:lnTo>
                    <a:pt x="280614" y="45232"/>
                  </a:lnTo>
                  <a:lnTo>
                    <a:pt x="236286" y="51810"/>
                  </a:lnTo>
                  <a:lnTo>
                    <a:pt x="194094" y="66911"/>
                  </a:lnTo>
                  <a:lnTo>
                    <a:pt x="155657" y="89952"/>
                  </a:lnTo>
                  <a:lnTo>
                    <a:pt x="122454" y="120048"/>
                  </a:lnTo>
                  <a:lnTo>
                    <a:pt x="95761" y="156044"/>
                  </a:lnTo>
                  <a:lnTo>
                    <a:pt x="76602" y="196556"/>
                  </a:lnTo>
                  <a:lnTo>
                    <a:pt x="65716" y="240027"/>
                  </a:lnTo>
                  <a:lnTo>
                    <a:pt x="63245" y="273557"/>
                  </a:lnTo>
                  <a:lnTo>
                    <a:pt x="63520" y="284789"/>
                  </a:lnTo>
                  <a:lnTo>
                    <a:pt x="70098" y="329117"/>
                  </a:lnTo>
                  <a:lnTo>
                    <a:pt x="85199" y="371309"/>
                  </a:lnTo>
                  <a:lnTo>
                    <a:pt x="108240" y="409746"/>
                  </a:lnTo>
                  <a:lnTo>
                    <a:pt x="138336" y="442949"/>
                  </a:lnTo>
                  <a:lnTo>
                    <a:pt x="174332" y="469642"/>
                  </a:lnTo>
                  <a:lnTo>
                    <a:pt x="214844" y="488800"/>
                  </a:lnTo>
                  <a:lnTo>
                    <a:pt x="258315" y="499687"/>
                  </a:lnTo>
                  <a:lnTo>
                    <a:pt x="291845" y="502157"/>
                  </a:lnTo>
                  <a:lnTo>
                    <a:pt x="585215" y="502157"/>
                  </a:lnTo>
                  <a:lnTo>
                    <a:pt x="585215" y="585215"/>
                  </a:lnTo>
                  <a:close/>
                </a:path>
                <a:path w="585469" h="585469">
                  <a:moveTo>
                    <a:pt x="585215" y="502157"/>
                  </a:moveTo>
                  <a:lnTo>
                    <a:pt x="291845" y="502157"/>
                  </a:lnTo>
                  <a:lnTo>
                    <a:pt x="303077" y="501883"/>
                  </a:lnTo>
                  <a:lnTo>
                    <a:pt x="314253" y="501060"/>
                  </a:lnTo>
                  <a:lnTo>
                    <a:pt x="358205" y="492316"/>
                  </a:lnTo>
                  <a:lnTo>
                    <a:pt x="399608" y="475166"/>
                  </a:lnTo>
                  <a:lnTo>
                    <a:pt x="436869" y="450269"/>
                  </a:lnTo>
                  <a:lnTo>
                    <a:pt x="468557" y="418581"/>
                  </a:lnTo>
                  <a:lnTo>
                    <a:pt x="493454" y="381320"/>
                  </a:lnTo>
                  <a:lnTo>
                    <a:pt x="510604" y="339917"/>
                  </a:lnTo>
                  <a:lnTo>
                    <a:pt x="519348" y="295965"/>
                  </a:lnTo>
                  <a:lnTo>
                    <a:pt x="520445" y="273557"/>
                  </a:lnTo>
                  <a:lnTo>
                    <a:pt x="520171" y="262326"/>
                  </a:lnTo>
                  <a:lnTo>
                    <a:pt x="513592" y="217998"/>
                  </a:lnTo>
                  <a:lnTo>
                    <a:pt x="498492" y="175806"/>
                  </a:lnTo>
                  <a:lnTo>
                    <a:pt x="475451" y="137369"/>
                  </a:lnTo>
                  <a:lnTo>
                    <a:pt x="445355" y="104166"/>
                  </a:lnTo>
                  <a:lnTo>
                    <a:pt x="409359" y="77473"/>
                  </a:lnTo>
                  <a:lnTo>
                    <a:pt x="368845" y="58314"/>
                  </a:lnTo>
                  <a:lnTo>
                    <a:pt x="325376" y="47428"/>
                  </a:lnTo>
                  <a:lnTo>
                    <a:pt x="291845" y="44957"/>
                  </a:lnTo>
                  <a:lnTo>
                    <a:pt x="585215" y="44957"/>
                  </a:lnTo>
                  <a:lnTo>
                    <a:pt x="585215" y="50215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28824" y="17240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9"/>
                  </a:lnTo>
                  <a:lnTo>
                    <a:pt x="184023" y="470154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5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18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6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9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231777" y="2617775"/>
            <a:ext cx="194243" cy="372834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2286" b="1" spc="-71" dirty="0">
                <a:solidFill>
                  <a:srgbClr val="FFFFFF"/>
                </a:solidFill>
                <a:latin typeface="Gadugi"/>
                <a:cs typeface="Gadugi"/>
              </a:rPr>
              <a:t>1</a:t>
            </a:r>
            <a:endParaRPr sz="2286">
              <a:latin typeface="Gadugi"/>
              <a:cs typeface="Gadug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06201" y="3529581"/>
            <a:ext cx="840806" cy="839173"/>
            <a:chOff x="1975103" y="2450592"/>
            <a:chExt cx="585470" cy="585470"/>
          </a:xfrm>
        </p:grpSpPr>
        <p:sp>
          <p:nvSpPr>
            <p:cNvPr id="17" name="object 17"/>
            <p:cNvSpPr/>
            <p:nvPr/>
          </p:nvSpPr>
          <p:spPr>
            <a:xfrm>
              <a:off x="1975103" y="245059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69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957"/>
                  </a:lnTo>
                  <a:lnTo>
                    <a:pt x="291845" y="44957"/>
                  </a:lnTo>
                  <a:lnTo>
                    <a:pt x="280614" y="45232"/>
                  </a:lnTo>
                  <a:lnTo>
                    <a:pt x="236286" y="51810"/>
                  </a:lnTo>
                  <a:lnTo>
                    <a:pt x="194094" y="66911"/>
                  </a:lnTo>
                  <a:lnTo>
                    <a:pt x="155657" y="89952"/>
                  </a:lnTo>
                  <a:lnTo>
                    <a:pt x="122454" y="120048"/>
                  </a:lnTo>
                  <a:lnTo>
                    <a:pt x="95761" y="156044"/>
                  </a:lnTo>
                  <a:lnTo>
                    <a:pt x="76602" y="196556"/>
                  </a:lnTo>
                  <a:lnTo>
                    <a:pt x="65716" y="240027"/>
                  </a:lnTo>
                  <a:lnTo>
                    <a:pt x="63245" y="273557"/>
                  </a:lnTo>
                  <a:lnTo>
                    <a:pt x="63520" y="284789"/>
                  </a:lnTo>
                  <a:lnTo>
                    <a:pt x="70098" y="329117"/>
                  </a:lnTo>
                  <a:lnTo>
                    <a:pt x="85199" y="371309"/>
                  </a:lnTo>
                  <a:lnTo>
                    <a:pt x="108240" y="409746"/>
                  </a:lnTo>
                  <a:lnTo>
                    <a:pt x="138336" y="442949"/>
                  </a:lnTo>
                  <a:lnTo>
                    <a:pt x="174332" y="469642"/>
                  </a:lnTo>
                  <a:lnTo>
                    <a:pt x="214844" y="488800"/>
                  </a:lnTo>
                  <a:lnTo>
                    <a:pt x="258315" y="499687"/>
                  </a:lnTo>
                  <a:lnTo>
                    <a:pt x="291845" y="502157"/>
                  </a:lnTo>
                  <a:lnTo>
                    <a:pt x="585215" y="502157"/>
                  </a:lnTo>
                  <a:lnTo>
                    <a:pt x="585215" y="585215"/>
                  </a:lnTo>
                  <a:close/>
                </a:path>
                <a:path w="585469" h="585469">
                  <a:moveTo>
                    <a:pt x="585215" y="502157"/>
                  </a:moveTo>
                  <a:lnTo>
                    <a:pt x="291845" y="502157"/>
                  </a:lnTo>
                  <a:lnTo>
                    <a:pt x="303077" y="501883"/>
                  </a:lnTo>
                  <a:lnTo>
                    <a:pt x="314253" y="501060"/>
                  </a:lnTo>
                  <a:lnTo>
                    <a:pt x="358205" y="492316"/>
                  </a:lnTo>
                  <a:lnTo>
                    <a:pt x="399608" y="475166"/>
                  </a:lnTo>
                  <a:lnTo>
                    <a:pt x="436869" y="450269"/>
                  </a:lnTo>
                  <a:lnTo>
                    <a:pt x="468557" y="418581"/>
                  </a:lnTo>
                  <a:lnTo>
                    <a:pt x="493454" y="381320"/>
                  </a:lnTo>
                  <a:lnTo>
                    <a:pt x="510604" y="339917"/>
                  </a:lnTo>
                  <a:lnTo>
                    <a:pt x="519348" y="295965"/>
                  </a:lnTo>
                  <a:lnTo>
                    <a:pt x="520445" y="273557"/>
                  </a:lnTo>
                  <a:lnTo>
                    <a:pt x="520171" y="262326"/>
                  </a:lnTo>
                  <a:lnTo>
                    <a:pt x="513592" y="217998"/>
                  </a:lnTo>
                  <a:lnTo>
                    <a:pt x="498492" y="175806"/>
                  </a:lnTo>
                  <a:lnTo>
                    <a:pt x="475451" y="137368"/>
                  </a:lnTo>
                  <a:lnTo>
                    <a:pt x="445355" y="104166"/>
                  </a:lnTo>
                  <a:lnTo>
                    <a:pt x="409359" y="77473"/>
                  </a:lnTo>
                  <a:lnTo>
                    <a:pt x="368845" y="58314"/>
                  </a:lnTo>
                  <a:lnTo>
                    <a:pt x="325376" y="47428"/>
                  </a:lnTo>
                  <a:lnTo>
                    <a:pt x="291845" y="44957"/>
                  </a:lnTo>
                  <a:lnTo>
                    <a:pt x="585215" y="44957"/>
                  </a:lnTo>
                  <a:lnTo>
                    <a:pt x="585215" y="50215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28824" y="24860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4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5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18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5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231777" y="3706573"/>
            <a:ext cx="194243" cy="372834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2286" b="1" spc="-71" dirty="0">
                <a:solidFill>
                  <a:srgbClr val="FFFFFF"/>
                </a:solidFill>
                <a:latin typeface="Gadugi"/>
                <a:cs typeface="Gadugi"/>
              </a:rPr>
              <a:t>2</a:t>
            </a:r>
            <a:endParaRPr sz="2286">
              <a:latin typeface="Gadugi"/>
              <a:cs typeface="Gadug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06201" y="4618380"/>
            <a:ext cx="840806" cy="839173"/>
            <a:chOff x="1975103" y="3212592"/>
            <a:chExt cx="585470" cy="585470"/>
          </a:xfrm>
        </p:grpSpPr>
        <p:sp>
          <p:nvSpPr>
            <p:cNvPr id="21" name="object 21"/>
            <p:cNvSpPr/>
            <p:nvPr/>
          </p:nvSpPr>
          <p:spPr>
            <a:xfrm>
              <a:off x="1975103" y="321259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957"/>
                  </a:lnTo>
                  <a:lnTo>
                    <a:pt x="291845" y="44957"/>
                  </a:lnTo>
                  <a:lnTo>
                    <a:pt x="280614" y="45232"/>
                  </a:lnTo>
                  <a:lnTo>
                    <a:pt x="236286" y="51805"/>
                  </a:lnTo>
                  <a:lnTo>
                    <a:pt x="194094" y="66905"/>
                  </a:lnTo>
                  <a:lnTo>
                    <a:pt x="155657" y="89955"/>
                  </a:lnTo>
                  <a:lnTo>
                    <a:pt x="122454" y="120054"/>
                  </a:lnTo>
                  <a:lnTo>
                    <a:pt x="95761" y="156046"/>
                  </a:lnTo>
                  <a:lnTo>
                    <a:pt x="76602" y="196561"/>
                  </a:lnTo>
                  <a:lnTo>
                    <a:pt x="65716" y="240035"/>
                  </a:lnTo>
                  <a:lnTo>
                    <a:pt x="63245" y="273557"/>
                  </a:lnTo>
                  <a:lnTo>
                    <a:pt x="63520" y="284781"/>
                  </a:lnTo>
                  <a:lnTo>
                    <a:pt x="70098" y="329111"/>
                  </a:lnTo>
                  <a:lnTo>
                    <a:pt x="85199" y="371305"/>
                  </a:lnTo>
                  <a:lnTo>
                    <a:pt x="108240" y="409745"/>
                  </a:lnTo>
                  <a:lnTo>
                    <a:pt x="138336" y="442950"/>
                  </a:lnTo>
                  <a:lnTo>
                    <a:pt x="174332" y="469649"/>
                  </a:lnTo>
                  <a:lnTo>
                    <a:pt x="214844" y="488806"/>
                  </a:lnTo>
                  <a:lnTo>
                    <a:pt x="258315" y="499689"/>
                  </a:lnTo>
                  <a:lnTo>
                    <a:pt x="291845" y="502157"/>
                  </a:lnTo>
                  <a:lnTo>
                    <a:pt x="585215" y="502157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2157"/>
                  </a:moveTo>
                  <a:lnTo>
                    <a:pt x="291845" y="502157"/>
                  </a:lnTo>
                  <a:lnTo>
                    <a:pt x="303077" y="501883"/>
                  </a:lnTo>
                  <a:lnTo>
                    <a:pt x="314253" y="501060"/>
                  </a:lnTo>
                  <a:lnTo>
                    <a:pt x="358205" y="492324"/>
                  </a:lnTo>
                  <a:lnTo>
                    <a:pt x="399608" y="475175"/>
                  </a:lnTo>
                  <a:lnTo>
                    <a:pt x="436869" y="450269"/>
                  </a:lnTo>
                  <a:lnTo>
                    <a:pt x="468557" y="418578"/>
                  </a:lnTo>
                  <a:lnTo>
                    <a:pt x="493454" y="381316"/>
                  </a:lnTo>
                  <a:lnTo>
                    <a:pt x="510604" y="339912"/>
                  </a:lnTo>
                  <a:lnTo>
                    <a:pt x="519348" y="295956"/>
                  </a:lnTo>
                  <a:lnTo>
                    <a:pt x="520445" y="273557"/>
                  </a:lnTo>
                  <a:lnTo>
                    <a:pt x="520171" y="262334"/>
                  </a:lnTo>
                  <a:lnTo>
                    <a:pt x="513592" y="218004"/>
                  </a:lnTo>
                  <a:lnTo>
                    <a:pt x="498492" y="175810"/>
                  </a:lnTo>
                  <a:lnTo>
                    <a:pt x="475451" y="137370"/>
                  </a:lnTo>
                  <a:lnTo>
                    <a:pt x="445355" y="104165"/>
                  </a:lnTo>
                  <a:lnTo>
                    <a:pt x="409359" y="77466"/>
                  </a:lnTo>
                  <a:lnTo>
                    <a:pt x="368845" y="58309"/>
                  </a:lnTo>
                  <a:lnTo>
                    <a:pt x="325376" y="47426"/>
                  </a:lnTo>
                  <a:lnTo>
                    <a:pt x="291845" y="44957"/>
                  </a:lnTo>
                  <a:lnTo>
                    <a:pt x="585215" y="44957"/>
                  </a:lnTo>
                  <a:lnTo>
                    <a:pt x="585215" y="50215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28824" y="32480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6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09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5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231777" y="4795370"/>
            <a:ext cx="194243" cy="372834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2286" b="1" spc="-71" dirty="0">
                <a:solidFill>
                  <a:srgbClr val="FFFFFF"/>
                </a:solidFill>
                <a:latin typeface="Gadugi"/>
                <a:cs typeface="Gadugi"/>
              </a:rPr>
              <a:t>3</a:t>
            </a:r>
            <a:endParaRPr sz="2286">
              <a:latin typeface="Gadugi"/>
              <a:cs typeface="Gadug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906201" y="5707176"/>
            <a:ext cx="840806" cy="839173"/>
            <a:chOff x="1975103" y="3974592"/>
            <a:chExt cx="585470" cy="585470"/>
          </a:xfrm>
        </p:grpSpPr>
        <p:sp>
          <p:nvSpPr>
            <p:cNvPr id="25" name="object 25"/>
            <p:cNvSpPr/>
            <p:nvPr/>
          </p:nvSpPr>
          <p:spPr>
            <a:xfrm>
              <a:off x="1975103" y="397459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957"/>
                  </a:lnTo>
                  <a:lnTo>
                    <a:pt x="291845" y="44957"/>
                  </a:lnTo>
                  <a:lnTo>
                    <a:pt x="280614" y="45232"/>
                  </a:lnTo>
                  <a:lnTo>
                    <a:pt x="236286" y="51805"/>
                  </a:lnTo>
                  <a:lnTo>
                    <a:pt x="194094" y="66905"/>
                  </a:lnTo>
                  <a:lnTo>
                    <a:pt x="155657" y="89955"/>
                  </a:lnTo>
                  <a:lnTo>
                    <a:pt x="122454" y="120054"/>
                  </a:lnTo>
                  <a:lnTo>
                    <a:pt x="95761" y="156046"/>
                  </a:lnTo>
                  <a:lnTo>
                    <a:pt x="76602" y="196561"/>
                  </a:lnTo>
                  <a:lnTo>
                    <a:pt x="65716" y="240035"/>
                  </a:lnTo>
                  <a:lnTo>
                    <a:pt x="63245" y="273557"/>
                  </a:lnTo>
                  <a:lnTo>
                    <a:pt x="63520" y="284781"/>
                  </a:lnTo>
                  <a:lnTo>
                    <a:pt x="70098" y="329111"/>
                  </a:lnTo>
                  <a:lnTo>
                    <a:pt x="85199" y="371305"/>
                  </a:lnTo>
                  <a:lnTo>
                    <a:pt x="108240" y="409745"/>
                  </a:lnTo>
                  <a:lnTo>
                    <a:pt x="138336" y="442950"/>
                  </a:lnTo>
                  <a:lnTo>
                    <a:pt x="174332" y="469649"/>
                  </a:lnTo>
                  <a:lnTo>
                    <a:pt x="214844" y="488806"/>
                  </a:lnTo>
                  <a:lnTo>
                    <a:pt x="258315" y="499689"/>
                  </a:lnTo>
                  <a:lnTo>
                    <a:pt x="291845" y="502157"/>
                  </a:lnTo>
                  <a:lnTo>
                    <a:pt x="585215" y="502157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2157"/>
                  </a:moveTo>
                  <a:lnTo>
                    <a:pt x="291845" y="502157"/>
                  </a:lnTo>
                  <a:lnTo>
                    <a:pt x="303077" y="501883"/>
                  </a:lnTo>
                  <a:lnTo>
                    <a:pt x="314253" y="501060"/>
                  </a:lnTo>
                  <a:lnTo>
                    <a:pt x="358205" y="492324"/>
                  </a:lnTo>
                  <a:lnTo>
                    <a:pt x="399608" y="475175"/>
                  </a:lnTo>
                  <a:lnTo>
                    <a:pt x="436869" y="450269"/>
                  </a:lnTo>
                  <a:lnTo>
                    <a:pt x="468557" y="418578"/>
                  </a:lnTo>
                  <a:lnTo>
                    <a:pt x="493454" y="381316"/>
                  </a:lnTo>
                  <a:lnTo>
                    <a:pt x="510604" y="339912"/>
                  </a:lnTo>
                  <a:lnTo>
                    <a:pt x="519348" y="295956"/>
                  </a:lnTo>
                  <a:lnTo>
                    <a:pt x="520445" y="273557"/>
                  </a:lnTo>
                  <a:lnTo>
                    <a:pt x="520171" y="262334"/>
                  </a:lnTo>
                  <a:lnTo>
                    <a:pt x="513592" y="218004"/>
                  </a:lnTo>
                  <a:lnTo>
                    <a:pt x="498492" y="175810"/>
                  </a:lnTo>
                  <a:lnTo>
                    <a:pt x="475451" y="137370"/>
                  </a:lnTo>
                  <a:lnTo>
                    <a:pt x="445355" y="104165"/>
                  </a:lnTo>
                  <a:lnTo>
                    <a:pt x="409359" y="77466"/>
                  </a:lnTo>
                  <a:lnTo>
                    <a:pt x="368845" y="58309"/>
                  </a:lnTo>
                  <a:lnTo>
                    <a:pt x="325376" y="47426"/>
                  </a:lnTo>
                  <a:lnTo>
                    <a:pt x="291845" y="44957"/>
                  </a:lnTo>
                  <a:lnTo>
                    <a:pt x="585215" y="44957"/>
                  </a:lnTo>
                  <a:lnTo>
                    <a:pt x="585215" y="50215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28824" y="40100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6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09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5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231777" y="5884168"/>
            <a:ext cx="194243" cy="372834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2286" b="1" spc="-71" dirty="0">
                <a:solidFill>
                  <a:srgbClr val="FFFFFF"/>
                </a:solidFill>
                <a:latin typeface="Gadugi"/>
                <a:cs typeface="Gadugi"/>
              </a:rPr>
              <a:t>4</a:t>
            </a:r>
            <a:endParaRPr sz="2286">
              <a:latin typeface="Gadugi"/>
              <a:cs typeface="Gadug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906201" y="6795975"/>
            <a:ext cx="840806" cy="839173"/>
            <a:chOff x="1975103" y="4736592"/>
            <a:chExt cx="585470" cy="585470"/>
          </a:xfrm>
        </p:grpSpPr>
        <p:sp>
          <p:nvSpPr>
            <p:cNvPr id="29" name="object 29"/>
            <p:cNvSpPr/>
            <p:nvPr/>
          </p:nvSpPr>
          <p:spPr>
            <a:xfrm>
              <a:off x="1975103" y="473659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957"/>
                  </a:lnTo>
                  <a:lnTo>
                    <a:pt x="291845" y="44957"/>
                  </a:lnTo>
                  <a:lnTo>
                    <a:pt x="280614" y="45232"/>
                  </a:lnTo>
                  <a:lnTo>
                    <a:pt x="236286" y="51805"/>
                  </a:lnTo>
                  <a:lnTo>
                    <a:pt x="194094" y="66905"/>
                  </a:lnTo>
                  <a:lnTo>
                    <a:pt x="155657" y="89955"/>
                  </a:lnTo>
                  <a:lnTo>
                    <a:pt x="122454" y="120054"/>
                  </a:lnTo>
                  <a:lnTo>
                    <a:pt x="95761" y="156046"/>
                  </a:lnTo>
                  <a:lnTo>
                    <a:pt x="76602" y="196561"/>
                  </a:lnTo>
                  <a:lnTo>
                    <a:pt x="65716" y="240035"/>
                  </a:lnTo>
                  <a:lnTo>
                    <a:pt x="63245" y="273557"/>
                  </a:lnTo>
                  <a:lnTo>
                    <a:pt x="63520" y="284781"/>
                  </a:lnTo>
                  <a:lnTo>
                    <a:pt x="70098" y="329111"/>
                  </a:lnTo>
                  <a:lnTo>
                    <a:pt x="85199" y="371305"/>
                  </a:lnTo>
                  <a:lnTo>
                    <a:pt x="108240" y="409745"/>
                  </a:lnTo>
                  <a:lnTo>
                    <a:pt x="138336" y="442950"/>
                  </a:lnTo>
                  <a:lnTo>
                    <a:pt x="174332" y="469649"/>
                  </a:lnTo>
                  <a:lnTo>
                    <a:pt x="214844" y="488806"/>
                  </a:lnTo>
                  <a:lnTo>
                    <a:pt x="258315" y="499689"/>
                  </a:lnTo>
                  <a:lnTo>
                    <a:pt x="291845" y="502157"/>
                  </a:lnTo>
                  <a:lnTo>
                    <a:pt x="585215" y="502157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2157"/>
                  </a:moveTo>
                  <a:lnTo>
                    <a:pt x="291845" y="502157"/>
                  </a:lnTo>
                  <a:lnTo>
                    <a:pt x="303077" y="501883"/>
                  </a:lnTo>
                  <a:lnTo>
                    <a:pt x="314253" y="501060"/>
                  </a:lnTo>
                  <a:lnTo>
                    <a:pt x="358205" y="492324"/>
                  </a:lnTo>
                  <a:lnTo>
                    <a:pt x="399608" y="475175"/>
                  </a:lnTo>
                  <a:lnTo>
                    <a:pt x="436869" y="450269"/>
                  </a:lnTo>
                  <a:lnTo>
                    <a:pt x="468557" y="418578"/>
                  </a:lnTo>
                  <a:lnTo>
                    <a:pt x="493454" y="381316"/>
                  </a:lnTo>
                  <a:lnTo>
                    <a:pt x="510604" y="339912"/>
                  </a:lnTo>
                  <a:lnTo>
                    <a:pt x="519348" y="295956"/>
                  </a:lnTo>
                  <a:lnTo>
                    <a:pt x="520445" y="273557"/>
                  </a:lnTo>
                  <a:lnTo>
                    <a:pt x="520171" y="262334"/>
                  </a:lnTo>
                  <a:lnTo>
                    <a:pt x="513592" y="218004"/>
                  </a:lnTo>
                  <a:lnTo>
                    <a:pt x="498492" y="175810"/>
                  </a:lnTo>
                  <a:lnTo>
                    <a:pt x="475451" y="137370"/>
                  </a:lnTo>
                  <a:lnTo>
                    <a:pt x="445355" y="104165"/>
                  </a:lnTo>
                  <a:lnTo>
                    <a:pt x="409359" y="77466"/>
                  </a:lnTo>
                  <a:lnTo>
                    <a:pt x="368845" y="58309"/>
                  </a:lnTo>
                  <a:lnTo>
                    <a:pt x="325376" y="47426"/>
                  </a:lnTo>
                  <a:lnTo>
                    <a:pt x="291845" y="44957"/>
                  </a:lnTo>
                  <a:lnTo>
                    <a:pt x="585215" y="44957"/>
                  </a:lnTo>
                  <a:lnTo>
                    <a:pt x="585215" y="50215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28824" y="47720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9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09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6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18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6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9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231777" y="6972965"/>
            <a:ext cx="194243" cy="372834"/>
          </a:xfrm>
          <a:prstGeom prst="rect">
            <a:avLst/>
          </a:prstGeom>
        </p:spPr>
        <p:txBody>
          <a:bodyPr vert="horz" wrap="square" lIns="0" tIns="20867" rIns="0" bIns="0" rtlCol="0">
            <a:spAutoFit/>
          </a:bodyPr>
          <a:lstStyle/>
          <a:p>
            <a:pPr marL="18151">
              <a:spcBef>
                <a:spcPts val="163"/>
              </a:spcBef>
            </a:pPr>
            <a:r>
              <a:rPr sz="2286" b="1" spc="-71" dirty="0">
                <a:solidFill>
                  <a:srgbClr val="FFFFFF"/>
                </a:solidFill>
                <a:latin typeface="Gadugi"/>
                <a:cs typeface="Gadugi"/>
              </a:rPr>
              <a:t>5</a:t>
            </a:r>
            <a:endParaRPr sz="2286">
              <a:latin typeface="Gadugi"/>
              <a:cs typeface="Gadug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xfrm>
            <a:off x="7872501" y="9256790"/>
            <a:ext cx="2751382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1615"/>
              </a:lnSpc>
            </a:pPr>
            <a:r>
              <a:rPr spc="-64" dirty="0"/>
              <a:t>Manufacturing</a:t>
            </a:r>
            <a:r>
              <a:rPr spc="-14" dirty="0"/>
              <a:t> </a:t>
            </a:r>
            <a:r>
              <a:rPr spc="-79" dirty="0"/>
              <a:t>Downtime</a:t>
            </a:r>
            <a:r>
              <a:rPr spc="-7" dirty="0"/>
              <a:t> </a:t>
            </a:r>
            <a:r>
              <a:rPr spc="-79" dirty="0"/>
              <a:t>Analysis</a:t>
            </a:r>
            <a:r>
              <a:rPr spc="-14" dirty="0"/>
              <a:t> </a:t>
            </a:r>
            <a:r>
              <a:rPr spc="-64" dirty="0"/>
              <a:t>Dashboard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829800"/>
            <a:chOff x="0" y="0"/>
            <a:chExt cx="1217104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895350"/>
              <a:ext cx="12171045" cy="5962650"/>
            </a:xfrm>
            <a:custGeom>
              <a:avLst/>
              <a:gdLst/>
              <a:ahLst/>
              <a:cxnLst/>
              <a:rect l="l" t="t" r="r" b="b"/>
              <a:pathLst>
                <a:path w="12171045" h="5962650">
                  <a:moveTo>
                    <a:pt x="0" y="5962650"/>
                  </a:moveTo>
                  <a:lnTo>
                    <a:pt x="12170664" y="5962650"/>
                  </a:lnTo>
                  <a:lnTo>
                    <a:pt x="12170664" y="0"/>
                  </a:lnTo>
                  <a:lnTo>
                    <a:pt x="0" y="0"/>
                  </a:lnTo>
                  <a:lnTo>
                    <a:pt x="0" y="596265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71045" cy="895350"/>
            </a:xfrm>
            <a:custGeom>
              <a:avLst/>
              <a:gdLst/>
              <a:ahLst/>
              <a:cxnLst/>
              <a:rect l="l" t="t" r="r" b="b"/>
              <a:pathLst>
                <a:path w="12171045" h="895350">
                  <a:moveTo>
                    <a:pt x="12170664" y="8953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2170664" y="0"/>
                  </a:lnTo>
                  <a:lnTo>
                    <a:pt x="12170664" y="8953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55412" y="294325"/>
            <a:ext cx="14464404" cy="692641"/>
          </a:xfrm>
          <a:prstGeom prst="rect">
            <a:avLst/>
          </a:prstGeom>
        </p:spPr>
        <p:txBody>
          <a:bodyPr vert="horz" wrap="square" lIns="0" tIns="21776" rIns="0" bIns="0" rtlCol="0">
            <a:spAutoFit/>
          </a:bodyPr>
          <a:lstStyle/>
          <a:p>
            <a:pPr marL="18151">
              <a:spcBef>
                <a:spcPts val="171"/>
              </a:spcBef>
            </a:pPr>
            <a:r>
              <a:rPr spc="-286" dirty="0"/>
              <a:t>Conclusion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08000" y="2933700"/>
            <a:ext cx="840618" cy="839173"/>
            <a:chOff x="1755647" y="1993392"/>
            <a:chExt cx="585470" cy="585470"/>
          </a:xfrm>
        </p:grpSpPr>
        <p:sp>
          <p:nvSpPr>
            <p:cNvPr id="7" name="object 7"/>
            <p:cNvSpPr/>
            <p:nvPr/>
          </p:nvSpPr>
          <p:spPr>
            <a:xfrm>
              <a:off x="1755647" y="199339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69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957"/>
                  </a:lnTo>
                  <a:lnTo>
                    <a:pt x="292226" y="44957"/>
                  </a:lnTo>
                  <a:lnTo>
                    <a:pt x="280995" y="45232"/>
                  </a:lnTo>
                  <a:lnTo>
                    <a:pt x="236667" y="51810"/>
                  </a:lnTo>
                  <a:lnTo>
                    <a:pt x="194475" y="66911"/>
                  </a:lnTo>
                  <a:lnTo>
                    <a:pt x="156037" y="89952"/>
                  </a:lnTo>
                  <a:lnTo>
                    <a:pt x="122835" y="120048"/>
                  </a:lnTo>
                  <a:lnTo>
                    <a:pt x="96142" y="156044"/>
                  </a:lnTo>
                  <a:lnTo>
                    <a:pt x="76983" y="196556"/>
                  </a:lnTo>
                  <a:lnTo>
                    <a:pt x="66097" y="240027"/>
                  </a:lnTo>
                  <a:lnTo>
                    <a:pt x="63626" y="273557"/>
                  </a:lnTo>
                  <a:lnTo>
                    <a:pt x="63901" y="284789"/>
                  </a:lnTo>
                  <a:lnTo>
                    <a:pt x="70479" y="329117"/>
                  </a:lnTo>
                  <a:lnTo>
                    <a:pt x="85580" y="371309"/>
                  </a:lnTo>
                  <a:lnTo>
                    <a:pt x="108621" y="409746"/>
                  </a:lnTo>
                  <a:lnTo>
                    <a:pt x="138717" y="442949"/>
                  </a:lnTo>
                  <a:lnTo>
                    <a:pt x="174713" y="469642"/>
                  </a:lnTo>
                  <a:lnTo>
                    <a:pt x="215225" y="488800"/>
                  </a:lnTo>
                  <a:lnTo>
                    <a:pt x="258696" y="499687"/>
                  </a:lnTo>
                  <a:lnTo>
                    <a:pt x="292226" y="502157"/>
                  </a:lnTo>
                  <a:lnTo>
                    <a:pt x="585215" y="502157"/>
                  </a:lnTo>
                  <a:lnTo>
                    <a:pt x="585215" y="585215"/>
                  </a:lnTo>
                  <a:close/>
                </a:path>
                <a:path w="585469" h="585469">
                  <a:moveTo>
                    <a:pt x="585215" y="502157"/>
                  </a:moveTo>
                  <a:lnTo>
                    <a:pt x="292226" y="502157"/>
                  </a:lnTo>
                  <a:lnTo>
                    <a:pt x="303458" y="501883"/>
                  </a:lnTo>
                  <a:lnTo>
                    <a:pt x="314634" y="501060"/>
                  </a:lnTo>
                  <a:lnTo>
                    <a:pt x="358586" y="492316"/>
                  </a:lnTo>
                  <a:lnTo>
                    <a:pt x="399989" y="475166"/>
                  </a:lnTo>
                  <a:lnTo>
                    <a:pt x="437250" y="450269"/>
                  </a:lnTo>
                  <a:lnTo>
                    <a:pt x="468938" y="418581"/>
                  </a:lnTo>
                  <a:lnTo>
                    <a:pt x="493835" y="381320"/>
                  </a:lnTo>
                  <a:lnTo>
                    <a:pt x="510985" y="339917"/>
                  </a:lnTo>
                  <a:lnTo>
                    <a:pt x="519729" y="295965"/>
                  </a:lnTo>
                  <a:lnTo>
                    <a:pt x="520826" y="273557"/>
                  </a:lnTo>
                  <a:lnTo>
                    <a:pt x="520552" y="262326"/>
                  </a:lnTo>
                  <a:lnTo>
                    <a:pt x="513973" y="217998"/>
                  </a:lnTo>
                  <a:lnTo>
                    <a:pt x="498873" y="175806"/>
                  </a:lnTo>
                  <a:lnTo>
                    <a:pt x="475832" y="137369"/>
                  </a:lnTo>
                  <a:lnTo>
                    <a:pt x="445736" y="104166"/>
                  </a:lnTo>
                  <a:lnTo>
                    <a:pt x="409740" y="77473"/>
                  </a:lnTo>
                  <a:lnTo>
                    <a:pt x="369226" y="58314"/>
                  </a:lnTo>
                  <a:lnTo>
                    <a:pt x="325757" y="47428"/>
                  </a:lnTo>
                  <a:lnTo>
                    <a:pt x="292226" y="44957"/>
                  </a:lnTo>
                  <a:lnTo>
                    <a:pt x="585215" y="44957"/>
                  </a:lnTo>
                  <a:lnTo>
                    <a:pt x="585215" y="50215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09749" y="20288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4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18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5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09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6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3099" y="2171700"/>
              <a:ext cx="209550" cy="18732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08000" y="4458015"/>
            <a:ext cx="840618" cy="839173"/>
            <a:chOff x="1755647" y="3060192"/>
            <a:chExt cx="585470" cy="585470"/>
          </a:xfrm>
        </p:grpSpPr>
        <p:sp>
          <p:nvSpPr>
            <p:cNvPr id="11" name="object 11"/>
            <p:cNvSpPr/>
            <p:nvPr/>
          </p:nvSpPr>
          <p:spPr>
            <a:xfrm>
              <a:off x="1755647" y="306019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957"/>
                  </a:lnTo>
                  <a:lnTo>
                    <a:pt x="292226" y="44957"/>
                  </a:lnTo>
                  <a:lnTo>
                    <a:pt x="280995" y="45232"/>
                  </a:lnTo>
                  <a:lnTo>
                    <a:pt x="236667" y="51805"/>
                  </a:lnTo>
                  <a:lnTo>
                    <a:pt x="194475" y="66905"/>
                  </a:lnTo>
                  <a:lnTo>
                    <a:pt x="156037" y="89955"/>
                  </a:lnTo>
                  <a:lnTo>
                    <a:pt x="122835" y="120054"/>
                  </a:lnTo>
                  <a:lnTo>
                    <a:pt x="96142" y="156046"/>
                  </a:lnTo>
                  <a:lnTo>
                    <a:pt x="76983" y="196561"/>
                  </a:lnTo>
                  <a:lnTo>
                    <a:pt x="66097" y="240035"/>
                  </a:lnTo>
                  <a:lnTo>
                    <a:pt x="63626" y="273557"/>
                  </a:lnTo>
                  <a:lnTo>
                    <a:pt x="63901" y="284781"/>
                  </a:lnTo>
                  <a:lnTo>
                    <a:pt x="70479" y="329111"/>
                  </a:lnTo>
                  <a:lnTo>
                    <a:pt x="85580" y="371305"/>
                  </a:lnTo>
                  <a:lnTo>
                    <a:pt x="108621" y="409745"/>
                  </a:lnTo>
                  <a:lnTo>
                    <a:pt x="138717" y="442950"/>
                  </a:lnTo>
                  <a:lnTo>
                    <a:pt x="174713" y="469649"/>
                  </a:lnTo>
                  <a:lnTo>
                    <a:pt x="215225" y="488806"/>
                  </a:lnTo>
                  <a:lnTo>
                    <a:pt x="258696" y="499689"/>
                  </a:lnTo>
                  <a:lnTo>
                    <a:pt x="292226" y="502157"/>
                  </a:lnTo>
                  <a:lnTo>
                    <a:pt x="585215" y="502157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2157"/>
                  </a:moveTo>
                  <a:lnTo>
                    <a:pt x="292226" y="502157"/>
                  </a:lnTo>
                  <a:lnTo>
                    <a:pt x="303458" y="501883"/>
                  </a:lnTo>
                  <a:lnTo>
                    <a:pt x="314634" y="501060"/>
                  </a:lnTo>
                  <a:lnTo>
                    <a:pt x="358586" y="492324"/>
                  </a:lnTo>
                  <a:lnTo>
                    <a:pt x="399989" y="475175"/>
                  </a:lnTo>
                  <a:lnTo>
                    <a:pt x="437250" y="450269"/>
                  </a:lnTo>
                  <a:lnTo>
                    <a:pt x="468938" y="418578"/>
                  </a:lnTo>
                  <a:lnTo>
                    <a:pt x="493835" y="381316"/>
                  </a:lnTo>
                  <a:lnTo>
                    <a:pt x="510985" y="339912"/>
                  </a:lnTo>
                  <a:lnTo>
                    <a:pt x="519729" y="295956"/>
                  </a:lnTo>
                  <a:lnTo>
                    <a:pt x="520826" y="273557"/>
                  </a:lnTo>
                  <a:lnTo>
                    <a:pt x="520552" y="262334"/>
                  </a:lnTo>
                  <a:lnTo>
                    <a:pt x="513973" y="218004"/>
                  </a:lnTo>
                  <a:lnTo>
                    <a:pt x="498873" y="175810"/>
                  </a:lnTo>
                  <a:lnTo>
                    <a:pt x="475832" y="137370"/>
                  </a:lnTo>
                  <a:lnTo>
                    <a:pt x="445736" y="104165"/>
                  </a:lnTo>
                  <a:lnTo>
                    <a:pt x="409740" y="77466"/>
                  </a:lnTo>
                  <a:lnTo>
                    <a:pt x="369226" y="58309"/>
                  </a:lnTo>
                  <a:lnTo>
                    <a:pt x="325757" y="47426"/>
                  </a:lnTo>
                  <a:lnTo>
                    <a:pt x="292226" y="44957"/>
                  </a:lnTo>
                  <a:lnTo>
                    <a:pt x="585215" y="44957"/>
                  </a:lnTo>
                  <a:lnTo>
                    <a:pt x="585215" y="50215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09749" y="30956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18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5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09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6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5643" y="3225800"/>
              <a:ext cx="146050" cy="21272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08000" y="5982333"/>
            <a:ext cx="840618" cy="839173"/>
            <a:chOff x="1755647" y="4126992"/>
            <a:chExt cx="585470" cy="585470"/>
          </a:xfrm>
        </p:grpSpPr>
        <p:sp>
          <p:nvSpPr>
            <p:cNvPr id="15" name="object 15"/>
            <p:cNvSpPr/>
            <p:nvPr/>
          </p:nvSpPr>
          <p:spPr>
            <a:xfrm>
              <a:off x="1755647" y="412699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70">
                  <a:moveTo>
                    <a:pt x="585215" y="585215"/>
                  </a:moveTo>
                  <a:lnTo>
                    <a:pt x="0" y="585215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44957"/>
                  </a:lnTo>
                  <a:lnTo>
                    <a:pt x="292226" y="44957"/>
                  </a:lnTo>
                  <a:lnTo>
                    <a:pt x="280995" y="45232"/>
                  </a:lnTo>
                  <a:lnTo>
                    <a:pt x="236667" y="51805"/>
                  </a:lnTo>
                  <a:lnTo>
                    <a:pt x="194475" y="66905"/>
                  </a:lnTo>
                  <a:lnTo>
                    <a:pt x="156037" y="89955"/>
                  </a:lnTo>
                  <a:lnTo>
                    <a:pt x="122835" y="120054"/>
                  </a:lnTo>
                  <a:lnTo>
                    <a:pt x="96142" y="156046"/>
                  </a:lnTo>
                  <a:lnTo>
                    <a:pt x="76983" y="196561"/>
                  </a:lnTo>
                  <a:lnTo>
                    <a:pt x="66097" y="240035"/>
                  </a:lnTo>
                  <a:lnTo>
                    <a:pt x="63626" y="273557"/>
                  </a:lnTo>
                  <a:lnTo>
                    <a:pt x="63901" y="284781"/>
                  </a:lnTo>
                  <a:lnTo>
                    <a:pt x="70479" y="329111"/>
                  </a:lnTo>
                  <a:lnTo>
                    <a:pt x="85580" y="371305"/>
                  </a:lnTo>
                  <a:lnTo>
                    <a:pt x="108621" y="409745"/>
                  </a:lnTo>
                  <a:lnTo>
                    <a:pt x="138717" y="442950"/>
                  </a:lnTo>
                  <a:lnTo>
                    <a:pt x="174713" y="469649"/>
                  </a:lnTo>
                  <a:lnTo>
                    <a:pt x="215225" y="488806"/>
                  </a:lnTo>
                  <a:lnTo>
                    <a:pt x="258696" y="499689"/>
                  </a:lnTo>
                  <a:lnTo>
                    <a:pt x="292226" y="502157"/>
                  </a:lnTo>
                  <a:lnTo>
                    <a:pt x="585215" y="502157"/>
                  </a:lnTo>
                  <a:lnTo>
                    <a:pt x="585215" y="585215"/>
                  </a:lnTo>
                  <a:close/>
                </a:path>
                <a:path w="585469" h="585470">
                  <a:moveTo>
                    <a:pt x="585215" y="502157"/>
                  </a:moveTo>
                  <a:lnTo>
                    <a:pt x="292226" y="502157"/>
                  </a:lnTo>
                  <a:lnTo>
                    <a:pt x="303458" y="501883"/>
                  </a:lnTo>
                  <a:lnTo>
                    <a:pt x="314634" y="501060"/>
                  </a:lnTo>
                  <a:lnTo>
                    <a:pt x="358586" y="492324"/>
                  </a:lnTo>
                  <a:lnTo>
                    <a:pt x="399989" y="475175"/>
                  </a:lnTo>
                  <a:lnTo>
                    <a:pt x="437250" y="450269"/>
                  </a:lnTo>
                  <a:lnTo>
                    <a:pt x="468938" y="418578"/>
                  </a:lnTo>
                  <a:lnTo>
                    <a:pt x="493835" y="381316"/>
                  </a:lnTo>
                  <a:lnTo>
                    <a:pt x="510985" y="339912"/>
                  </a:lnTo>
                  <a:lnTo>
                    <a:pt x="519729" y="295956"/>
                  </a:lnTo>
                  <a:lnTo>
                    <a:pt x="520826" y="273557"/>
                  </a:lnTo>
                  <a:lnTo>
                    <a:pt x="520552" y="262334"/>
                  </a:lnTo>
                  <a:lnTo>
                    <a:pt x="513973" y="218004"/>
                  </a:lnTo>
                  <a:lnTo>
                    <a:pt x="498873" y="175810"/>
                  </a:lnTo>
                  <a:lnTo>
                    <a:pt x="475832" y="137370"/>
                  </a:lnTo>
                  <a:lnTo>
                    <a:pt x="445736" y="104165"/>
                  </a:lnTo>
                  <a:lnTo>
                    <a:pt x="409740" y="77466"/>
                  </a:lnTo>
                  <a:lnTo>
                    <a:pt x="369226" y="58309"/>
                  </a:lnTo>
                  <a:lnTo>
                    <a:pt x="325757" y="47426"/>
                  </a:lnTo>
                  <a:lnTo>
                    <a:pt x="292226" y="44957"/>
                  </a:lnTo>
                  <a:lnTo>
                    <a:pt x="585215" y="44957"/>
                  </a:lnTo>
                  <a:lnTo>
                    <a:pt x="585215" y="50215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09749" y="41624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5" y="476250"/>
                  </a:moveTo>
                  <a:lnTo>
                    <a:pt x="230324" y="476250"/>
                  </a:lnTo>
                  <a:lnTo>
                    <a:pt x="222542" y="475868"/>
                  </a:lnTo>
                  <a:lnTo>
                    <a:pt x="184023" y="470153"/>
                  </a:lnTo>
                  <a:lnTo>
                    <a:pt x="139788" y="455142"/>
                  </a:lnTo>
                  <a:lnTo>
                    <a:pt x="99345" y="431787"/>
                  </a:lnTo>
                  <a:lnTo>
                    <a:pt x="64227" y="400992"/>
                  </a:lnTo>
                  <a:lnTo>
                    <a:pt x="35794" y="363931"/>
                  </a:lnTo>
                  <a:lnTo>
                    <a:pt x="15144" y="322049"/>
                  </a:lnTo>
                  <a:lnTo>
                    <a:pt x="3057" y="276929"/>
                  </a:lnTo>
                  <a:lnTo>
                    <a:pt x="0" y="245925"/>
                  </a:lnTo>
                  <a:lnTo>
                    <a:pt x="0" y="230324"/>
                  </a:lnTo>
                  <a:lnTo>
                    <a:pt x="6095" y="184023"/>
                  </a:lnTo>
                  <a:lnTo>
                    <a:pt x="21107" y="139788"/>
                  </a:lnTo>
                  <a:lnTo>
                    <a:pt x="44462" y="99345"/>
                  </a:lnTo>
                  <a:lnTo>
                    <a:pt x="75257" y="64227"/>
                  </a:lnTo>
                  <a:lnTo>
                    <a:pt x="112318" y="35794"/>
                  </a:lnTo>
                  <a:lnTo>
                    <a:pt x="154200" y="15144"/>
                  </a:lnTo>
                  <a:lnTo>
                    <a:pt x="199320" y="3057"/>
                  </a:lnTo>
                  <a:lnTo>
                    <a:pt x="230324" y="0"/>
                  </a:lnTo>
                  <a:lnTo>
                    <a:pt x="245925" y="0"/>
                  </a:lnTo>
                  <a:lnTo>
                    <a:pt x="292226" y="6096"/>
                  </a:lnTo>
                  <a:lnTo>
                    <a:pt x="336461" y="21107"/>
                  </a:lnTo>
                  <a:lnTo>
                    <a:pt x="376904" y="44462"/>
                  </a:lnTo>
                  <a:lnTo>
                    <a:pt x="412022" y="75257"/>
                  </a:lnTo>
                  <a:lnTo>
                    <a:pt x="440455" y="112309"/>
                  </a:lnTo>
                  <a:lnTo>
                    <a:pt x="461105" y="154200"/>
                  </a:lnTo>
                  <a:lnTo>
                    <a:pt x="473192" y="199320"/>
                  </a:lnTo>
                  <a:lnTo>
                    <a:pt x="476250" y="230324"/>
                  </a:lnTo>
                  <a:lnTo>
                    <a:pt x="476250" y="238125"/>
                  </a:lnTo>
                  <a:lnTo>
                    <a:pt x="476250" y="245925"/>
                  </a:lnTo>
                  <a:lnTo>
                    <a:pt x="470154" y="292226"/>
                  </a:lnTo>
                  <a:lnTo>
                    <a:pt x="455142" y="336451"/>
                  </a:lnTo>
                  <a:lnTo>
                    <a:pt x="431787" y="376904"/>
                  </a:lnTo>
                  <a:lnTo>
                    <a:pt x="400992" y="412022"/>
                  </a:lnTo>
                  <a:lnTo>
                    <a:pt x="363931" y="440455"/>
                  </a:lnTo>
                  <a:lnTo>
                    <a:pt x="322049" y="461105"/>
                  </a:lnTo>
                  <a:lnTo>
                    <a:pt x="276929" y="473192"/>
                  </a:lnTo>
                  <a:lnTo>
                    <a:pt x="253707" y="475868"/>
                  </a:lnTo>
                  <a:lnTo>
                    <a:pt x="245925" y="4762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2703" y="4305300"/>
              <a:ext cx="212725" cy="1873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28105" y="2933700"/>
            <a:ext cx="11185149" cy="3846936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 marR="214191">
              <a:lnSpc>
                <a:spcPct val="112500"/>
              </a:lnSpc>
              <a:spcBef>
                <a:spcPts val="143"/>
              </a:spcBef>
            </a:pPr>
            <a:r>
              <a:rPr sz="2858" spc="-214" dirty="0">
                <a:solidFill>
                  <a:srgbClr val="374050"/>
                </a:solidFill>
                <a:latin typeface="Arial"/>
                <a:cs typeface="Arial"/>
              </a:rPr>
              <a:t>The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Manufacturing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57" dirty="0">
                <a:solidFill>
                  <a:srgbClr val="374050"/>
                </a:solidFill>
                <a:latin typeface="Arial"/>
                <a:cs typeface="Arial"/>
              </a:rPr>
              <a:t>Downtime</a:t>
            </a:r>
            <a:r>
              <a:rPr sz="28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36" dirty="0">
                <a:solidFill>
                  <a:srgbClr val="374050"/>
                </a:solidFill>
                <a:latin typeface="Arial"/>
                <a:cs typeface="Arial"/>
              </a:rPr>
              <a:t>Analysis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86" dirty="0">
                <a:solidFill>
                  <a:srgbClr val="374050"/>
                </a:solidFill>
                <a:latin typeface="Arial"/>
                <a:cs typeface="Arial"/>
              </a:rPr>
              <a:t>Dashboard</a:t>
            </a:r>
            <a:r>
              <a:rPr sz="28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63" dirty="0">
                <a:solidFill>
                  <a:srgbClr val="374050"/>
                </a:solidFill>
                <a:latin typeface="Arial"/>
                <a:cs typeface="Arial"/>
              </a:rPr>
              <a:t>empowers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management </a:t>
            </a:r>
            <a:r>
              <a:rPr sz="2858" spc="-86" dirty="0">
                <a:solidFill>
                  <a:srgbClr val="374050"/>
                </a:solidFill>
                <a:latin typeface="Arial"/>
                <a:cs typeface="Arial"/>
              </a:rPr>
              <a:t>with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57" dirty="0">
                <a:solidFill>
                  <a:srgbClr val="374050"/>
                </a:solidFill>
                <a:latin typeface="Arial"/>
                <a:cs typeface="Arial"/>
              </a:rPr>
              <a:t>data-</a:t>
            </a:r>
            <a:r>
              <a:rPr sz="2858" spc="-163" dirty="0">
                <a:solidFill>
                  <a:srgbClr val="374050"/>
                </a:solidFill>
                <a:latin typeface="Arial"/>
                <a:cs typeface="Arial"/>
              </a:rPr>
              <a:t>backed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79" dirty="0">
                <a:solidFill>
                  <a:srgbClr val="374050"/>
                </a:solidFill>
                <a:latin typeface="Arial"/>
                <a:cs typeface="Arial"/>
              </a:rPr>
              <a:t>visibility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79" dirty="0">
                <a:solidFill>
                  <a:srgbClr val="374050"/>
                </a:solidFill>
                <a:latin typeface="Arial"/>
                <a:cs typeface="Arial"/>
              </a:rPr>
              <a:t>into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production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4" dirty="0">
                <a:solidFill>
                  <a:srgbClr val="374050"/>
                </a:solidFill>
                <a:latin typeface="Arial"/>
                <a:cs typeface="Arial"/>
              </a:rPr>
              <a:t>inefficiencies.</a:t>
            </a:r>
            <a:endParaRPr sz="2858" dirty="0">
              <a:latin typeface="Arial"/>
              <a:cs typeface="Arial"/>
            </a:endParaRPr>
          </a:p>
          <a:p>
            <a:pPr>
              <a:spcBef>
                <a:spcPts val="1322"/>
              </a:spcBef>
            </a:pPr>
            <a:endParaRPr dirty="0">
              <a:latin typeface="Arial"/>
              <a:cs typeface="Arial"/>
            </a:endParaRPr>
          </a:p>
          <a:p>
            <a:pPr marL="18151" marR="7260">
              <a:lnSpc>
                <a:spcPct val="112500"/>
              </a:lnSpc>
              <a:spcBef>
                <a:spcPts val="7"/>
              </a:spcBef>
            </a:pPr>
            <a:r>
              <a:rPr sz="2858" spc="-171" dirty="0">
                <a:solidFill>
                  <a:srgbClr val="374050"/>
                </a:solidFill>
                <a:latin typeface="Arial"/>
                <a:cs typeface="Arial"/>
              </a:rPr>
              <a:t>Through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predictive</a:t>
            </a:r>
            <a:r>
              <a:rPr sz="28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insights,</a:t>
            </a:r>
            <a:r>
              <a:rPr sz="28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43" dirty="0">
                <a:solidFill>
                  <a:srgbClr val="374050"/>
                </a:solidFill>
                <a:latin typeface="Arial"/>
                <a:cs typeface="Arial"/>
              </a:rPr>
              <a:t>process</a:t>
            </a:r>
            <a:r>
              <a:rPr sz="28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36" dirty="0">
                <a:solidFill>
                  <a:srgbClr val="374050"/>
                </a:solidFill>
                <a:latin typeface="Arial"/>
                <a:cs typeface="Arial"/>
              </a:rPr>
              <a:t>automation,</a:t>
            </a:r>
            <a:r>
              <a:rPr sz="28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79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2858" spc="-93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continuous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86" dirty="0">
                <a:solidFill>
                  <a:srgbClr val="374050"/>
                </a:solidFill>
                <a:latin typeface="Arial"/>
                <a:cs typeface="Arial"/>
              </a:rPr>
              <a:t>monitoring, </a:t>
            </a:r>
            <a:r>
              <a:rPr sz="2858" spc="-136" dirty="0">
                <a:solidFill>
                  <a:srgbClr val="374050"/>
                </a:solidFill>
                <a:latin typeface="Arial"/>
                <a:cs typeface="Arial"/>
              </a:rPr>
              <a:t>the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project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29" dirty="0">
                <a:solidFill>
                  <a:srgbClr val="374050"/>
                </a:solidFill>
                <a:latin typeface="Arial"/>
                <a:cs typeface="Arial"/>
              </a:rPr>
              <a:t>establishes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200" dirty="0">
                <a:solidFill>
                  <a:srgbClr val="374050"/>
                </a:solidFill>
                <a:latin typeface="Arial"/>
                <a:cs typeface="Arial"/>
              </a:rPr>
              <a:t>a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foundation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50" dirty="0">
                <a:solidFill>
                  <a:srgbClr val="374050"/>
                </a:solidFill>
                <a:latin typeface="Arial"/>
                <a:cs typeface="Arial"/>
              </a:rPr>
              <a:t>for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smarter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manufacturing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4" dirty="0">
                <a:solidFill>
                  <a:srgbClr val="374050"/>
                </a:solidFill>
                <a:latin typeface="Arial"/>
                <a:cs typeface="Arial"/>
              </a:rPr>
              <a:t>operations.</a:t>
            </a:r>
            <a:endParaRPr sz="2858" dirty="0">
              <a:latin typeface="Arial"/>
              <a:cs typeface="Arial"/>
            </a:endParaRPr>
          </a:p>
          <a:p>
            <a:pPr>
              <a:spcBef>
                <a:spcPts val="1329"/>
              </a:spcBef>
            </a:pPr>
            <a:endParaRPr dirty="0">
              <a:latin typeface="Arial"/>
              <a:cs typeface="Arial"/>
            </a:endParaRPr>
          </a:p>
          <a:p>
            <a:pPr marL="18151" marR="455609">
              <a:lnSpc>
                <a:spcPct val="112500"/>
              </a:lnSpc>
            </a:pPr>
            <a:r>
              <a:rPr sz="2858" spc="-214" dirty="0">
                <a:solidFill>
                  <a:srgbClr val="374050"/>
                </a:solidFill>
                <a:latin typeface="Arial"/>
                <a:cs typeface="Arial"/>
              </a:rPr>
              <a:t>The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57" dirty="0">
                <a:solidFill>
                  <a:srgbClr val="374050"/>
                </a:solidFill>
                <a:latin typeface="Arial"/>
                <a:cs typeface="Arial"/>
              </a:rPr>
              <a:t>dashboard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43" dirty="0">
                <a:solidFill>
                  <a:srgbClr val="374050"/>
                </a:solidFill>
                <a:latin typeface="Arial"/>
                <a:cs typeface="Arial"/>
              </a:rPr>
              <a:t>creates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63" dirty="0">
                <a:solidFill>
                  <a:srgbClr val="374050"/>
                </a:solidFill>
                <a:latin typeface="Arial"/>
                <a:cs typeface="Arial"/>
              </a:rPr>
              <a:t>leaner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79" dirty="0">
                <a:solidFill>
                  <a:srgbClr val="374050"/>
                </a:solidFill>
                <a:latin typeface="Arial"/>
                <a:cs typeface="Arial"/>
              </a:rPr>
              <a:t>and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57" dirty="0">
                <a:solidFill>
                  <a:srgbClr val="374050"/>
                </a:solidFill>
                <a:latin typeface="Arial"/>
                <a:cs typeface="Arial"/>
              </a:rPr>
              <a:t>more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07" dirty="0">
                <a:solidFill>
                  <a:srgbClr val="374050"/>
                </a:solidFill>
                <a:latin typeface="Arial"/>
                <a:cs typeface="Arial"/>
              </a:rPr>
              <a:t>resilient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production </a:t>
            </a:r>
            <a:r>
              <a:rPr sz="2858" spc="-150" dirty="0">
                <a:solidFill>
                  <a:srgbClr val="374050"/>
                </a:solidFill>
                <a:latin typeface="Arial"/>
                <a:cs typeface="Arial"/>
              </a:rPr>
              <a:t>processes</a:t>
            </a:r>
            <a:r>
              <a:rPr sz="2858" spc="-114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36" dirty="0">
                <a:solidFill>
                  <a:srgbClr val="374050"/>
                </a:solidFill>
                <a:latin typeface="Arial"/>
                <a:cs typeface="Arial"/>
              </a:rPr>
              <a:t>by </a:t>
            </a:r>
            <a:r>
              <a:rPr sz="2858" spc="-143" dirty="0">
                <a:solidFill>
                  <a:srgbClr val="374050"/>
                </a:solidFill>
                <a:latin typeface="Arial"/>
                <a:cs typeface="Arial"/>
              </a:rPr>
              <a:t>enabling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57" dirty="0">
                <a:solidFill>
                  <a:srgbClr val="374050"/>
                </a:solidFill>
                <a:latin typeface="Arial"/>
                <a:cs typeface="Arial"/>
              </a:rPr>
              <a:t>data-</a:t>
            </a:r>
            <a:r>
              <a:rPr sz="2858" spc="-150" dirty="0">
                <a:solidFill>
                  <a:srgbClr val="374050"/>
                </a:solidFill>
                <a:latin typeface="Arial"/>
                <a:cs typeface="Arial"/>
              </a:rPr>
              <a:t>driven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21" dirty="0">
                <a:solidFill>
                  <a:srgbClr val="374050"/>
                </a:solidFill>
                <a:latin typeface="Arial"/>
                <a:cs typeface="Arial"/>
              </a:rPr>
              <a:t>decision</a:t>
            </a:r>
            <a:r>
              <a:rPr sz="2858" spc="-10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2858" spc="-14" dirty="0">
                <a:solidFill>
                  <a:srgbClr val="374050"/>
                </a:solidFill>
                <a:latin typeface="Arial"/>
                <a:cs typeface="Arial"/>
              </a:rPr>
              <a:t>making.</a:t>
            </a:r>
            <a:endParaRPr sz="2858" dirty="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" y="9144695"/>
            <a:ext cx="17475200" cy="45969"/>
          </a:xfrm>
          <a:custGeom>
            <a:avLst/>
            <a:gdLst/>
            <a:ahLst/>
            <a:cxnLst/>
            <a:rect l="l" t="t" r="r" b="b"/>
            <a:pathLst>
              <a:path w="12171045" h="9525">
                <a:moveTo>
                  <a:pt x="12170664" y="9525"/>
                </a:moveTo>
                <a:lnTo>
                  <a:pt x="0" y="9525"/>
                </a:lnTo>
                <a:lnTo>
                  <a:pt x="0" y="0"/>
                </a:lnTo>
                <a:lnTo>
                  <a:pt x="12170664" y="0"/>
                </a:lnTo>
                <a:lnTo>
                  <a:pt x="12170664" y="9525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7768004" y="9281848"/>
            <a:ext cx="2750767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51">
              <a:lnSpc>
                <a:spcPts val="1615"/>
              </a:lnSpc>
            </a:pPr>
            <a:r>
              <a:rPr spc="-64" dirty="0"/>
              <a:t>Manufacturing</a:t>
            </a:r>
            <a:r>
              <a:rPr spc="-14" dirty="0"/>
              <a:t> </a:t>
            </a:r>
            <a:r>
              <a:rPr spc="-79" dirty="0"/>
              <a:t>Downtime</a:t>
            </a:r>
            <a:r>
              <a:rPr spc="-7" dirty="0"/>
              <a:t> </a:t>
            </a:r>
            <a:r>
              <a:rPr spc="-79" dirty="0"/>
              <a:t>Analysis</a:t>
            </a:r>
            <a:r>
              <a:rPr spc="-14" dirty="0"/>
              <a:t> </a:t>
            </a:r>
            <a:r>
              <a:rPr spc="-64" dirty="0"/>
              <a:t>Dashboard</a:t>
            </a:r>
          </a:p>
        </p:txBody>
      </p:sp>
      <p:pic>
        <p:nvPicPr>
          <p:cNvPr id="22" name="Picture 21" descr="A qr code with a logo&#10;&#10;AI-generated content may be incorrect.">
            <a:extLst>
              <a:ext uri="{FF2B5EF4-FFF2-40B4-BE49-F238E27FC236}">
                <a16:creationId xmlns:a16="http://schemas.microsoft.com/office/drawing/2014/main" id="{D518AA8B-C502-7487-E019-351E4F689F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3231272"/>
            <a:ext cx="2417571" cy="3476126"/>
          </a:xfrm>
          <a:prstGeom prst="rect">
            <a:avLst/>
          </a:prstGeom>
        </p:spPr>
      </p:pic>
      <p:sp>
        <p:nvSpPr>
          <p:cNvPr id="24" name="object 18">
            <a:extLst>
              <a:ext uri="{FF2B5EF4-FFF2-40B4-BE49-F238E27FC236}">
                <a16:creationId xmlns:a16="http://schemas.microsoft.com/office/drawing/2014/main" id="{F5004656-D997-9892-5212-9671FA3EB526}"/>
              </a:ext>
            </a:extLst>
          </p:cNvPr>
          <p:cNvSpPr txBox="1"/>
          <p:nvPr/>
        </p:nvSpPr>
        <p:spPr>
          <a:xfrm>
            <a:off x="13578112" y="2522050"/>
            <a:ext cx="3404545" cy="561037"/>
          </a:xfrm>
          <a:prstGeom prst="rect">
            <a:avLst/>
          </a:prstGeom>
        </p:spPr>
        <p:txBody>
          <a:bodyPr vert="horz" wrap="square" lIns="0" tIns="18147" rIns="0" bIns="0" rtlCol="0">
            <a:spAutoFit/>
          </a:bodyPr>
          <a:lstStyle/>
          <a:p>
            <a:pPr marL="18151" marR="214191" algn="ctr">
              <a:lnSpc>
                <a:spcPct val="112500"/>
              </a:lnSpc>
              <a:spcBef>
                <a:spcPts val="143"/>
              </a:spcBef>
            </a:pPr>
            <a:r>
              <a:rPr lang="en-GB" sz="3400" spc="-214" dirty="0">
                <a:solidFill>
                  <a:srgbClr val="374050"/>
                </a:solidFill>
                <a:latin typeface="Arial"/>
                <a:cs typeface="Arial"/>
              </a:rPr>
              <a:t>Project Repo</a:t>
            </a:r>
            <a:endParaRPr lang="en-GB" sz="3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EE22E-86B9-A82E-4DBE-5D98ECC8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5EC7EF8-E7B9-B453-3618-EB58B8552FB2}"/>
              </a:ext>
            </a:extLst>
          </p:cNvPr>
          <p:cNvSpPr/>
          <p:nvPr/>
        </p:nvSpPr>
        <p:spPr>
          <a:xfrm>
            <a:off x="0" y="-6724"/>
            <a:ext cx="17475200" cy="9836524"/>
          </a:xfrm>
          <a:custGeom>
            <a:avLst/>
            <a:gdLst/>
            <a:ahLst/>
            <a:cxnLst/>
            <a:rect l="l" t="t" r="r" b="b"/>
            <a:pathLst>
              <a:path w="12115800" h="6858000">
                <a:moveTo>
                  <a:pt x="121158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15800" y="0"/>
                </a:lnTo>
                <a:lnTo>
                  <a:pt x="12115800" y="6858000"/>
                </a:lnTo>
                <a:close/>
              </a:path>
            </a:pathLst>
          </a:custGeom>
          <a:solidFill>
            <a:srgbClr val="F0F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8FAEE0-8275-0A69-FC55-996DC28A3483}"/>
              </a:ext>
            </a:extLst>
          </p:cNvPr>
          <p:cNvSpPr/>
          <p:nvPr/>
        </p:nvSpPr>
        <p:spPr>
          <a:xfrm>
            <a:off x="-25400" y="0"/>
            <a:ext cx="10668000" cy="982980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8D4"/>
              </a:solidFill>
            </a:endParaRP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4E06BE3D-D5A6-AF00-DB13-D8DAED0B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1485900"/>
            <a:ext cx="17475200" cy="6258878"/>
          </a:xfrm>
        </p:spPr>
        <p:txBody>
          <a:bodyPr/>
          <a:lstStyle/>
          <a:p>
            <a:r>
              <a:rPr lang="en-US" sz="40000" dirty="0">
                <a:latin typeface="Edwardian Script ITC" panose="030303020407070D0804" pitchFamily="66" charset="0"/>
              </a:rPr>
              <a:t>Thank  </a:t>
            </a:r>
            <a:r>
              <a:rPr lang="en-US" sz="40000" dirty="0">
                <a:solidFill>
                  <a:srgbClr val="0078D4"/>
                </a:solidFill>
                <a:latin typeface="Edwardian Script ITC" panose="030303020407070D0804" pitchFamily="66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218800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14CC0190-D77A-4F6A-933D-D2E793DCD4FB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81VwW7UMBD9FeTzCsVx7Dh7pCoSEoKKonJAPUzs8TY0iaPEKbus9t8ZJ2lLaSvQggSRotjP4+c3M57Jntlq6GrYvYMG2Zq98v66gf76BWcr1s5YbozETBdCZ6lGXeYqM7Tqu1D5dmDrPQvQbzBcVMMIdSQi8PPlikFdn8EmzhzUA65Yh/3gW6irbzgb01LoRzysGG672vcQKc8DBIy0N2ROc5LAXwo6EUyobvAcTZhR5AhSZgpkyq0w2haTMFfVgXZGhnJ3uu16UrO/dcYV1lgFIisKLYRzmKbR1bDr4uoJnbzxfWWgviOKPBe3StIVe937ZmJcQmbJ8rQNVdjFSdWc9d6OJgwEf5xYkwPF4tMV9jhtO/GtrWYPiMOH+IkqcRgW8E37EBuWffXYtI+tz/3YG/yA7n4yqTpQVEkLxXxStsgimNRcQD1OWSLetxU5Sf5GNyNMtu1Y19Hw8hCfyzk9Pxz5W1KejMmzolbsyn896ZESYNmaH1Z3GQMhE1dyabKS89QaVWjzdzP2nuRA8P20/H9l7Vbav0nbg8A8r+zn3MWTh7lKpyp8sk5jfU89gCIboGqXiuWyyCDLnFMFKJnqUudpxIeq3dRL17jfO6eKBdyG0m9jUyq/YLxn6/0h6irKPFey1NKB4yYFnYP5JVvVUNN6zJUlpgCRpIpLdCkHXkp7vLJS81RIpyTnhc00iNzJ49mEEhYcvSopE2418lwfz5aTa3ma2MQkvMBcJ7mB49lAuYIrnWQy4Tnngsb58Wyp0ZgjFkqrUolMc3D4J/cjc1okRvBMFAmXqVX8uPsx0d0jrEH6JcaBH8PQgcEzaOdO0s01VOFcG9sOWot2GU+964nSnn6gbKlrer4DXD8+QrgHAAA=&quot;"/>
    <we:property name="creatorSessionId" value="&quot;7d584cd9-92de-40e7-a446-0e7160b39705&quot;"/>
    <we:property name="creatorTenantId" value="&quot;7b35586a-d18d-405c-8e29-5713862937a9&quot;"/>
    <we:property name="creatorUserId" value="&quot;10032003E0113B55&quot;"/>
    <we:property name="datasetId" value="&quot;ba784d79-b907-4051-87ce-776876be15a8&quot;"/>
    <we:property name="embedUrl" value="&quot;/reportEmbed?reportId=b6754e51-7901-4bc3-b15f-5c52b428f212&amp;config=eyJjbHVzdGVyVXJsIjoiaHR0cHM6Ly9XQUJJLU5PUlRILUVVUk9QRS1KLVBSSU1BUlktcmVkaXJlY3QuYW5hbHlzaXMud2luZG93cy5uZXQiLCJlbWJlZEZlYXR1cmVzIjp7InVzYWdlTWV0cmljc1ZOZXh0Ijp0cnVlfX0%3D&amp;disableSensitivityBanner=true&amp;storytellingChangeViewModeShortcutKeys=true&quot;"/>
    <we:property name="initialStateBookmark" value="&quot;H4sIAAAAAAAAA81V207cMBD9lcrPqyqO41z2jSIqVZSLoKIPFap8GS8u3jhKHLrb1f57x0mAUkBUS6XWL4kn4zNn5mTGG6Jt1zixPhZLIHPyzvvrpWiv31AyI/VkOzk5PNo7O/x6vHd0gGbfBOvrjsw3JIh2AeHCdr1wEQGNXy5nRDh3KhZxZ4TrYEYaaDtfC2d/wOiMn0Lbw3ZGYNU434oIeR5EgAh7g+64x9j0LcOIQgV7A+egwmgtOU1Kk+LKikJVqVSZRDdjXcCTEUGuD1ZNi2w2t1mYSiudC5ZVVcmYMZCmMcewbuLXfYy88K1Vwt0BRZyLWybpjLxv/XJAnGql0fOgDjas48YuT1uvexU6NH8aUJMt1uLzFbQwHNv3tbZjBojhQ3xEltB1k/FD/dDWTedcv6wfe5/7vlVwBuZ+M7DaYlWRC9Z8YDbRQjOyuRCuH1RC3I8Wk8R8Y5rRjL5171x0vNzGdTnK80vIP6LyZE2eJTUjV/77fgsogCZzup3dKSYYT4ykHMWlNNUqr0r1dxU7QToi+Hb4/H+pdkvt38j2oDDPM/tduxi5G7t06MIn+zT29zADsLJB2HrqWAY841pzKGlBFaNVznS0d7ZeuGlq3J8dpSIBVkH6VRxK8hvE/2y+2UZeuijKSmRVxtMi5SLVgsoX0ewSh9ZjLGnyRCsqJVDgqlSFEeXuzDgVilJeprTiKqEmp5V4BZoqWUUzrQXXRmVJamS+O5pSUmciAZ5KxrNcmUS+XLVn0ZANABOaJ3nCFJSFVOoVinLOksyUiuucKwqUarY7WsFKymlRSEkTw5VMVJnt9n8McPcWsgS8EuOL70PXCAWnoh4nSTP2kIXBDztU1Br09D7Mridae7hAyRAEuVjp4IUD8Vol0xzA9RO5ovrX4QcAAA==&quot;"/>
    <we:property name="isFiltersActionButtonVisible" value="true"/>
    <we:property name="isVisualContainerHeaderHidden" value="false"/>
    <we:property name="pageDisplayName" value="&quot;Recommendations&quot;"/>
    <we:property name="pageName" value="&quot;e1ea5546a521d3c8d94c&quot;"/>
    <we:property name="reportEmbeddedTime" value="&quot;2025-11-24T23:41:24.597Z&quot;"/>
    <we:property name="reportName" value="&quot;Final Project&quot;"/>
    <we:property name="reportState" value="&quot;CONNECTED&quot;"/>
    <we:property name="reportUrl" value="&quot;/links/qO46cWmjlH?ctid=7b35586a-d18d-405c-8e29-5713862937a9&amp;bookmarkGuid=eea15ffe-a773-4a11-9723-8623b2ccf37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</TotalTime>
  <Words>1307</Words>
  <Application>Microsoft Office PowerPoint</Application>
  <PresentationFormat>Custom</PresentationFormat>
  <Paragraphs>245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Arial</vt:lpstr>
      <vt:lpstr>Edwardian Script ITC</vt:lpstr>
      <vt:lpstr>Gadugi</vt:lpstr>
      <vt:lpstr>Gill Sans MT</vt:lpstr>
      <vt:lpstr>Lucida Sans</vt:lpstr>
      <vt:lpstr>Tahoma</vt:lpstr>
      <vt:lpstr>Trebuchet MS</vt:lpstr>
      <vt:lpstr>Verdana</vt:lpstr>
      <vt:lpstr>Office Theme</vt:lpstr>
      <vt:lpstr>Manufacturing Downtime Analysis</vt:lpstr>
      <vt:lpstr>Business Problem</vt:lpstr>
      <vt:lpstr>Business Questions – Overview Analysis</vt:lpstr>
      <vt:lpstr>Business Questions - Batch Analysis</vt:lpstr>
      <vt:lpstr>Business Questions – Operator Analysis</vt:lpstr>
      <vt:lpstr>PowerPoint Presentation</vt:lpstr>
      <vt:lpstr>Executive Overview</vt:lpstr>
      <vt:lpstr>Dataset Overview</vt:lpstr>
      <vt:lpstr>Data Model Architecture</vt:lpstr>
      <vt:lpstr>Approach and Methodology</vt:lpstr>
      <vt:lpstr>Critical Performance Metrics</vt:lpstr>
      <vt:lpstr>Primary Downtime Drivers</vt:lpstr>
      <vt:lpstr>Product &amp; Temporal Insights</vt:lpstr>
      <vt:lpstr>Operator Performance Gaps</vt:lpstr>
      <vt:lpstr>Dashboard Highlights</vt:lpstr>
      <vt:lpstr>Key Takeaways</vt:lpstr>
      <vt:lpstr>Recommendations</vt:lpstr>
      <vt:lpstr>Expected Impact</vt:lpstr>
      <vt:lpstr>Next Steps</vt:lpstr>
      <vt:lpstr>Conclusion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Critical Performance Metrics</dc:title>
  <cp:lastModifiedBy>Mohamed Ahmed</cp:lastModifiedBy>
  <cp:revision>38</cp:revision>
  <dcterms:created xsi:type="dcterms:W3CDTF">2025-11-14T01:35:51Z</dcterms:created>
  <dcterms:modified xsi:type="dcterms:W3CDTF">2025-11-28T14:57:42Z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2025-11-12T00:00:00Z</vt:filetime>
  </property>
  <property fmtid="{D5CDD505-2E9C-101B-9397-08002B2CF9AE}" pid="3" name="Creator">
    <vt:lpwstr>Mozilla/5.0 (X11; Linux x86_64) AppleWebKit/537.36 (KHTML, like Gecko) HeadlessChrome/140.0.0.0 Safari/537.36</vt:lpwstr>
  </property>
  <property fmtid="{D5CDD505-2E9C-101B-9397-08002B2CF9AE}" pid="4" name="LastSaved">
    <vt:filetime>2025-11-14T00:00:00Z</vt:filetime>
  </property>
  <property fmtid="{D5CDD505-2E9C-101B-9397-08002B2CF9AE}" pid="5" name="Producer">
    <vt:lpwstr>3-Heights(TM) PDF Security Shell 4.8.25.2 (http://www.pdf-tools.com)</vt:lpwstr>
  </property>
</Properties>
</file>